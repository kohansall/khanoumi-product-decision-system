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شروع با یک پیام شفاف: این پروژه قرار نیست یک فیچر جذاب بسازد؛ قرار است با شواهد نشان دهد خانومی در کدام نقطه تصمیم کاربر می‌تواند ارزش ایجاد کند. تأکید کن که راه‌حل هنوز Validate نشده و فقط برای Validation انتخاب شده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 مخاطب بگو مسیر ارائه از مسئله شروع می‌شود و به یک تصمیم اجرایی ختم می‌شود. این یک گزارش فقط توصیفی نیست؛ یک سیستم تصمیم‌گیری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روی این اسلاید کمی مکث کن. بگو پروژه از نظر دیسکاوری و MVP قوی است، اما بخش مالی و ROI تا دریافت داده داخلی و آزمایش واقعی باید با Caveat بیان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این اسلاید این است که داور بفهمد کار صرفاً یک متن پراکنده نیست. پروژه به یک سیستم تصمیم‌گیری تبدیل شده است: هر سؤال جای خودش، سند خودش، و خروجی خودش را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توضیح بده که Survey، Interview، VOC، UX و گزارش‌ها هرکدام نقش جدا دارند. Survey می‌گوید چه چیزی دیده شد؛ Interview چرا را باز می‌کند؛ VOC مقیاس زبان مشتری را نشان می‌دهد؛ UX فرضیه مسیر می‌سازد.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بگو Q1 به جای ادعای Conversion یا Bottleneck فقط Flow را بازسازی می‌کند. نبود Product Analytics یعنی Frequency مسیرها را نباید جعل 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اینجا خیلی مهم است: نشان بده پروژه از فرضیه‌های خام عبور کرده. Delivery و Authenticity را حذف نکردیم، بلکه درست جای‌گذاری کردیم.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 زبان ساده بگو: کاربران برای اطمینان از Review و مقایسه بیرونی استفاده می‌کنند، بعضی خرید را عقب می‌اندازند، Never/Lapsedها گاهی مسیر آفلاین را ترجیح می‌دهند. این‌ها به یک نیاز مشترک اشاره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داور ممکن است بپرسد چرا Sephora یا Ulta را آوردید. جواب: نه به عنوان رقیب مستقیم ایران؛ به عنوان الگوی مکانیزم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خیلی شفاف بگو که AI را به عنوان راه‌حل نفروختیم. اگر MVP دستی هم کار کند، ارزش مسئله ثابت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برای دفاع متدولوژیک است. بگو DECAF استاندارد جهانی با این اسم نیست؛ ترکیب Evidence grading، sensitivity، VOI و تحلیل تصمیم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تأکید کن MVP برای سنجش Demand و Behavior است. Fake Door هزینه ساخت را کاهش می‌دهد و Wizard-of-Oz مانع Build Trap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را سریع توضیح بده: ورود، چند سؤال کوتاه، نتیجه محدود، دلیل انتخاب، پل به PDP. تأکید کن Low-Fi خودش Validation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بگو استاندارد بودن یعنی Research را در Jira دفن نکردیم. Jira فقط Delivery-oriented است و به Confluence لینک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اینجا بگو اگر Recommendation CTR بالا برود ولی شکایت یا مرجوعی زیاد شود، فیچر موفق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بگو Acquisition و Retention را هم مرحله‌ای دیدیم. اول باید بفهمیم فیچر استفاده می‌شود یا نه. بعد می‌شود به CRM، personalization و cohort فکر کرد.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را با اعتماد به نفس بگو: ما اشتباه عددسازی را اصلاح کردیم. مدل مالی الان صادقانه‌تر است. سؤال درست: چقدر می‌توانیم خرج کنیم تا هنوز Break-even شویم؟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جمع‌بندی: فیچر به عنوان Candidate خوب است اما با آزمایش مرحله‌ای. از داور بخواهی ارزیابی کند که آیا مسیر تصمیم‌گیری قابل دفاع است، نه اینکه فیچر همین امروز موفق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را در پایان یا زمان پرسش و پاسخ نگه دار. از اینجا می‌توان سریع سندها را باز کرد.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figma.com/design/y7r2zCBHGz1gVHsZ2MArWl" TargetMode="Externa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kohansal.atlassian.net/wiki/spaces/PM/pages/8028163" TargetMode="External"/><Relationship Id="rId2" Type="http://schemas.openxmlformats.org/officeDocument/2006/relationships/hyperlink" Target="https://kohansal.atlassian.net/wiki/spaces/PM/pages/8028163" TargetMode="External"/><Relationship Id="rId3" Type="http://schemas.openxmlformats.org/officeDocument/2006/relationships/hyperlink" Target="https://kohansal.atlassian.net/wiki/spaces/PM/pages/8290329" TargetMode="External"/><Relationship Id="rId4" Type="http://schemas.openxmlformats.org/officeDocument/2006/relationships/hyperlink" Target="https://kohansal.atlassian.net/wiki/spaces/PM/pages/8290329" TargetMode="External"/><Relationship Id="rId5" Type="http://schemas.openxmlformats.org/officeDocument/2006/relationships/hyperlink" Target="https://kohansal.atlassian.net/wiki/spaces/PM/pages/8224769" TargetMode="External"/><Relationship Id="rId6" Type="http://schemas.openxmlformats.org/officeDocument/2006/relationships/hyperlink" Target="https://kohansal.atlassian.net/wiki/spaces/PM/pages/8224769" TargetMode="External"/><Relationship Id="rId7" Type="http://schemas.openxmlformats.org/officeDocument/2006/relationships/hyperlink" Target="https://kohansal.atlassian.net/wiki/spaces/PM/pages/8224791" TargetMode="External"/><Relationship Id="rId8" Type="http://schemas.openxmlformats.org/officeDocument/2006/relationships/hyperlink" Target="https://kohansal.atlassian.net/wiki/spaces/PM/pages/8224791" TargetMode="External"/><Relationship Id="rId9" Type="http://schemas.openxmlformats.org/officeDocument/2006/relationships/hyperlink" Target="https://www.figma.com/design/y7r2zCBHGz1gVHsZ2MArWl" TargetMode="External"/><Relationship Id="rId10" Type="http://schemas.openxmlformats.org/officeDocument/2006/relationships/hyperlink" Target="https://www.figma.com/design/y7r2zCBHGz1gVHsZ2MArWl" TargetMode="External"/><Relationship Id="rId11" Type="http://schemas.openxmlformats.org/officeDocument/2006/relationships/hyperlink" Target="https://www.figma.com/board/tbsGkzv48y5wmnChZqpTB3" TargetMode="External"/><Relationship Id="rId12" Type="http://schemas.openxmlformats.org/officeDocument/2006/relationships/hyperlink" Target="https://www.figma.com/board/tbsGkzv48y5wmnChZqpTB3" TargetMode="External"/><Relationship Id="rId13" Type="http://schemas.openxmlformats.org/officeDocument/2006/relationships/slide" Target="slide2.xml"/><Relationship Id="rId14" Type="http://schemas.openxmlformats.org/officeDocument/2006/relationships/slideLayout" Target="../slideLayouts/slideLayout1.xml"/><Relationship Id="rId1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5F8"/>
        </a:solidFill>
      </p:bgPr>
    </p:bg>
    <p:spTree>
      <p:nvGrpSpPr>
        <p:cNvPr id="1" name=""/>
        <p:cNvGrpSpPr/>
        <p:nvPr/>
      </p:nvGrpSpPr>
      <p:grpSpPr>
        <a:xfrm>
          <a:off x="0" y="0"/>
          <a:ext cx="0" cy="0"/>
          <a:chOff x="0" y="0"/>
          <a:chExt cx="0" cy="0"/>
        </a:xfrm>
      </p:grpSpPr>
      <p:sp>
        <p:nvSpPr>
          <p:cNvPr id="2" name="Shape 0"/>
          <p:cNvSpPr/>
          <p:nvPr/>
        </p:nvSpPr>
        <p:spPr>
          <a:xfrm>
            <a:off x="731520" y="731520"/>
            <a:ext cx="2240280" cy="292608"/>
          </a:xfrm>
          <a:prstGeom prst="roundRect">
            <a:avLst>
              <a:gd name="adj" fmla="val 25000"/>
            </a:avLst>
          </a:prstGeom>
          <a:solidFill>
            <a:srgbClr val="14213D"/>
          </a:solidFill>
          <a:ln w="12700">
            <a:solidFill>
              <a:srgbClr val="14213D"/>
            </a:solidFill>
            <a:prstDash val="solid"/>
          </a:ln>
        </p:spPr>
      </p:sp>
      <p:sp>
        <p:nvSpPr>
          <p:cNvPr id="3" name="Text 1"/>
          <p:cNvSpPr/>
          <p:nvPr/>
        </p:nvSpPr>
        <p:spPr>
          <a:xfrm>
            <a:off x="795528" y="758952"/>
            <a:ext cx="211226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FINAL PRODUCT DISCOVERY</a:t>
            </a:r>
            <a:endParaRPr lang="en-US" sz="800" dirty="0"/>
          </a:p>
        </p:txBody>
      </p:sp>
      <p:sp>
        <p:nvSpPr>
          <p:cNvPr id="4" name="Text 2"/>
          <p:cNvSpPr/>
          <p:nvPr/>
        </p:nvSpPr>
        <p:spPr>
          <a:xfrm>
            <a:off x="731520" y="1325880"/>
            <a:ext cx="7132320" cy="502920"/>
          </a:xfrm>
          <a:prstGeom prst="rect">
            <a:avLst/>
          </a:prstGeom>
          <a:noFill/>
          <a:ln/>
        </p:spPr>
        <p:txBody>
          <a:bodyPr wrap="square" lIns="635" tIns="635" rIns="635" bIns="635" rtlCol="0" anchor="ctr">
            <a:normAutofit/>
          </a:bodyPr>
          <a:lstStyle/>
          <a:p>
            <a:pPr rtl="1" algn="r" indent="0" marL="0">
              <a:buNone/>
            </a:pPr>
            <a:r>
              <a:rPr lang="en-US" sz="2900" b="1" dirty="0">
                <a:solidFill>
                  <a:srgbClr val="14213D"/>
                </a:solidFill>
                <a:latin typeface="Noto Sans Arabic" pitchFamily="34" charset="0"/>
                <a:ea typeface="Noto Sans Arabic" pitchFamily="34" charset="-122"/>
                <a:cs typeface="Noto Sans Arabic" pitchFamily="34" charset="-120"/>
              </a:rPr>
              <a:t>پروژه نهایی خانومی</a:t>
            </a:r>
            <a:endParaRPr lang="en-US" sz="2900" dirty="0"/>
          </a:p>
        </p:txBody>
      </p:sp>
      <p:sp>
        <p:nvSpPr>
          <p:cNvPr id="5" name="Text 3"/>
          <p:cNvSpPr/>
          <p:nvPr/>
        </p:nvSpPr>
        <p:spPr>
          <a:xfrm>
            <a:off x="731520" y="1965960"/>
            <a:ext cx="8869680" cy="658368"/>
          </a:xfrm>
          <a:prstGeom prst="rect">
            <a:avLst/>
          </a:prstGeom>
          <a:noFill/>
          <a:ln/>
        </p:spPr>
        <p:txBody>
          <a:bodyPr wrap="square" lIns="635" tIns="635" rIns="635" bIns="635" rtlCol="0" anchor="ctr">
            <a:normAutofit/>
          </a:bodyPr>
          <a:lstStyle/>
          <a:p>
            <a:pPr rtl="1" algn="r" indent="0" marL="0">
              <a:buNone/>
            </a:pPr>
            <a:r>
              <a:rPr lang="en-US" sz="1700" b="1" dirty="0">
                <a:solidFill>
                  <a:srgbClr val="C2185B"/>
                </a:solidFill>
                <a:latin typeface="Noto Sans Arabic" pitchFamily="34" charset="0"/>
                <a:ea typeface="Noto Sans Arabic" pitchFamily="34" charset="-122"/>
                <a:cs typeface="Noto Sans Arabic" pitchFamily="34" charset="-120"/>
              </a:rPr>
              <a:t>کاهش عدم اطمینان در تصمیم پیش از خرید با دستیار هدایت‌شده انتخاب محصول</a:t>
            </a:r>
            <a:endParaRPr lang="en-US" sz="1700" dirty="0"/>
          </a:p>
        </p:txBody>
      </p:sp>
      <p:sp>
        <p:nvSpPr>
          <p:cNvPr id="6" name="Text 4"/>
          <p:cNvSpPr/>
          <p:nvPr/>
        </p:nvSpPr>
        <p:spPr>
          <a:xfrm>
            <a:off x="731520" y="2788920"/>
            <a:ext cx="7863840" cy="347472"/>
          </a:xfrm>
          <a:prstGeom prst="rect">
            <a:avLst/>
          </a:prstGeom>
          <a:noFill/>
          <a:ln/>
        </p:spPr>
        <p:txBody>
          <a:bodyPr wrap="square" lIns="635" tIns="635" rIns="635" bIns="635" rtlCol="0" anchor="ctr">
            <a:normAutofit/>
          </a:bodyPr>
          <a:lstStyle/>
          <a:p>
            <a:pPr rtl="1" algn="r" indent="0" marL="0">
              <a:buNone/>
            </a:pPr>
            <a:r>
              <a:rPr lang="en-US" sz="1100" dirty="0">
                <a:solidFill>
                  <a:srgbClr val="6B7280"/>
                </a:solidFill>
                <a:latin typeface="Noto Sans Arabic" pitchFamily="34" charset="0"/>
                <a:ea typeface="Noto Sans Arabic" pitchFamily="34" charset="-122"/>
                <a:cs typeface="Noto Sans Arabic" pitchFamily="34" charset="-120"/>
              </a:rPr>
              <a:t>ارائه ۲۰ دقیقه‌ای · مبتنی بر Evidence، DECAF، MVP و مسیر اعتبارسنجی</a:t>
            </a:r>
            <a:endParaRPr lang="en-US" sz="1100" dirty="0"/>
          </a:p>
        </p:txBody>
      </p:sp>
      <p:sp>
        <p:nvSpPr>
          <p:cNvPr id="7" name="Shape 5"/>
          <p:cNvSpPr/>
          <p:nvPr/>
        </p:nvSpPr>
        <p:spPr>
          <a:xfrm>
            <a:off x="731520" y="3794760"/>
            <a:ext cx="2286000" cy="658368"/>
          </a:xfrm>
          <a:prstGeom prst="roundRect">
            <a:avLst>
              <a:gd name="adj" fmla="val 16667"/>
            </a:avLst>
          </a:prstGeom>
          <a:solidFill>
            <a:srgbClr val="FFFFFF"/>
          </a:solidFill>
          <a:ln w="12700">
            <a:solidFill>
              <a:srgbClr val="E5E7EB"/>
            </a:solidFill>
            <a:prstDash val="solid"/>
          </a:ln>
        </p:spPr>
      </p:sp>
      <p:sp>
        <p:nvSpPr>
          <p:cNvPr id="8" name="Text 6"/>
          <p:cNvSpPr/>
          <p:nvPr/>
        </p:nvSpPr>
        <p:spPr>
          <a:xfrm>
            <a:off x="868680" y="3895344"/>
            <a:ext cx="2011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E91E63"/>
                </a:solidFill>
                <a:latin typeface="Noto Sans Arabic" pitchFamily="34" charset="0"/>
                <a:ea typeface="Noto Sans Arabic" pitchFamily="34" charset="-122"/>
                <a:cs typeface="Noto Sans Arabic" pitchFamily="34" charset="-120"/>
              </a:rPr>
              <a:t>Selected for Validation</a:t>
            </a:r>
            <a:endParaRPr lang="en-US" sz="1800" dirty="0"/>
          </a:p>
        </p:txBody>
      </p:sp>
      <p:sp>
        <p:nvSpPr>
          <p:cNvPr id="9" name="Text 7"/>
          <p:cNvSpPr/>
          <p:nvPr/>
        </p:nvSpPr>
        <p:spPr>
          <a:xfrm>
            <a:off x="841248" y="4178808"/>
            <a:ext cx="2066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وضعیت راه‌حل</a:t>
            </a:r>
            <a:endParaRPr lang="en-US" sz="750" dirty="0"/>
          </a:p>
        </p:txBody>
      </p:sp>
      <p:sp>
        <p:nvSpPr>
          <p:cNvPr id="10" name="Shape 8"/>
          <p:cNvSpPr/>
          <p:nvPr/>
        </p:nvSpPr>
        <p:spPr>
          <a:xfrm>
            <a:off x="3246120" y="3794760"/>
            <a:ext cx="2286000" cy="658368"/>
          </a:xfrm>
          <a:prstGeom prst="roundRect">
            <a:avLst>
              <a:gd name="adj" fmla="val 16667"/>
            </a:avLst>
          </a:prstGeom>
          <a:solidFill>
            <a:srgbClr val="FFFFFF"/>
          </a:solidFill>
          <a:ln w="12700">
            <a:solidFill>
              <a:srgbClr val="E5E7EB"/>
            </a:solidFill>
            <a:prstDash val="solid"/>
          </a:ln>
        </p:spPr>
      </p:sp>
      <p:sp>
        <p:nvSpPr>
          <p:cNvPr id="11" name="Text 9"/>
          <p:cNvSpPr/>
          <p:nvPr/>
        </p:nvSpPr>
        <p:spPr>
          <a:xfrm>
            <a:off x="3383280" y="3895344"/>
            <a:ext cx="2011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14213D"/>
                </a:solidFill>
                <a:latin typeface="Noto Sans Arabic" pitchFamily="34" charset="0"/>
                <a:ea typeface="Noto Sans Arabic" pitchFamily="34" charset="-122"/>
                <a:cs typeface="Noto Sans Arabic" pitchFamily="34" charset="-120"/>
              </a:rPr>
              <a:t>Decision Uncertainty</a:t>
            </a:r>
            <a:endParaRPr lang="en-US" sz="1800" dirty="0"/>
          </a:p>
        </p:txBody>
      </p:sp>
      <p:sp>
        <p:nvSpPr>
          <p:cNvPr id="12" name="Text 10"/>
          <p:cNvSpPr/>
          <p:nvPr/>
        </p:nvSpPr>
        <p:spPr>
          <a:xfrm>
            <a:off x="3355848" y="4178808"/>
            <a:ext cx="2066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مسئله اصلی</a:t>
            </a:r>
            <a:endParaRPr lang="en-US" sz="750" dirty="0"/>
          </a:p>
        </p:txBody>
      </p:sp>
      <p:sp>
        <p:nvSpPr>
          <p:cNvPr id="13" name="Shape 11"/>
          <p:cNvSpPr/>
          <p:nvPr/>
        </p:nvSpPr>
        <p:spPr>
          <a:xfrm>
            <a:off x="5760720" y="3794760"/>
            <a:ext cx="2286000" cy="658368"/>
          </a:xfrm>
          <a:prstGeom prst="roundRect">
            <a:avLst>
              <a:gd name="adj" fmla="val 16667"/>
            </a:avLst>
          </a:prstGeom>
          <a:solidFill>
            <a:srgbClr val="FFFFFF"/>
          </a:solidFill>
          <a:ln w="12700">
            <a:solidFill>
              <a:srgbClr val="E5E7EB"/>
            </a:solidFill>
            <a:prstDash val="solid"/>
          </a:ln>
        </p:spPr>
      </p:sp>
      <p:sp>
        <p:nvSpPr>
          <p:cNvPr id="14" name="Text 12"/>
          <p:cNvSpPr/>
          <p:nvPr/>
        </p:nvSpPr>
        <p:spPr>
          <a:xfrm>
            <a:off x="5897880" y="3895344"/>
            <a:ext cx="2011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0F766E"/>
                </a:solidFill>
                <a:latin typeface="Noto Sans Arabic" pitchFamily="34" charset="0"/>
                <a:ea typeface="Noto Sans Arabic" pitchFamily="34" charset="-122"/>
                <a:cs typeface="Noto Sans Arabic" pitchFamily="34" charset="-120"/>
              </a:rPr>
              <a:t>Fake Door → Pilot</a:t>
            </a:r>
            <a:endParaRPr lang="en-US" sz="1800" dirty="0"/>
          </a:p>
        </p:txBody>
      </p:sp>
      <p:sp>
        <p:nvSpPr>
          <p:cNvPr id="15" name="Text 13"/>
          <p:cNvSpPr/>
          <p:nvPr/>
        </p:nvSpPr>
        <p:spPr>
          <a:xfrm>
            <a:off x="5870448" y="4178808"/>
            <a:ext cx="2066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مسیر پیشنهادی</a:t>
            </a:r>
            <a:endParaRPr lang="en-US" sz="750" dirty="0"/>
          </a:p>
        </p:txBody>
      </p:sp>
      <p:sp>
        <p:nvSpPr>
          <p:cNvPr id="16" name="Shape 14"/>
          <p:cNvSpPr/>
          <p:nvPr/>
        </p:nvSpPr>
        <p:spPr>
          <a:xfrm>
            <a:off x="8275320" y="3794760"/>
            <a:ext cx="2286000" cy="658368"/>
          </a:xfrm>
          <a:prstGeom prst="roundRect">
            <a:avLst>
              <a:gd name="adj" fmla="val 16667"/>
            </a:avLst>
          </a:prstGeom>
          <a:solidFill>
            <a:srgbClr val="FFFFFF"/>
          </a:solidFill>
          <a:ln w="12700">
            <a:solidFill>
              <a:srgbClr val="E5E7EB"/>
            </a:solidFill>
            <a:prstDash val="solid"/>
          </a:ln>
        </p:spPr>
      </p:sp>
      <p:sp>
        <p:nvSpPr>
          <p:cNvPr id="17" name="Text 15"/>
          <p:cNvSpPr/>
          <p:nvPr/>
        </p:nvSpPr>
        <p:spPr>
          <a:xfrm>
            <a:off x="8412480" y="3895344"/>
            <a:ext cx="2011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F59E0B"/>
                </a:solidFill>
                <a:latin typeface="Noto Sans Arabic" pitchFamily="34" charset="0"/>
                <a:ea typeface="Noto Sans Arabic" pitchFamily="34" charset="-122"/>
                <a:cs typeface="Noto Sans Arabic" pitchFamily="34" charset="-120"/>
              </a:rPr>
              <a:t>AI ≠ Feature</a:t>
            </a:r>
            <a:endParaRPr lang="en-US" sz="1800" dirty="0"/>
          </a:p>
        </p:txBody>
      </p:sp>
      <p:sp>
        <p:nvSpPr>
          <p:cNvPr id="18" name="Text 16"/>
          <p:cNvSpPr/>
          <p:nvPr/>
        </p:nvSpPr>
        <p:spPr>
          <a:xfrm>
            <a:off x="8385048" y="4178808"/>
            <a:ext cx="2066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اصل کلیدی</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نقشه ارائه</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این اسلاید تعاملی است؛ روی هر بخش می‌شود کلیک کرد.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Navigation</a:t>
            </a:r>
            <a:endParaRPr lang="en-US" sz="800" dirty="0"/>
          </a:p>
        </p:txBody>
      </p:sp>
      <p:sp>
        <p:nvSpPr>
          <p:cNvPr id="7" name="Shape 5"/>
          <p:cNvSpPr/>
          <p:nvPr/>
        </p:nvSpPr>
        <p:spPr>
          <a:xfrm>
            <a:off x="640080" y="1417320"/>
            <a:ext cx="2743200" cy="1005840"/>
          </a:xfrm>
          <a:prstGeom prst="roundRect">
            <a:avLst>
              <a:gd name="adj" fmla="val 10909"/>
            </a:avLst>
          </a:prstGeom>
          <a:solidFill>
            <a:srgbClr val="FFFFFF"/>
          </a:solidFill>
          <a:ln w="12700">
            <a:solidFill>
              <a:srgbClr val="FCE4EC"/>
            </a:solidFill>
            <a:prstDash val="solid"/>
          </a:ln>
        </p:spPr>
      </p:sp>
      <p:sp>
        <p:nvSpPr>
          <p:cNvPr id="8" name="Text 6"/>
          <p:cNvSpPr/>
          <p:nvPr/>
        </p:nvSpPr>
        <p:spPr>
          <a:xfrm>
            <a:off x="2880360" y="155448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01</a:t>
            </a:r>
            <a:endParaRPr lang="en-US" sz="1400" dirty="0"/>
          </a:p>
        </p:txBody>
      </p:sp>
      <p:sp>
        <p:nvSpPr>
          <p:cNvPr id="9" name="Text 7"/>
          <p:cNvSpPr/>
          <p:nvPr/>
        </p:nvSpPr>
        <p:spPr>
          <a:xfrm>
            <a:off x="822960" y="156362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صورت مسئله و شواهد</a:t>
            </a:r>
            <a:endParaRPr lang="en-US" sz="1200" dirty="0"/>
          </a:p>
        </p:txBody>
      </p:sp>
      <p:sp>
        <p:nvSpPr>
          <p:cNvPr id="10" name="Text 8"/>
          <p:cNvSpPr/>
          <p:nvPr/>
        </p:nvSpPr>
        <p:spPr>
          <a:xfrm>
            <a:off x="822960" y="190195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از بریف تا تشخیص مسئله</a:t>
            </a:r>
            <a:endParaRPr lang="en-US" sz="780" dirty="0"/>
          </a:p>
        </p:txBody>
      </p:sp>
      <p:sp>
        <p:nvSpPr>
          <p:cNvPr id="11" name="Shape 9"/>
          <p:cNvSpPr/>
          <p:nvPr/>
        </p:nvSpPr>
        <p:spPr>
          <a:xfrm>
            <a:off x="3611880" y="1417320"/>
            <a:ext cx="2743200" cy="1005840"/>
          </a:xfrm>
          <a:prstGeom prst="roundRect">
            <a:avLst>
              <a:gd name="adj" fmla="val 10909"/>
            </a:avLst>
          </a:prstGeom>
          <a:solidFill>
            <a:srgbClr val="FFFFFF"/>
          </a:solidFill>
          <a:ln w="12700">
            <a:solidFill>
              <a:srgbClr val="FCE4EC"/>
            </a:solidFill>
            <a:prstDash val="solid"/>
          </a:ln>
        </p:spPr>
      </p:sp>
      <p:sp>
        <p:nvSpPr>
          <p:cNvPr id="12" name="Text 10"/>
          <p:cNvSpPr/>
          <p:nvPr/>
        </p:nvSpPr>
        <p:spPr>
          <a:xfrm>
            <a:off x="5852160" y="155448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02</a:t>
            </a:r>
            <a:endParaRPr lang="en-US" sz="1400" dirty="0"/>
          </a:p>
        </p:txBody>
      </p:sp>
      <p:sp>
        <p:nvSpPr>
          <p:cNvPr id="13" name="Text 11"/>
          <p:cNvSpPr/>
          <p:nvPr/>
        </p:nvSpPr>
        <p:spPr>
          <a:xfrm>
            <a:off x="3794760" y="156362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دیسکاوری و اولویت‌بندی</a:t>
            </a:r>
            <a:endParaRPr lang="en-US" sz="1200" dirty="0"/>
          </a:p>
        </p:txBody>
      </p:sp>
      <p:sp>
        <p:nvSpPr>
          <p:cNvPr id="14" name="Text 12"/>
          <p:cNvSpPr/>
          <p:nvPr/>
        </p:nvSpPr>
        <p:spPr>
          <a:xfrm>
            <a:off x="3794760" y="190195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کاربر، VOC، UX، رقبا</a:t>
            </a:r>
            <a:endParaRPr lang="en-US" sz="780" dirty="0"/>
          </a:p>
        </p:txBody>
      </p:sp>
      <p:sp>
        <p:nvSpPr>
          <p:cNvPr id="15" name="Shape 13"/>
          <p:cNvSpPr/>
          <p:nvPr/>
        </p:nvSpPr>
        <p:spPr>
          <a:xfrm>
            <a:off x="6583680" y="1417320"/>
            <a:ext cx="2743200" cy="1005840"/>
          </a:xfrm>
          <a:prstGeom prst="roundRect">
            <a:avLst>
              <a:gd name="adj" fmla="val 10909"/>
            </a:avLst>
          </a:prstGeom>
          <a:solidFill>
            <a:srgbClr val="FFFFFF"/>
          </a:solidFill>
          <a:ln w="12700">
            <a:solidFill>
              <a:srgbClr val="FCE4EC"/>
            </a:solidFill>
            <a:prstDash val="solid"/>
          </a:ln>
        </p:spPr>
      </p:sp>
      <p:sp>
        <p:nvSpPr>
          <p:cNvPr id="16" name="Text 14"/>
          <p:cNvSpPr/>
          <p:nvPr/>
        </p:nvSpPr>
        <p:spPr>
          <a:xfrm>
            <a:off x="8823960" y="155448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03</a:t>
            </a:r>
            <a:endParaRPr lang="en-US" sz="1400" dirty="0"/>
          </a:p>
        </p:txBody>
      </p:sp>
      <p:sp>
        <p:nvSpPr>
          <p:cNvPr id="17" name="Text 15"/>
          <p:cNvSpPr/>
          <p:nvPr/>
        </p:nvSpPr>
        <p:spPr>
          <a:xfrm>
            <a:off x="6766560" y="156362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فرصت و فیچر منتخب</a:t>
            </a:r>
            <a:endParaRPr lang="en-US" sz="1200" dirty="0"/>
          </a:p>
        </p:txBody>
      </p:sp>
      <p:sp>
        <p:nvSpPr>
          <p:cNvPr id="18" name="Text 16"/>
          <p:cNvSpPr/>
          <p:nvPr/>
        </p:nvSpPr>
        <p:spPr>
          <a:xfrm>
            <a:off x="6766560" y="190195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چرا Guided Decision Support</a:t>
            </a:r>
            <a:endParaRPr lang="en-US" sz="780" dirty="0"/>
          </a:p>
        </p:txBody>
      </p:sp>
      <p:sp>
        <p:nvSpPr>
          <p:cNvPr id="19" name="Shape 17"/>
          <p:cNvSpPr/>
          <p:nvPr/>
        </p:nvSpPr>
        <p:spPr>
          <a:xfrm>
            <a:off x="640080" y="2743200"/>
            <a:ext cx="2743200" cy="1005840"/>
          </a:xfrm>
          <a:prstGeom prst="roundRect">
            <a:avLst>
              <a:gd name="adj" fmla="val 10909"/>
            </a:avLst>
          </a:prstGeom>
          <a:solidFill>
            <a:srgbClr val="FFFFFF"/>
          </a:solidFill>
          <a:ln w="12700">
            <a:solidFill>
              <a:srgbClr val="FCE4EC"/>
            </a:solidFill>
            <a:prstDash val="solid"/>
          </a:ln>
        </p:spPr>
      </p:sp>
      <p:sp>
        <p:nvSpPr>
          <p:cNvPr id="20" name="Text 18"/>
          <p:cNvSpPr/>
          <p:nvPr/>
        </p:nvSpPr>
        <p:spPr>
          <a:xfrm>
            <a:off x="2880360" y="288036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04</a:t>
            </a:r>
            <a:endParaRPr lang="en-US" sz="1400" dirty="0"/>
          </a:p>
        </p:txBody>
      </p:sp>
      <p:sp>
        <p:nvSpPr>
          <p:cNvPr id="21" name="Text 19"/>
          <p:cNvSpPr/>
          <p:nvPr/>
        </p:nvSpPr>
        <p:spPr>
          <a:xfrm>
            <a:off x="822960" y="288950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MVP و طراحی تجربه</a:t>
            </a:r>
            <a:endParaRPr lang="en-US" sz="1200" dirty="0"/>
          </a:p>
        </p:txBody>
      </p:sp>
      <p:sp>
        <p:nvSpPr>
          <p:cNvPr id="22" name="Text 20"/>
          <p:cNvSpPr/>
          <p:nvPr/>
        </p:nvSpPr>
        <p:spPr>
          <a:xfrm>
            <a:off x="822960" y="322783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Fake Door، Concierge، Low-Fi</a:t>
            </a:r>
            <a:endParaRPr lang="en-US" sz="780" dirty="0"/>
          </a:p>
        </p:txBody>
      </p:sp>
      <p:sp>
        <p:nvSpPr>
          <p:cNvPr id="23" name="Shape 21"/>
          <p:cNvSpPr/>
          <p:nvPr/>
        </p:nvSpPr>
        <p:spPr>
          <a:xfrm>
            <a:off x="3611880" y="2743200"/>
            <a:ext cx="2743200" cy="1005840"/>
          </a:xfrm>
          <a:prstGeom prst="roundRect">
            <a:avLst>
              <a:gd name="adj" fmla="val 10909"/>
            </a:avLst>
          </a:prstGeom>
          <a:solidFill>
            <a:srgbClr val="FFFFFF"/>
          </a:solidFill>
          <a:ln w="12700">
            <a:solidFill>
              <a:srgbClr val="FCE4EC"/>
            </a:solidFill>
            <a:prstDash val="solid"/>
          </a:ln>
        </p:spPr>
      </p:sp>
      <p:sp>
        <p:nvSpPr>
          <p:cNvPr id="24" name="Text 22"/>
          <p:cNvSpPr/>
          <p:nvPr/>
        </p:nvSpPr>
        <p:spPr>
          <a:xfrm>
            <a:off x="5852160" y="288036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05</a:t>
            </a:r>
            <a:endParaRPr lang="en-US" sz="1400" dirty="0"/>
          </a:p>
        </p:txBody>
      </p:sp>
      <p:sp>
        <p:nvSpPr>
          <p:cNvPr id="25" name="Text 23"/>
          <p:cNvSpPr/>
          <p:nvPr/>
        </p:nvSpPr>
        <p:spPr>
          <a:xfrm>
            <a:off x="3794760" y="288950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اجرا و اندازه‌گیری</a:t>
            </a:r>
            <a:endParaRPr lang="en-US" sz="1200" dirty="0"/>
          </a:p>
        </p:txBody>
      </p:sp>
      <p:sp>
        <p:nvSpPr>
          <p:cNvPr id="26" name="Text 24"/>
          <p:cNvSpPr/>
          <p:nvPr/>
        </p:nvSpPr>
        <p:spPr>
          <a:xfrm>
            <a:off x="3794760" y="322783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Jira، KPI، Guardrail</a:t>
            </a:r>
            <a:endParaRPr lang="en-US" sz="780" dirty="0"/>
          </a:p>
        </p:txBody>
      </p:sp>
      <p:sp>
        <p:nvSpPr>
          <p:cNvPr id="27" name="Shape 25"/>
          <p:cNvSpPr/>
          <p:nvPr/>
        </p:nvSpPr>
        <p:spPr>
          <a:xfrm>
            <a:off x="6583680" y="2743200"/>
            <a:ext cx="2743200" cy="1005840"/>
          </a:xfrm>
          <a:prstGeom prst="roundRect">
            <a:avLst>
              <a:gd name="adj" fmla="val 10909"/>
            </a:avLst>
          </a:prstGeom>
          <a:solidFill>
            <a:srgbClr val="FFFFFF"/>
          </a:solidFill>
          <a:ln w="12700">
            <a:solidFill>
              <a:srgbClr val="FCE4EC"/>
            </a:solidFill>
            <a:prstDash val="solid"/>
          </a:ln>
        </p:spPr>
      </p:sp>
      <p:sp>
        <p:nvSpPr>
          <p:cNvPr id="28" name="Text 26"/>
          <p:cNvSpPr/>
          <p:nvPr/>
        </p:nvSpPr>
        <p:spPr>
          <a:xfrm>
            <a:off x="8823960" y="2880360"/>
            <a:ext cx="347472" cy="256032"/>
          </a:xfrm>
          <a:prstGeom prst="rect">
            <a:avLst/>
          </a:prstGeom>
          <a:noFill/>
          <a:ln/>
        </p:spPr>
        <p:txBody>
          <a:bodyPr wrap="square" lIns="635" tIns="635" rIns="635" bIns="635" rtlCol="0" anchor="ctr">
            <a:normAutofit/>
          </a:bodyPr>
          <a:lstStyle/>
          <a:p>
            <a:pPr algn="ctr" indent="0" marL="0">
              <a:buNone/>
            </a:pPr>
            <a:r>
              <a:rPr lang="en-US" sz="1400" b="1" dirty="0">
                <a:solidFill>
                  <a:srgbClr val="E91E63"/>
                </a:solidFill>
                <a:latin typeface="Noto Sans Arabic" pitchFamily="34" charset="0"/>
                <a:ea typeface="Noto Sans Arabic" pitchFamily="34" charset="-122"/>
                <a:cs typeface="Noto Sans Arabic" pitchFamily="34" charset="-120"/>
              </a:rPr>
              <a:t>06</a:t>
            </a:r>
            <a:endParaRPr lang="en-US" sz="1400" dirty="0"/>
          </a:p>
        </p:txBody>
      </p:sp>
      <p:sp>
        <p:nvSpPr>
          <p:cNvPr id="29" name="Text 27"/>
          <p:cNvSpPr/>
          <p:nvPr/>
        </p:nvSpPr>
        <p:spPr>
          <a:xfrm>
            <a:off x="6766560" y="2889504"/>
            <a:ext cx="1965960" cy="22860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رشد، مالی و تصمیم</a:t>
            </a:r>
            <a:endParaRPr lang="en-US" sz="1200" dirty="0"/>
          </a:p>
        </p:txBody>
      </p:sp>
      <p:sp>
        <p:nvSpPr>
          <p:cNvPr id="30" name="Text 28"/>
          <p:cNvSpPr/>
          <p:nvPr/>
        </p:nvSpPr>
        <p:spPr>
          <a:xfrm>
            <a:off x="6766560" y="3227832"/>
            <a:ext cx="2377440" cy="292608"/>
          </a:xfrm>
          <a:prstGeom prst="rect">
            <a:avLst/>
          </a:prstGeom>
          <a:noFill/>
          <a:ln/>
        </p:spPr>
        <p:txBody>
          <a:bodyPr wrap="square" lIns="635" tIns="635" rIns="635" bIns="635" rtlCol="0" anchor="ctr">
            <a:normAutofit/>
          </a:bodyPr>
          <a:lstStyle/>
          <a:p>
            <a:pPr rtl="1" algn="r" indent="0" marL="0">
              <a:buNone/>
            </a:pPr>
            <a:r>
              <a:rPr lang="en-US" sz="780" dirty="0">
                <a:solidFill>
                  <a:srgbClr val="6B7280"/>
                </a:solidFill>
                <a:latin typeface="Noto Sans Arabic" pitchFamily="34" charset="0"/>
                <a:ea typeface="Noto Sans Arabic" pitchFamily="34" charset="-122"/>
                <a:cs typeface="Noto Sans Arabic" pitchFamily="34" charset="-120"/>
              </a:rPr>
              <a:t>Acquisition، Retention، ROI Gate</a:t>
            </a:r>
            <a:endParaRPr lang="en-US" sz="780" dirty="0"/>
          </a:p>
        </p:txBody>
      </p:sp>
      <p:sp>
        <p:nvSpPr>
          <p:cNvPr id="31" name="Shape 29"/>
          <p:cNvSpPr/>
          <p:nvPr/>
        </p:nvSpPr>
        <p:spPr>
          <a:xfrm>
            <a:off x="9784080" y="1417320"/>
            <a:ext cx="1737360" cy="2331720"/>
          </a:xfrm>
          <a:prstGeom prst="roundRect">
            <a:avLst>
              <a:gd name="adj" fmla="val 6316"/>
            </a:avLst>
          </a:prstGeom>
          <a:solidFill>
            <a:srgbClr val="FCE4EC"/>
          </a:solidFill>
          <a:ln w="12700">
            <a:solidFill>
              <a:srgbClr val="FCE4EC"/>
            </a:solidFill>
            <a:prstDash val="solid"/>
          </a:ln>
        </p:spPr>
      </p:sp>
      <p:sp>
        <p:nvSpPr>
          <p:cNvPr id="32" name="Text 30"/>
          <p:cNvSpPr/>
          <p:nvPr/>
        </p:nvSpPr>
        <p:spPr>
          <a:xfrm>
            <a:off x="10012680" y="1600200"/>
            <a:ext cx="1280160" cy="228600"/>
          </a:xfrm>
          <a:prstGeom prst="rect">
            <a:avLst/>
          </a:prstGeom>
          <a:noFill/>
          <a:ln/>
        </p:spPr>
        <p:txBody>
          <a:bodyPr wrap="square" lIns="635" tIns="635" rIns="635" bIns="635" rtlCol="0" anchor="ctr">
            <a:normAutofit/>
          </a:bodyPr>
          <a:lstStyle/>
          <a:p>
            <a:pPr rtl="1" algn="ctr" indent="0" marL="0">
              <a:buNone/>
            </a:pPr>
            <a:r>
              <a:rPr lang="en-US" sz="1100" b="1" dirty="0">
                <a:solidFill>
                  <a:srgbClr val="14213D"/>
                </a:solidFill>
                <a:latin typeface="Noto Sans Arabic" pitchFamily="34" charset="0"/>
                <a:ea typeface="Noto Sans Arabic" pitchFamily="34" charset="-122"/>
                <a:cs typeface="Noto Sans Arabic" pitchFamily="34" charset="-120"/>
              </a:rPr>
              <a:t>خروجی داستان</a:t>
            </a:r>
            <a:endParaRPr lang="en-US" sz="1100" dirty="0"/>
          </a:p>
        </p:txBody>
      </p:sp>
      <p:sp>
        <p:nvSpPr>
          <p:cNvPr id="33" name="Text 31"/>
          <p:cNvSpPr/>
          <p:nvPr/>
        </p:nvSpPr>
        <p:spPr>
          <a:xfrm>
            <a:off x="9921240" y="2011680"/>
            <a:ext cx="1417320" cy="1234440"/>
          </a:xfrm>
          <a:prstGeom prst="rect">
            <a:avLst/>
          </a:prstGeom>
          <a:noFill/>
          <a:ln/>
        </p:spPr>
        <p:txBody>
          <a:bodyPr wrap="square" lIns="635" tIns="635" rIns="635" bIns="635" rtlCol="0" anchor="ctr">
            <a:normAutofit/>
          </a:bodyPr>
          <a:lstStyle/>
          <a:p>
            <a:pPr rtl="1" algn="ctr" indent="0" marL="0">
              <a:buNone/>
            </a:pPr>
            <a:r>
              <a:rPr lang="en-US" sz="900" b="1" dirty="0">
                <a:solidFill>
                  <a:srgbClr val="C2185B"/>
                </a:solidFill>
                <a:latin typeface="Noto Sans Arabic" pitchFamily="34" charset="0"/>
                <a:ea typeface="Noto Sans Arabic" pitchFamily="34" charset="-122"/>
                <a:cs typeface="Noto Sans Arabic" pitchFamily="34" charset="-120"/>
              </a:rPr>
              <a:t>Problem → Evidence → Opportunity → MVP → Measurement → Decision</a:t>
            </a:r>
            <a:endParaRPr lang="en-US" sz="900" dirty="0"/>
          </a:p>
        </p:txBody>
      </p:sp>
      <p:sp>
        <p:nvSpPr>
          <p:cNvPr id="34" name="Text 32"/>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2</a:t>
            </a:r>
            <a:endParaRPr lang="en-US" sz="700" dirty="0"/>
          </a:p>
        </p:txBody>
      </p:sp>
      <p:sp>
        <p:nvSpPr>
          <p:cNvPr id="35" name="Text 33">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پروفایل بصری پروژه</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قبل از جزئیات، وضعیت کل پروژه و سطح اطمینان را ببینیم.</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Project Profile</a:t>
            </a:r>
            <a:endParaRPr lang="en-US" sz="800" dirty="0"/>
          </a:p>
        </p:txBody>
      </p:sp>
      <p:sp>
        <p:nvSpPr>
          <p:cNvPr id="7" name="Shape 5"/>
          <p:cNvSpPr/>
          <p:nvPr/>
        </p:nvSpPr>
        <p:spPr>
          <a:xfrm>
            <a:off x="640080" y="1234440"/>
            <a:ext cx="3474720" cy="4480560"/>
          </a:xfrm>
          <a:prstGeom prst="roundRect">
            <a:avLst>
              <a:gd name="adj" fmla="val 3158"/>
            </a:avLst>
          </a:prstGeom>
          <a:solidFill>
            <a:srgbClr val="FFFFFF"/>
          </a:solidFill>
          <a:ln w="12700">
            <a:solidFill>
              <a:srgbClr val="E5E7EB"/>
            </a:solidFill>
            <a:prstDash val="solid"/>
          </a:ln>
        </p:spPr>
      </p:sp>
      <p:sp>
        <p:nvSpPr>
          <p:cNvPr id="8" name="Text 6"/>
          <p:cNvSpPr/>
          <p:nvPr/>
        </p:nvSpPr>
        <p:spPr>
          <a:xfrm>
            <a:off x="914400" y="1444752"/>
            <a:ext cx="2926080" cy="219456"/>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ضریب اطمینان به تفکیک بخش</a:t>
            </a:r>
            <a:endParaRPr lang="en-US" sz="1200" dirty="0"/>
          </a:p>
        </p:txBody>
      </p:sp>
      <p:sp>
        <p:nvSpPr>
          <p:cNvPr id="9" name="Text 7"/>
          <p:cNvSpPr/>
          <p:nvPr/>
        </p:nvSpPr>
        <p:spPr>
          <a:xfrm>
            <a:off x="914400" y="1874520"/>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دیسکاوری</a:t>
            </a:r>
            <a:endParaRPr lang="en-US" sz="720" dirty="0"/>
          </a:p>
        </p:txBody>
      </p:sp>
      <p:sp>
        <p:nvSpPr>
          <p:cNvPr id="10" name="Shape 8"/>
          <p:cNvSpPr/>
          <p:nvPr/>
        </p:nvSpPr>
        <p:spPr>
          <a:xfrm>
            <a:off x="2161642" y="1911096"/>
            <a:ext cx="1097006" cy="82296"/>
          </a:xfrm>
          <a:prstGeom prst="rect">
            <a:avLst/>
          </a:prstGeom>
          <a:solidFill>
            <a:srgbClr val="0F766E"/>
          </a:solidFill>
          <a:ln w="12700">
            <a:solidFill>
              <a:srgbClr val="0F766E"/>
            </a:solidFill>
            <a:prstDash val="solid"/>
          </a:ln>
        </p:spPr>
      </p:sp>
      <p:sp>
        <p:nvSpPr>
          <p:cNvPr id="11" name="Text 9"/>
          <p:cNvSpPr/>
          <p:nvPr/>
        </p:nvSpPr>
        <p:spPr>
          <a:xfrm>
            <a:off x="3437230" y="1865376"/>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90</a:t>
            </a:r>
            <a:endParaRPr lang="en-US" sz="680" dirty="0"/>
          </a:p>
        </p:txBody>
      </p:sp>
      <p:sp>
        <p:nvSpPr>
          <p:cNvPr id="12" name="Text 10"/>
          <p:cNvSpPr/>
          <p:nvPr/>
        </p:nvSpPr>
        <p:spPr>
          <a:xfrm>
            <a:off x="914400" y="2313432"/>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رقبا و بازار</a:t>
            </a:r>
            <a:endParaRPr lang="en-US" sz="720" dirty="0"/>
          </a:p>
        </p:txBody>
      </p:sp>
      <p:sp>
        <p:nvSpPr>
          <p:cNvPr id="13" name="Shape 11"/>
          <p:cNvSpPr/>
          <p:nvPr/>
        </p:nvSpPr>
        <p:spPr>
          <a:xfrm>
            <a:off x="2161642" y="2350008"/>
            <a:ext cx="1097006" cy="82296"/>
          </a:xfrm>
          <a:prstGeom prst="rect">
            <a:avLst/>
          </a:prstGeom>
          <a:solidFill>
            <a:srgbClr val="0F766E"/>
          </a:solidFill>
          <a:ln w="12700">
            <a:solidFill>
              <a:srgbClr val="0F766E"/>
            </a:solidFill>
            <a:prstDash val="solid"/>
          </a:ln>
        </p:spPr>
      </p:sp>
      <p:sp>
        <p:nvSpPr>
          <p:cNvPr id="14" name="Text 12"/>
          <p:cNvSpPr/>
          <p:nvPr/>
        </p:nvSpPr>
        <p:spPr>
          <a:xfrm>
            <a:off x="3437230" y="2304288"/>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90</a:t>
            </a:r>
            <a:endParaRPr lang="en-US" sz="680" dirty="0"/>
          </a:p>
        </p:txBody>
      </p:sp>
      <p:sp>
        <p:nvSpPr>
          <p:cNvPr id="15" name="Text 13"/>
          <p:cNvSpPr/>
          <p:nvPr/>
        </p:nvSpPr>
        <p:spPr>
          <a:xfrm>
            <a:off x="914400" y="2752344"/>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انتخاب فیچر</a:t>
            </a:r>
            <a:endParaRPr lang="en-US" sz="720" dirty="0"/>
          </a:p>
        </p:txBody>
      </p:sp>
      <p:sp>
        <p:nvSpPr>
          <p:cNvPr id="16" name="Shape 14"/>
          <p:cNvSpPr/>
          <p:nvPr/>
        </p:nvSpPr>
        <p:spPr>
          <a:xfrm>
            <a:off x="2161642" y="2788920"/>
            <a:ext cx="938549" cy="82296"/>
          </a:xfrm>
          <a:prstGeom prst="rect">
            <a:avLst/>
          </a:prstGeom>
          <a:solidFill>
            <a:srgbClr val="F59E0B"/>
          </a:solidFill>
          <a:ln w="12700">
            <a:solidFill>
              <a:srgbClr val="F59E0B"/>
            </a:solidFill>
            <a:prstDash val="solid"/>
          </a:ln>
        </p:spPr>
      </p:sp>
      <p:sp>
        <p:nvSpPr>
          <p:cNvPr id="17" name="Text 15"/>
          <p:cNvSpPr/>
          <p:nvPr/>
        </p:nvSpPr>
        <p:spPr>
          <a:xfrm>
            <a:off x="3437230" y="2743200"/>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77</a:t>
            </a:r>
            <a:endParaRPr lang="en-US" sz="680" dirty="0"/>
          </a:p>
        </p:txBody>
      </p:sp>
      <p:sp>
        <p:nvSpPr>
          <p:cNvPr id="18" name="Text 16"/>
          <p:cNvSpPr/>
          <p:nvPr/>
        </p:nvSpPr>
        <p:spPr>
          <a:xfrm>
            <a:off x="914400" y="3191256"/>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MVP و طراحی</a:t>
            </a:r>
            <a:endParaRPr lang="en-US" sz="720" dirty="0"/>
          </a:p>
        </p:txBody>
      </p:sp>
      <p:sp>
        <p:nvSpPr>
          <p:cNvPr id="19" name="Shape 17"/>
          <p:cNvSpPr/>
          <p:nvPr/>
        </p:nvSpPr>
        <p:spPr>
          <a:xfrm>
            <a:off x="2161642" y="3227832"/>
            <a:ext cx="1109195" cy="82296"/>
          </a:xfrm>
          <a:prstGeom prst="rect">
            <a:avLst/>
          </a:prstGeom>
          <a:solidFill>
            <a:srgbClr val="0F766E"/>
          </a:solidFill>
          <a:ln w="12700">
            <a:solidFill>
              <a:srgbClr val="0F766E"/>
            </a:solidFill>
            <a:prstDash val="solid"/>
          </a:ln>
        </p:spPr>
      </p:sp>
      <p:sp>
        <p:nvSpPr>
          <p:cNvPr id="20" name="Text 18"/>
          <p:cNvSpPr/>
          <p:nvPr/>
        </p:nvSpPr>
        <p:spPr>
          <a:xfrm>
            <a:off x="3437230" y="3182112"/>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91</a:t>
            </a:r>
            <a:endParaRPr lang="en-US" sz="680" dirty="0"/>
          </a:p>
        </p:txBody>
      </p:sp>
      <p:sp>
        <p:nvSpPr>
          <p:cNvPr id="21" name="Text 19"/>
          <p:cNvSpPr/>
          <p:nvPr/>
        </p:nvSpPr>
        <p:spPr>
          <a:xfrm>
            <a:off x="914400" y="3630168"/>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متریک و رشد</a:t>
            </a:r>
            <a:endParaRPr lang="en-US" sz="720" dirty="0"/>
          </a:p>
        </p:txBody>
      </p:sp>
      <p:sp>
        <p:nvSpPr>
          <p:cNvPr id="22" name="Shape 20"/>
          <p:cNvSpPr/>
          <p:nvPr/>
        </p:nvSpPr>
        <p:spPr>
          <a:xfrm>
            <a:off x="2161642" y="3666744"/>
            <a:ext cx="901982" cy="82296"/>
          </a:xfrm>
          <a:prstGeom prst="rect">
            <a:avLst/>
          </a:prstGeom>
          <a:solidFill>
            <a:srgbClr val="F59E0B"/>
          </a:solidFill>
          <a:ln w="12700">
            <a:solidFill>
              <a:srgbClr val="F59E0B"/>
            </a:solidFill>
            <a:prstDash val="solid"/>
          </a:ln>
        </p:spPr>
      </p:sp>
      <p:sp>
        <p:nvSpPr>
          <p:cNvPr id="23" name="Text 21"/>
          <p:cNvSpPr/>
          <p:nvPr/>
        </p:nvSpPr>
        <p:spPr>
          <a:xfrm>
            <a:off x="3437230" y="3621024"/>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74</a:t>
            </a:r>
            <a:endParaRPr lang="en-US" sz="680" dirty="0"/>
          </a:p>
        </p:txBody>
      </p:sp>
      <p:sp>
        <p:nvSpPr>
          <p:cNvPr id="24" name="Text 22"/>
          <p:cNvSpPr/>
          <p:nvPr/>
        </p:nvSpPr>
        <p:spPr>
          <a:xfrm>
            <a:off x="914400" y="4069080"/>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مالی</a:t>
            </a:r>
            <a:endParaRPr lang="en-US" sz="720" dirty="0"/>
          </a:p>
        </p:txBody>
      </p:sp>
      <p:sp>
        <p:nvSpPr>
          <p:cNvPr id="25" name="Shape 23"/>
          <p:cNvSpPr/>
          <p:nvPr/>
        </p:nvSpPr>
        <p:spPr>
          <a:xfrm>
            <a:off x="2161642" y="4105656"/>
            <a:ext cx="621637" cy="82296"/>
          </a:xfrm>
          <a:prstGeom prst="rect">
            <a:avLst/>
          </a:prstGeom>
          <a:solidFill>
            <a:srgbClr val="DC2626"/>
          </a:solidFill>
          <a:ln w="12700">
            <a:solidFill>
              <a:srgbClr val="DC2626"/>
            </a:solidFill>
            <a:prstDash val="solid"/>
          </a:ln>
        </p:spPr>
      </p:sp>
      <p:sp>
        <p:nvSpPr>
          <p:cNvPr id="26" name="Text 24"/>
          <p:cNvSpPr/>
          <p:nvPr/>
        </p:nvSpPr>
        <p:spPr>
          <a:xfrm>
            <a:off x="3437230" y="4059936"/>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51</a:t>
            </a:r>
            <a:endParaRPr lang="en-US" sz="680" dirty="0"/>
          </a:p>
        </p:txBody>
      </p:sp>
      <p:sp>
        <p:nvSpPr>
          <p:cNvPr id="27" name="Text 25"/>
          <p:cNvSpPr/>
          <p:nvPr/>
        </p:nvSpPr>
        <p:spPr>
          <a:xfrm>
            <a:off x="914400" y="4892040"/>
            <a:ext cx="2834640" cy="320040"/>
          </a:xfrm>
          <a:prstGeom prst="rect">
            <a:avLst/>
          </a:prstGeom>
          <a:noFill/>
          <a:ln/>
        </p:spPr>
        <p:txBody>
          <a:bodyPr wrap="square" lIns="635" tIns="635" rIns="635" bIns="635" rtlCol="0" anchor="ctr">
            <a:normAutofit/>
          </a:bodyPr>
          <a:lstStyle/>
          <a:p>
            <a:pPr rtl="1" algn="ctr" indent="0" marL="0">
              <a:buNone/>
            </a:pPr>
            <a:r>
              <a:rPr lang="en-US" sz="850" dirty="0">
                <a:solidFill>
                  <a:srgbClr val="6B7280"/>
                </a:solidFill>
                <a:latin typeface="Noto Sans Arabic" pitchFamily="34" charset="0"/>
                <a:ea typeface="Noto Sans Arabic" pitchFamily="34" charset="-122"/>
                <a:cs typeface="Noto Sans Arabic" pitchFamily="34" charset="-120"/>
              </a:rPr>
              <a:t>فایل‌های مالی عمداً پایین‌ترند چون داده داخلی و آزمایش واقعی ندارند.</a:t>
            </a:r>
            <a:endParaRPr lang="en-US" sz="850" dirty="0"/>
          </a:p>
        </p:txBody>
      </p:sp>
      <p:sp>
        <p:nvSpPr>
          <p:cNvPr id="28" name="Shape 26"/>
          <p:cNvSpPr/>
          <p:nvPr/>
        </p:nvSpPr>
        <p:spPr>
          <a:xfrm>
            <a:off x="4389120" y="1234440"/>
            <a:ext cx="3474720" cy="4480560"/>
          </a:xfrm>
          <a:prstGeom prst="roundRect">
            <a:avLst>
              <a:gd name="adj" fmla="val 3158"/>
            </a:avLst>
          </a:prstGeom>
          <a:solidFill>
            <a:srgbClr val="FFF5F8"/>
          </a:solidFill>
          <a:ln w="12700">
            <a:solidFill>
              <a:srgbClr val="FCE4EC"/>
            </a:solidFill>
            <a:prstDash val="solid"/>
          </a:ln>
        </p:spPr>
      </p:sp>
      <p:sp>
        <p:nvSpPr>
          <p:cNvPr id="29" name="Text 27"/>
          <p:cNvSpPr/>
          <p:nvPr/>
        </p:nvSpPr>
        <p:spPr>
          <a:xfrm>
            <a:off x="4663440" y="1444752"/>
            <a:ext cx="2926080" cy="219456"/>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اهمیت تصمیمی بخش‌ها</a:t>
            </a:r>
            <a:endParaRPr lang="en-US" sz="1200" dirty="0"/>
          </a:p>
        </p:txBody>
      </p:sp>
      <p:sp>
        <p:nvSpPr>
          <p:cNvPr id="30" name="Text 28"/>
          <p:cNvSpPr/>
          <p:nvPr/>
        </p:nvSpPr>
        <p:spPr>
          <a:xfrm>
            <a:off x="4663440" y="1874520"/>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مسئله و اولویت</a:t>
            </a:r>
            <a:endParaRPr lang="en-US" sz="720" dirty="0"/>
          </a:p>
        </p:txBody>
      </p:sp>
      <p:sp>
        <p:nvSpPr>
          <p:cNvPr id="31" name="Shape 29"/>
          <p:cNvSpPr/>
          <p:nvPr/>
        </p:nvSpPr>
        <p:spPr>
          <a:xfrm>
            <a:off x="5910682" y="1911096"/>
            <a:ext cx="1218895" cy="82296"/>
          </a:xfrm>
          <a:prstGeom prst="rect">
            <a:avLst/>
          </a:prstGeom>
          <a:solidFill>
            <a:srgbClr val="E91E63"/>
          </a:solidFill>
          <a:ln w="12700">
            <a:solidFill>
              <a:srgbClr val="E91E63"/>
            </a:solidFill>
            <a:prstDash val="solid"/>
          </a:ln>
        </p:spPr>
      </p:sp>
      <p:sp>
        <p:nvSpPr>
          <p:cNvPr id="32" name="Text 30"/>
          <p:cNvSpPr/>
          <p:nvPr/>
        </p:nvSpPr>
        <p:spPr>
          <a:xfrm>
            <a:off x="7186270" y="1865376"/>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100</a:t>
            </a:r>
            <a:endParaRPr lang="en-US" sz="680" dirty="0"/>
          </a:p>
        </p:txBody>
      </p:sp>
      <p:sp>
        <p:nvSpPr>
          <p:cNvPr id="33" name="Text 31"/>
          <p:cNvSpPr/>
          <p:nvPr/>
        </p:nvSpPr>
        <p:spPr>
          <a:xfrm>
            <a:off x="4663440" y="2313432"/>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فرصت و فیچر</a:t>
            </a:r>
            <a:endParaRPr lang="en-US" sz="720" dirty="0"/>
          </a:p>
        </p:txBody>
      </p:sp>
      <p:sp>
        <p:nvSpPr>
          <p:cNvPr id="34" name="Shape 32"/>
          <p:cNvSpPr/>
          <p:nvPr/>
        </p:nvSpPr>
        <p:spPr>
          <a:xfrm>
            <a:off x="5910682" y="2350008"/>
            <a:ext cx="1194517" cy="82296"/>
          </a:xfrm>
          <a:prstGeom prst="rect">
            <a:avLst/>
          </a:prstGeom>
          <a:solidFill>
            <a:srgbClr val="E91E63"/>
          </a:solidFill>
          <a:ln w="12700">
            <a:solidFill>
              <a:srgbClr val="E91E63"/>
            </a:solidFill>
            <a:prstDash val="solid"/>
          </a:ln>
        </p:spPr>
      </p:sp>
      <p:sp>
        <p:nvSpPr>
          <p:cNvPr id="35" name="Text 33"/>
          <p:cNvSpPr/>
          <p:nvPr/>
        </p:nvSpPr>
        <p:spPr>
          <a:xfrm>
            <a:off x="7186270" y="2304288"/>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98</a:t>
            </a:r>
            <a:endParaRPr lang="en-US" sz="680" dirty="0"/>
          </a:p>
        </p:txBody>
      </p:sp>
      <p:sp>
        <p:nvSpPr>
          <p:cNvPr id="36" name="Text 34"/>
          <p:cNvSpPr/>
          <p:nvPr/>
        </p:nvSpPr>
        <p:spPr>
          <a:xfrm>
            <a:off x="4663440" y="2752344"/>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MVP</a:t>
            </a:r>
            <a:endParaRPr lang="en-US" sz="720" dirty="0"/>
          </a:p>
        </p:txBody>
      </p:sp>
      <p:sp>
        <p:nvSpPr>
          <p:cNvPr id="37" name="Shape 35"/>
          <p:cNvSpPr/>
          <p:nvPr/>
        </p:nvSpPr>
        <p:spPr>
          <a:xfrm>
            <a:off x="5910682" y="2788920"/>
            <a:ext cx="1133573" cy="82296"/>
          </a:xfrm>
          <a:prstGeom prst="rect">
            <a:avLst/>
          </a:prstGeom>
          <a:solidFill>
            <a:srgbClr val="E91E63"/>
          </a:solidFill>
          <a:ln w="12700">
            <a:solidFill>
              <a:srgbClr val="E91E63"/>
            </a:solidFill>
            <a:prstDash val="solid"/>
          </a:ln>
        </p:spPr>
      </p:sp>
      <p:sp>
        <p:nvSpPr>
          <p:cNvPr id="38" name="Text 36"/>
          <p:cNvSpPr/>
          <p:nvPr/>
        </p:nvSpPr>
        <p:spPr>
          <a:xfrm>
            <a:off x="7186270" y="2743200"/>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93</a:t>
            </a:r>
            <a:endParaRPr lang="en-US" sz="680" dirty="0"/>
          </a:p>
        </p:txBody>
      </p:sp>
      <p:sp>
        <p:nvSpPr>
          <p:cNvPr id="39" name="Text 37"/>
          <p:cNvSpPr/>
          <p:nvPr/>
        </p:nvSpPr>
        <p:spPr>
          <a:xfrm>
            <a:off x="4663440" y="3191256"/>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متریک و گاردریل</a:t>
            </a:r>
            <a:endParaRPr lang="en-US" sz="720" dirty="0"/>
          </a:p>
        </p:txBody>
      </p:sp>
      <p:sp>
        <p:nvSpPr>
          <p:cNvPr id="40" name="Shape 38"/>
          <p:cNvSpPr/>
          <p:nvPr/>
        </p:nvSpPr>
        <p:spPr>
          <a:xfrm>
            <a:off x="5910682" y="3227832"/>
            <a:ext cx="1133573" cy="82296"/>
          </a:xfrm>
          <a:prstGeom prst="rect">
            <a:avLst/>
          </a:prstGeom>
          <a:solidFill>
            <a:srgbClr val="E91E63"/>
          </a:solidFill>
          <a:ln w="12700">
            <a:solidFill>
              <a:srgbClr val="E91E63"/>
            </a:solidFill>
            <a:prstDash val="solid"/>
          </a:ln>
        </p:spPr>
      </p:sp>
      <p:sp>
        <p:nvSpPr>
          <p:cNvPr id="41" name="Text 39"/>
          <p:cNvSpPr/>
          <p:nvPr/>
        </p:nvSpPr>
        <p:spPr>
          <a:xfrm>
            <a:off x="7186270" y="3182112"/>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93</a:t>
            </a:r>
            <a:endParaRPr lang="en-US" sz="680" dirty="0"/>
          </a:p>
        </p:txBody>
      </p:sp>
      <p:sp>
        <p:nvSpPr>
          <p:cNvPr id="42" name="Text 40"/>
          <p:cNvSpPr/>
          <p:nvPr/>
        </p:nvSpPr>
        <p:spPr>
          <a:xfrm>
            <a:off x="4663440" y="3630168"/>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مالی</a:t>
            </a:r>
            <a:endParaRPr lang="en-US" sz="720" dirty="0"/>
          </a:p>
        </p:txBody>
      </p:sp>
      <p:sp>
        <p:nvSpPr>
          <p:cNvPr id="43" name="Shape 41"/>
          <p:cNvSpPr/>
          <p:nvPr/>
        </p:nvSpPr>
        <p:spPr>
          <a:xfrm>
            <a:off x="5910682" y="3666744"/>
            <a:ext cx="1121384" cy="82296"/>
          </a:xfrm>
          <a:prstGeom prst="rect">
            <a:avLst/>
          </a:prstGeom>
          <a:solidFill>
            <a:srgbClr val="E91E63"/>
          </a:solidFill>
          <a:ln w="12700">
            <a:solidFill>
              <a:srgbClr val="E91E63"/>
            </a:solidFill>
            <a:prstDash val="solid"/>
          </a:ln>
        </p:spPr>
      </p:sp>
      <p:sp>
        <p:nvSpPr>
          <p:cNvPr id="44" name="Text 42"/>
          <p:cNvSpPr/>
          <p:nvPr/>
        </p:nvSpPr>
        <p:spPr>
          <a:xfrm>
            <a:off x="7186270" y="3621024"/>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92</a:t>
            </a:r>
            <a:endParaRPr lang="en-US" sz="680" dirty="0"/>
          </a:p>
        </p:txBody>
      </p:sp>
      <p:sp>
        <p:nvSpPr>
          <p:cNvPr id="45" name="Text 43"/>
          <p:cNvSpPr/>
          <p:nvPr/>
        </p:nvSpPr>
        <p:spPr>
          <a:xfrm>
            <a:off x="4663440" y="4069080"/>
            <a:ext cx="119054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اجرا/Jira</a:t>
            </a:r>
            <a:endParaRPr lang="en-US" sz="720" dirty="0"/>
          </a:p>
        </p:txBody>
      </p:sp>
      <p:sp>
        <p:nvSpPr>
          <p:cNvPr id="46" name="Shape 44"/>
          <p:cNvSpPr/>
          <p:nvPr/>
        </p:nvSpPr>
        <p:spPr>
          <a:xfrm>
            <a:off x="5910682" y="4105656"/>
            <a:ext cx="792282" cy="82296"/>
          </a:xfrm>
          <a:prstGeom prst="rect">
            <a:avLst/>
          </a:prstGeom>
          <a:solidFill>
            <a:srgbClr val="E91E63"/>
          </a:solidFill>
          <a:ln w="12700">
            <a:solidFill>
              <a:srgbClr val="E91E63"/>
            </a:solidFill>
            <a:prstDash val="solid"/>
          </a:ln>
        </p:spPr>
      </p:sp>
      <p:sp>
        <p:nvSpPr>
          <p:cNvPr id="47" name="Text 45"/>
          <p:cNvSpPr/>
          <p:nvPr/>
        </p:nvSpPr>
        <p:spPr>
          <a:xfrm>
            <a:off x="7186270" y="4059936"/>
            <a:ext cx="25511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65</a:t>
            </a:r>
            <a:endParaRPr lang="en-US" sz="680" dirty="0"/>
          </a:p>
        </p:txBody>
      </p:sp>
      <p:sp>
        <p:nvSpPr>
          <p:cNvPr id="48" name="Text 46"/>
          <p:cNvSpPr/>
          <p:nvPr/>
        </p:nvSpPr>
        <p:spPr>
          <a:xfrm>
            <a:off x="4663440" y="4892040"/>
            <a:ext cx="2834640" cy="320040"/>
          </a:xfrm>
          <a:prstGeom prst="rect">
            <a:avLst/>
          </a:prstGeom>
          <a:noFill/>
          <a:ln/>
        </p:spPr>
        <p:txBody>
          <a:bodyPr wrap="square" lIns="635" tIns="635" rIns="635" bIns="635" rtlCol="0" anchor="ctr">
            <a:normAutofit/>
          </a:bodyPr>
          <a:lstStyle/>
          <a:p>
            <a:pPr rtl="1" algn="ctr" indent="0" marL="0">
              <a:buNone/>
            </a:pPr>
            <a:r>
              <a:rPr lang="en-US" sz="850" dirty="0">
                <a:solidFill>
                  <a:srgbClr val="6B7280"/>
                </a:solidFill>
                <a:latin typeface="Noto Sans Arabic" pitchFamily="34" charset="0"/>
                <a:ea typeface="Noto Sans Arabic" pitchFamily="34" charset="-122"/>
                <a:cs typeface="Noto Sans Arabic" pitchFamily="34" charset="-120"/>
              </a:rPr>
              <a:t>اهمیت یعنی اگر پاسخ غلط باشد، چقدر احتمال دارد تصمیم اصلی تغییر کند.</a:t>
            </a:r>
            <a:endParaRPr lang="en-US" sz="850" dirty="0"/>
          </a:p>
        </p:txBody>
      </p:sp>
      <p:sp>
        <p:nvSpPr>
          <p:cNvPr id="49" name="Shape 47"/>
          <p:cNvSpPr/>
          <p:nvPr/>
        </p:nvSpPr>
        <p:spPr>
          <a:xfrm>
            <a:off x="8138160" y="1234440"/>
            <a:ext cx="3474720" cy="1874520"/>
          </a:xfrm>
          <a:prstGeom prst="roundRect">
            <a:avLst>
              <a:gd name="adj" fmla="val 5854"/>
            </a:avLst>
          </a:prstGeom>
          <a:solidFill>
            <a:srgbClr val="FFFFFF"/>
          </a:solidFill>
          <a:ln w="12700">
            <a:solidFill>
              <a:srgbClr val="E5E7EB"/>
            </a:solidFill>
            <a:prstDash val="solid"/>
          </a:ln>
        </p:spPr>
      </p:sp>
      <p:sp>
        <p:nvSpPr>
          <p:cNvPr id="50" name="Text 48"/>
          <p:cNvSpPr/>
          <p:nvPr/>
        </p:nvSpPr>
        <p:spPr>
          <a:xfrm>
            <a:off x="8366760" y="1444752"/>
            <a:ext cx="3017520" cy="219456"/>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ترکیب روش‌شناسی</a:t>
            </a:r>
            <a:endParaRPr lang="en-US" sz="1200" dirty="0"/>
          </a:p>
        </p:txBody>
      </p:sp>
      <p:sp>
        <p:nvSpPr>
          <p:cNvPr id="51" name="Text 49"/>
          <p:cNvSpPr/>
          <p:nvPr/>
        </p:nvSpPr>
        <p:spPr>
          <a:xfrm>
            <a:off x="8458200" y="1783080"/>
            <a:ext cx="137160" cy="128016"/>
          </a:xfrm>
          <a:prstGeom prst="rect">
            <a:avLst/>
          </a:prstGeom>
          <a:noFill/>
          <a:ln/>
        </p:spPr>
        <p:txBody>
          <a:bodyPr wrap="square" lIns="0" tIns="0" rIns="0" bIns="0" rtlCol="0" anchor="ctr"/>
          <a:lstStyle/>
          <a:p>
            <a:pPr indent="0" marL="0">
              <a:buNone/>
            </a:pPr>
            <a:r>
              <a:rPr lang="en-US" sz="800" dirty="0">
                <a:solidFill>
                  <a:srgbClr val="E91E63"/>
                </a:solidFill>
              </a:rPr>
              <a:t>●</a:t>
            </a:r>
            <a:endParaRPr lang="en-US" sz="800" dirty="0"/>
          </a:p>
        </p:txBody>
      </p:sp>
      <p:sp>
        <p:nvSpPr>
          <p:cNvPr id="52" name="Text 50"/>
          <p:cNvSpPr/>
          <p:nvPr/>
        </p:nvSpPr>
        <p:spPr>
          <a:xfrm>
            <a:off x="8641080" y="1783080"/>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تحقیق کاربر 25٪</a:t>
            </a:r>
            <a:endParaRPr lang="en-US" sz="640" dirty="0"/>
          </a:p>
        </p:txBody>
      </p:sp>
      <p:sp>
        <p:nvSpPr>
          <p:cNvPr id="53" name="Text 51"/>
          <p:cNvSpPr/>
          <p:nvPr/>
        </p:nvSpPr>
        <p:spPr>
          <a:xfrm>
            <a:off x="8458200" y="1938528"/>
            <a:ext cx="137160" cy="128016"/>
          </a:xfrm>
          <a:prstGeom prst="rect">
            <a:avLst/>
          </a:prstGeom>
          <a:noFill/>
          <a:ln/>
        </p:spPr>
        <p:txBody>
          <a:bodyPr wrap="square" lIns="0" tIns="0" rIns="0" bIns="0" rtlCol="0" anchor="ctr"/>
          <a:lstStyle/>
          <a:p>
            <a:pPr indent="0" marL="0">
              <a:buNone/>
            </a:pPr>
            <a:r>
              <a:rPr lang="en-US" sz="800" dirty="0">
                <a:solidFill>
                  <a:srgbClr val="14213D"/>
                </a:solidFill>
              </a:rPr>
              <a:t>●</a:t>
            </a:r>
            <a:endParaRPr lang="en-US" sz="800" dirty="0"/>
          </a:p>
        </p:txBody>
      </p:sp>
      <p:sp>
        <p:nvSpPr>
          <p:cNvPr id="54" name="Text 52"/>
          <p:cNvSpPr/>
          <p:nvPr/>
        </p:nvSpPr>
        <p:spPr>
          <a:xfrm>
            <a:off x="8641080" y="1938528"/>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VOC 18٪</a:t>
            </a:r>
            <a:endParaRPr lang="en-US" sz="640" dirty="0"/>
          </a:p>
        </p:txBody>
      </p:sp>
      <p:sp>
        <p:nvSpPr>
          <p:cNvPr id="55" name="Text 53"/>
          <p:cNvSpPr/>
          <p:nvPr/>
        </p:nvSpPr>
        <p:spPr>
          <a:xfrm>
            <a:off x="8458200" y="2093976"/>
            <a:ext cx="137160" cy="128016"/>
          </a:xfrm>
          <a:prstGeom prst="rect">
            <a:avLst/>
          </a:prstGeom>
          <a:noFill/>
          <a:ln/>
        </p:spPr>
        <p:txBody>
          <a:bodyPr wrap="square" lIns="0" tIns="0" rIns="0" bIns="0" rtlCol="0" anchor="ctr"/>
          <a:lstStyle/>
          <a:p>
            <a:pPr indent="0" marL="0">
              <a:buNone/>
            </a:pPr>
            <a:r>
              <a:rPr lang="en-US" sz="800" dirty="0">
                <a:solidFill>
                  <a:srgbClr val="0F766E"/>
                </a:solidFill>
              </a:rPr>
              <a:t>●</a:t>
            </a:r>
            <a:endParaRPr lang="en-US" sz="800" dirty="0"/>
          </a:p>
        </p:txBody>
      </p:sp>
      <p:sp>
        <p:nvSpPr>
          <p:cNvPr id="56" name="Text 54"/>
          <p:cNvSpPr/>
          <p:nvPr/>
        </p:nvSpPr>
        <p:spPr>
          <a:xfrm>
            <a:off x="8641080" y="2093976"/>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UX 12٪</a:t>
            </a:r>
            <a:endParaRPr lang="en-US" sz="640" dirty="0"/>
          </a:p>
        </p:txBody>
      </p:sp>
      <p:sp>
        <p:nvSpPr>
          <p:cNvPr id="57" name="Text 55"/>
          <p:cNvSpPr/>
          <p:nvPr/>
        </p:nvSpPr>
        <p:spPr>
          <a:xfrm>
            <a:off x="8458200" y="2249424"/>
            <a:ext cx="137160" cy="128016"/>
          </a:xfrm>
          <a:prstGeom prst="rect">
            <a:avLst/>
          </a:prstGeom>
          <a:noFill/>
          <a:ln/>
        </p:spPr>
        <p:txBody>
          <a:bodyPr wrap="square" lIns="0" tIns="0" rIns="0" bIns="0" rtlCol="0" anchor="ctr"/>
          <a:lstStyle/>
          <a:p>
            <a:pPr indent="0" marL="0">
              <a:buNone/>
            </a:pPr>
            <a:r>
              <a:rPr lang="en-US" sz="800" dirty="0">
                <a:solidFill>
                  <a:srgbClr val="F59E0B"/>
                </a:solidFill>
              </a:rPr>
              <a:t>●</a:t>
            </a:r>
            <a:endParaRPr lang="en-US" sz="800" dirty="0"/>
          </a:p>
        </p:txBody>
      </p:sp>
      <p:sp>
        <p:nvSpPr>
          <p:cNvPr id="58" name="Text 56"/>
          <p:cNvSpPr/>
          <p:nvPr/>
        </p:nvSpPr>
        <p:spPr>
          <a:xfrm>
            <a:off x="8641080" y="2249424"/>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رقبا 15٪</a:t>
            </a:r>
            <a:endParaRPr lang="en-US" sz="640" dirty="0"/>
          </a:p>
        </p:txBody>
      </p:sp>
      <p:sp>
        <p:nvSpPr>
          <p:cNvPr id="59" name="Text 57"/>
          <p:cNvSpPr/>
          <p:nvPr/>
        </p:nvSpPr>
        <p:spPr>
          <a:xfrm>
            <a:off x="8458200" y="2404872"/>
            <a:ext cx="137160" cy="128016"/>
          </a:xfrm>
          <a:prstGeom prst="rect">
            <a:avLst/>
          </a:prstGeom>
          <a:noFill/>
          <a:ln/>
        </p:spPr>
        <p:txBody>
          <a:bodyPr wrap="square" lIns="0" tIns="0" rIns="0" bIns="0" rtlCol="0" anchor="ctr"/>
          <a:lstStyle/>
          <a:p>
            <a:pPr indent="0" marL="0">
              <a:buNone/>
            </a:pPr>
            <a:r>
              <a:rPr lang="en-US" sz="800" dirty="0">
                <a:solidFill>
                  <a:srgbClr val="7C3AED"/>
                </a:solidFill>
              </a:rPr>
              <a:t>●</a:t>
            </a:r>
            <a:endParaRPr lang="en-US" sz="800" dirty="0"/>
          </a:p>
        </p:txBody>
      </p:sp>
      <p:sp>
        <p:nvSpPr>
          <p:cNvPr id="60" name="Text 58"/>
          <p:cNvSpPr/>
          <p:nvPr/>
        </p:nvSpPr>
        <p:spPr>
          <a:xfrm>
            <a:off x="8641080" y="2404872"/>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گزارش رسمی 12٪</a:t>
            </a:r>
            <a:endParaRPr lang="en-US" sz="640" dirty="0"/>
          </a:p>
        </p:txBody>
      </p:sp>
      <p:sp>
        <p:nvSpPr>
          <p:cNvPr id="61" name="Text 59"/>
          <p:cNvSpPr/>
          <p:nvPr/>
        </p:nvSpPr>
        <p:spPr>
          <a:xfrm>
            <a:off x="8458200" y="2560320"/>
            <a:ext cx="137160" cy="128016"/>
          </a:xfrm>
          <a:prstGeom prst="rect">
            <a:avLst/>
          </a:prstGeom>
          <a:noFill/>
          <a:ln/>
        </p:spPr>
        <p:txBody>
          <a:bodyPr wrap="square" lIns="0" tIns="0" rIns="0" bIns="0" rtlCol="0" anchor="ctr"/>
          <a:lstStyle/>
          <a:p>
            <a:pPr indent="0" marL="0">
              <a:buNone/>
            </a:pPr>
            <a:r>
              <a:rPr lang="en-US" sz="800" dirty="0">
                <a:solidFill>
                  <a:srgbClr val="0891B2"/>
                </a:solidFill>
              </a:rPr>
              <a:t>●</a:t>
            </a:r>
            <a:endParaRPr lang="en-US" sz="800" dirty="0"/>
          </a:p>
        </p:txBody>
      </p:sp>
      <p:sp>
        <p:nvSpPr>
          <p:cNvPr id="62" name="Text 60"/>
          <p:cNvSpPr/>
          <p:nvPr/>
        </p:nvSpPr>
        <p:spPr>
          <a:xfrm>
            <a:off x="8641080" y="2560320"/>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DECAF 10٪</a:t>
            </a:r>
            <a:endParaRPr lang="en-US" sz="640" dirty="0"/>
          </a:p>
        </p:txBody>
      </p:sp>
      <p:sp>
        <p:nvSpPr>
          <p:cNvPr id="63" name="Text 61"/>
          <p:cNvSpPr/>
          <p:nvPr/>
        </p:nvSpPr>
        <p:spPr>
          <a:xfrm>
            <a:off x="8458200" y="2715768"/>
            <a:ext cx="137160" cy="128016"/>
          </a:xfrm>
          <a:prstGeom prst="rect">
            <a:avLst/>
          </a:prstGeom>
          <a:noFill/>
          <a:ln/>
        </p:spPr>
        <p:txBody>
          <a:bodyPr wrap="square" lIns="0" tIns="0" rIns="0" bIns="0" rtlCol="0" anchor="ctr"/>
          <a:lstStyle/>
          <a:p>
            <a:pPr indent="0" marL="0">
              <a:buNone/>
            </a:pPr>
            <a:r>
              <a:rPr lang="en-US" sz="800" dirty="0">
                <a:solidFill>
                  <a:srgbClr val="F43F5E"/>
                </a:solidFill>
              </a:rPr>
              <a:t>●</a:t>
            </a:r>
            <a:endParaRPr lang="en-US" sz="800" dirty="0"/>
          </a:p>
        </p:txBody>
      </p:sp>
      <p:sp>
        <p:nvSpPr>
          <p:cNvPr id="64" name="Text 62"/>
          <p:cNvSpPr/>
          <p:nvPr/>
        </p:nvSpPr>
        <p:spPr>
          <a:xfrm>
            <a:off x="8641080" y="2715768"/>
            <a:ext cx="2331720" cy="128016"/>
          </a:xfrm>
          <a:prstGeom prst="rect">
            <a:avLst/>
          </a:prstGeom>
          <a:noFill/>
          <a:ln/>
        </p:spPr>
        <p:txBody>
          <a:bodyPr wrap="square" lIns="635" tIns="635" rIns="635" bIns="635" rtlCol="0" anchor="ctr">
            <a:normAutofit/>
          </a:bodyPr>
          <a:lstStyle/>
          <a:p>
            <a:pPr rtl="1" algn="r" indent="0" marL="0">
              <a:buNone/>
            </a:pPr>
            <a:r>
              <a:rPr lang="en-US" sz="640" dirty="0">
                <a:solidFill>
                  <a:srgbClr val="1F2937"/>
                </a:solidFill>
                <a:latin typeface="Noto Sans Arabic" pitchFamily="34" charset="0"/>
                <a:ea typeface="Noto Sans Arabic" pitchFamily="34" charset="-122"/>
                <a:cs typeface="Noto Sans Arabic" pitchFamily="34" charset="-120"/>
              </a:rPr>
              <a:t>MVP/Test 8٪</a:t>
            </a:r>
            <a:endParaRPr lang="en-US" sz="640" dirty="0"/>
          </a:p>
        </p:txBody>
      </p:sp>
      <p:sp>
        <p:nvSpPr>
          <p:cNvPr id="65" name="Text 63"/>
          <p:cNvSpPr/>
          <p:nvPr/>
        </p:nvSpPr>
        <p:spPr>
          <a:xfrm>
            <a:off x="8366760" y="2880360"/>
            <a:ext cx="3017520" cy="137160"/>
          </a:xfrm>
          <a:prstGeom prst="rect">
            <a:avLst/>
          </a:prstGeom>
          <a:noFill/>
          <a:ln/>
        </p:spPr>
        <p:txBody>
          <a:bodyPr wrap="square" lIns="635" tIns="635" rIns="635" bIns="635" rtlCol="0" anchor="ctr">
            <a:normAutofit/>
          </a:bodyPr>
          <a:lstStyle/>
          <a:p>
            <a:pPr rtl="1" algn="ctr" indent="0" marL="0">
              <a:buNone/>
            </a:pPr>
            <a:r>
              <a:rPr lang="en-US" sz="700" dirty="0">
                <a:solidFill>
                  <a:srgbClr val="6B7280"/>
                </a:solidFill>
                <a:latin typeface="Noto Sans Arabic" pitchFamily="34" charset="0"/>
                <a:ea typeface="Noto Sans Arabic" pitchFamily="34" charset="-122"/>
                <a:cs typeface="Noto Sans Arabic" pitchFamily="34" charset="-120"/>
              </a:rPr>
              <a:t>این سهم‌ها وزن تحلیلی‌اند، نه آمار جامعه.</a:t>
            </a:r>
            <a:endParaRPr lang="en-US" sz="700" dirty="0"/>
          </a:p>
        </p:txBody>
      </p:sp>
      <p:sp>
        <p:nvSpPr>
          <p:cNvPr id="66" name="Shape 64"/>
          <p:cNvSpPr/>
          <p:nvPr/>
        </p:nvSpPr>
        <p:spPr>
          <a:xfrm>
            <a:off x="8138160" y="3401568"/>
            <a:ext cx="3474720" cy="2313432"/>
          </a:xfrm>
          <a:prstGeom prst="roundRect">
            <a:avLst>
              <a:gd name="adj" fmla="val 4743"/>
            </a:avLst>
          </a:prstGeom>
          <a:solidFill>
            <a:srgbClr val="FFF5F8"/>
          </a:solidFill>
          <a:ln w="12700">
            <a:solidFill>
              <a:srgbClr val="FCE4EC"/>
            </a:solidFill>
            <a:prstDash val="solid"/>
          </a:ln>
        </p:spPr>
      </p:sp>
      <p:sp>
        <p:nvSpPr>
          <p:cNvPr id="67" name="Text 65"/>
          <p:cNvSpPr/>
          <p:nvPr/>
        </p:nvSpPr>
        <p:spPr>
          <a:xfrm>
            <a:off x="8366760" y="3611880"/>
            <a:ext cx="3017520" cy="219456"/>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برداشت سریع برای داور</a:t>
            </a:r>
            <a:endParaRPr lang="en-US" sz="1200" dirty="0"/>
          </a:p>
        </p:txBody>
      </p:sp>
      <p:sp>
        <p:nvSpPr>
          <p:cNvPr id="68" name="Text 66"/>
          <p:cNvSpPr/>
          <p:nvPr/>
        </p:nvSpPr>
        <p:spPr>
          <a:xfrm>
            <a:off x="8366760" y="4160520"/>
            <a:ext cx="3017520" cy="685800"/>
          </a:xfrm>
          <a:prstGeom prst="rect">
            <a:avLst/>
          </a:prstGeom>
          <a:noFill/>
          <a:ln/>
        </p:spPr>
        <p:txBody>
          <a:bodyPr wrap="square" lIns="635" tIns="635" rIns="635" bIns="635" rtlCol="0" anchor="ctr">
            <a:normAutofit/>
          </a:bodyPr>
          <a:lstStyle/>
          <a:p>
            <a:pPr rtl="1" algn="ctr" indent="0" marL="0">
              <a:buNone/>
            </a:pPr>
            <a:r>
              <a:rPr lang="en-US" sz="1100" b="1" dirty="0">
                <a:solidFill>
                  <a:srgbClr val="C2185B"/>
                </a:solidFill>
                <a:latin typeface="Noto Sans Arabic" pitchFamily="34" charset="0"/>
                <a:ea typeface="Noto Sans Arabic" pitchFamily="34" charset="-122"/>
                <a:cs typeface="Noto Sans Arabic" pitchFamily="34" charset="-120"/>
              </a:rPr>
              <a:t>مسئله و MVP قوی‌اند. فیچر هنوز باید با رفتار واقعی Validate شود. بخش مالی بدون دقت جعلی ارائه می‌شود.</a:t>
            </a:r>
            <a:endParaRPr lang="en-US" sz="1100" dirty="0"/>
          </a:p>
        </p:txBody>
      </p:sp>
      <p:sp>
        <p:nvSpPr>
          <p:cNvPr id="69" name="Text 67"/>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3</a:t>
            </a:r>
            <a:endParaRPr lang="en-US" sz="700" dirty="0"/>
          </a:p>
        </p:txBody>
      </p:sp>
      <p:sp>
        <p:nvSpPr>
          <p:cNvPr id="70" name="Text 68">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بریف پروژه و سؤال تصمیم</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هدف ما فقط پاسخ‌دادن به سؤال‌های بوتکمپ نیست؛ تبدیل آن‌ها به تصمیم محصول است.</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Brief</a:t>
            </a:r>
            <a:endParaRPr lang="en-US" sz="800" dirty="0"/>
          </a:p>
        </p:txBody>
      </p:sp>
      <p:sp>
        <p:nvSpPr>
          <p:cNvPr id="7" name="Shape 5"/>
          <p:cNvSpPr/>
          <p:nvPr/>
        </p:nvSpPr>
        <p:spPr>
          <a:xfrm>
            <a:off x="685800" y="1417320"/>
            <a:ext cx="5074920" cy="4434840"/>
          </a:xfrm>
          <a:prstGeom prst="roundRect">
            <a:avLst>
              <a:gd name="adj" fmla="val 2474"/>
            </a:avLst>
          </a:prstGeom>
          <a:solidFill>
            <a:srgbClr val="FFFFFF"/>
          </a:solidFill>
          <a:ln w="12700">
            <a:solidFill>
              <a:srgbClr val="E5E7EB"/>
            </a:solidFill>
            <a:prstDash val="solid"/>
          </a:ln>
        </p:spPr>
      </p:sp>
      <p:sp>
        <p:nvSpPr>
          <p:cNvPr id="8" name="Text 6"/>
          <p:cNvSpPr/>
          <p:nvPr/>
        </p:nvSpPr>
        <p:spPr>
          <a:xfrm>
            <a:off x="960120" y="1645920"/>
            <a:ext cx="4526280" cy="292608"/>
          </a:xfrm>
          <a:prstGeom prst="rect">
            <a:avLst/>
          </a:prstGeom>
          <a:noFill/>
          <a:ln/>
        </p:spPr>
        <p:txBody>
          <a:bodyPr wrap="square" lIns="635" tIns="635" rIns="635" bIns="635" rtlCol="0" anchor="ctr">
            <a:normAutofit/>
          </a:bodyPr>
          <a:lstStyle/>
          <a:p>
            <a:pPr rtl="1" algn="r" indent="0" marL="0">
              <a:buNone/>
            </a:pPr>
            <a:r>
              <a:rPr lang="en-US" sz="1500" b="1" dirty="0">
                <a:solidFill>
                  <a:srgbClr val="14213D"/>
                </a:solidFill>
                <a:latin typeface="Noto Sans Arabic" pitchFamily="34" charset="0"/>
                <a:ea typeface="Noto Sans Arabic" pitchFamily="34" charset="-122"/>
                <a:cs typeface="Noto Sans Arabic" pitchFamily="34" charset="-120"/>
              </a:rPr>
              <a:t>سؤال تصمیم اصلی</a:t>
            </a:r>
            <a:endParaRPr lang="en-US" sz="1500" dirty="0"/>
          </a:p>
        </p:txBody>
      </p:sp>
      <p:sp>
        <p:nvSpPr>
          <p:cNvPr id="9" name="Text 7"/>
          <p:cNvSpPr/>
          <p:nvPr/>
        </p:nvSpPr>
        <p:spPr>
          <a:xfrm>
            <a:off x="960120" y="2194560"/>
            <a:ext cx="4526280" cy="914400"/>
          </a:xfrm>
          <a:prstGeom prst="rect">
            <a:avLst/>
          </a:prstGeom>
          <a:noFill/>
          <a:ln/>
        </p:spPr>
        <p:txBody>
          <a:bodyPr wrap="square" lIns="635" tIns="635" rIns="635" bIns="635" rtlCol="0" anchor="ctr">
            <a:normAutofit/>
          </a:bodyPr>
          <a:lstStyle/>
          <a:p>
            <a:pPr rtl="1" algn="ctr" indent="0" marL="0">
              <a:buNone/>
            </a:pPr>
            <a:r>
              <a:rPr lang="en-US" sz="1600" b="1" dirty="0">
                <a:solidFill>
                  <a:srgbClr val="C2185B"/>
                </a:solidFill>
                <a:latin typeface="Noto Sans Arabic" pitchFamily="34" charset="0"/>
                <a:ea typeface="Noto Sans Arabic" pitchFamily="34" charset="-122"/>
                <a:cs typeface="Noto Sans Arabic" pitchFamily="34" charset="-120"/>
              </a:rPr>
              <a:t>خانومی باید کدام مسئله معتبر کاربر را اولویت دهد، چه فرصتی از آن ساخته می‌شود، و ارزان‌ترین مسیر قابل دفاع برای اعتبارسنجی فیچر چیست؟</a:t>
            </a:r>
            <a:endParaRPr lang="en-US" sz="1600" dirty="0"/>
          </a:p>
        </p:txBody>
      </p:sp>
      <p:sp>
        <p:nvSpPr>
          <p:cNvPr id="10" name="Shape 8"/>
          <p:cNvSpPr/>
          <p:nvPr/>
        </p:nvSpPr>
        <p:spPr>
          <a:xfrm>
            <a:off x="960120" y="3794760"/>
            <a:ext cx="1143000" cy="658368"/>
          </a:xfrm>
          <a:prstGeom prst="roundRect">
            <a:avLst>
              <a:gd name="adj" fmla="val 16667"/>
            </a:avLst>
          </a:prstGeom>
          <a:solidFill>
            <a:srgbClr val="FFFFFF"/>
          </a:solidFill>
          <a:ln w="12700">
            <a:solidFill>
              <a:srgbClr val="E5E7EB"/>
            </a:solidFill>
            <a:prstDash val="solid"/>
          </a:ln>
        </p:spPr>
      </p:sp>
      <p:sp>
        <p:nvSpPr>
          <p:cNvPr id="11" name="Text 9"/>
          <p:cNvSpPr/>
          <p:nvPr/>
        </p:nvSpPr>
        <p:spPr>
          <a:xfrm>
            <a:off x="1097280" y="3895344"/>
            <a:ext cx="868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14213D"/>
                </a:solidFill>
                <a:latin typeface="Noto Sans Arabic" pitchFamily="34" charset="0"/>
                <a:ea typeface="Noto Sans Arabic" pitchFamily="34" charset="-122"/>
                <a:cs typeface="Noto Sans Arabic" pitchFamily="34" charset="-120"/>
              </a:rPr>
              <a:t>12</a:t>
            </a:r>
            <a:endParaRPr lang="en-US" sz="1800" dirty="0"/>
          </a:p>
        </p:txBody>
      </p:sp>
      <p:sp>
        <p:nvSpPr>
          <p:cNvPr id="12" name="Text 10"/>
          <p:cNvSpPr/>
          <p:nvPr/>
        </p:nvSpPr>
        <p:spPr>
          <a:xfrm>
            <a:off x="1069848" y="4178808"/>
            <a:ext cx="923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۱۲ گام رسمی</a:t>
            </a:r>
            <a:endParaRPr lang="en-US" sz="750" dirty="0"/>
          </a:p>
        </p:txBody>
      </p:sp>
      <p:sp>
        <p:nvSpPr>
          <p:cNvPr id="13" name="Shape 11"/>
          <p:cNvSpPr/>
          <p:nvPr/>
        </p:nvSpPr>
        <p:spPr>
          <a:xfrm>
            <a:off x="2331720" y="3794760"/>
            <a:ext cx="1143000" cy="658368"/>
          </a:xfrm>
          <a:prstGeom prst="roundRect">
            <a:avLst>
              <a:gd name="adj" fmla="val 16667"/>
            </a:avLst>
          </a:prstGeom>
          <a:solidFill>
            <a:srgbClr val="FFFFFF"/>
          </a:solidFill>
          <a:ln w="12700">
            <a:solidFill>
              <a:srgbClr val="E5E7EB"/>
            </a:solidFill>
            <a:prstDash val="solid"/>
          </a:ln>
        </p:spPr>
      </p:sp>
      <p:sp>
        <p:nvSpPr>
          <p:cNvPr id="14" name="Text 12"/>
          <p:cNvSpPr/>
          <p:nvPr/>
        </p:nvSpPr>
        <p:spPr>
          <a:xfrm>
            <a:off x="2468880" y="3895344"/>
            <a:ext cx="868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E91E63"/>
                </a:solidFill>
                <a:latin typeface="Noto Sans Arabic" pitchFamily="34" charset="0"/>
                <a:ea typeface="Noto Sans Arabic" pitchFamily="34" charset="-122"/>
                <a:cs typeface="Noto Sans Arabic" pitchFamily="34" charset="-120"/>
              </a:rPr>
              <a:t>30</a:t>
            </a:r>
            <a:endParaRPr lang="en-US" sz="1800" dirty="0"/>
          </a:p>
        </p:txBody>
      </p:sp>
      <p:sp>
        <p:nvSpPr>
          <p:cNvPr id="15" name="Text 13"/>
          <p:cNvSpPr/>
          <p:nvPr/>
        </p:nvSpPr>
        <p:spPr>
          <a:xfrm>
            <a:off x="2441448" y="4178808"/>
            <a:ext cx="923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سؤال اتمیک</a:t>
            </a:r>
            <a:endParaRPr lang="en-US" sz="750" dirty="0"/>
          </a:p>
        </p:txBody>
      </p:sp>
      <p:sp>
        <p:nvSpPr>
          <p:cNvPr id="16" name="Shape 14"/>
          <p:cNvSpPr/>
          <p:nvPr/>
        </p:nvSpPr>
        <p:spPr>
          <a:xfrm>
            <a:off x="3703320" y="3794760"/>
            <a:ext cx="1143000" cy="658368"/>
          </a:xfrm>
          <a:prstGeom prst="roundRect">
            <a:avLst>
              <a:gd name="adj" fmla="val 16667"/>
            </a:avLst>
          </a:prstGeom>
          <a:solidFill>
            <a:srgbClr val="FFFFFF"/>
          </a:solidFill>
          <a:ln w="12700">
            <a:solidFill>
              <a:srgbClr val="E5E7EB"/>
            </a:solidFill>
            <a:prstDash val="solid"/>
          </a:ln>
        </p:spPr>
      </p:sp>
      <p:sp>
        <p:nvSpPr>
          <p:cNvPr id="17" name="Text 15"/>
          <p:cNvSpPr/>
          <p:nvPr/>
        </p:nvSpPr>
        <p:spPr>
          <a:xfrm>
            <a:off x="3840480" y="3895344"/>
            <a:ext cx="86868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0F766E"/>
                </a:solidFill>
                <a:latin typeface="Noto Sans Arabic" pitchFamily="34" charset="0"/>
                <a:ea typeface="Noto Sans Arabic" pitchFamily="34" charset="-122"/>
                <a:cs typeface="Noto Sans Arabic" pitchFamily="34" charset="-120"/>
              </a:rPr>
              <a:t>Jira</a:t>
            </a:r>
            <a:endParaRPr lang="en-US" sz="1800" dirty="0"/>
          </a:p>
        </p:txBody>
      </p:sp>
      <p:sp>
        <p:nvSpPr>
          <p:cNvPr id="18" name="Text 16"/>
          <p:cNvSpPr/>
          <p:nvPr/>
        </p:nvSpPr>
        <p:spPr>
          <a:xfrm>
            <a:off x="3813048" y="4178808"/>
            <a:ext cx="92354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مسیر اجرایی</a:t>
            </a:r>
            <a:endParaRPr lang="en-US" sz="750" dirty="0"/>
          </a:p>
        </p:txBody>
      </p:sp>
      <p:sp>
        <p:nvSpPr>
          <p:cNvPr id="19" name="Shape 17"/>
          <p:cNvSpPr/>
          <p:nvPr/>
        </p:nvSpPr>
        <p:spPr>
          <a:xfrm>
            <a:off x="6080760" y="1417320"/>
            <a:ext cx="5257800" cy="4434840"/>
          </a:xfrm>
          <a:prstGeom prst="roundRect">
            <a:avLst>
              <a:gd name="adj" fmla="val 2474"/>
            </a:avLst>
          </a:prstGeom>
          <a:solidFill>
            <a:srgbClr val="FFF5F8"/>
          </a:solidFill>
          <a:ln w="12700">
            <a:solidFill>
              <a:srgbClr val="FCE4EC"/>
            </a:solidFill>
            <a:prstDash val="solid"/>
          </a:ln>
        </p:spPr>
      </p:sp>
      <p:sp>
        <p:nvSpPr>
          <p:cNvPr id="20" name="Text 18"/>
          <p:cNvSpPr/>
          <p:nvPr/>
        </p:nvSpPr>
        <p:spPr>
          <a:xfrm>
            <a:off x="6355080" y="1645920"/>
            <a:ext cx="4709160" cy="292608"/>
          </a:xfrm>
          <a:prstGeom prst="rect">
            <a:avLst/>
          </a:prstGeom>
          <a:noFill/>
          <a:ln/>
        </p:spPr>
        <p:txBody>
          <a:bodyPr wrap="square" lIns="635" tIns="635" rIns="635" bIns="635" rtlCol="0" anchor="ctr">
            <a:normAutofit/>
          </a:bodyPr>
          <a:lstStyle/>
          <a:p>
            <a:pPr rtl="1" algn="r" indent="0" marL="0">
              <a:buNone/>
            </a:pPr>
            <a:r>
              <a:rPr lang="en-US" sz="1500" b="1" dirty="0">
                <a:solidFill>
                  <a:srgbClr val="14213D"/>
                </a:solidFill>
                <a:latin typeface="Noto Sans Arabic" pitchFamily="34" charset="0"/>
                <a:ea typeface="Noto Sans Arabic" pitchFamily="34" charset="-122"/>
                <a:cs typeface="Noto Sans Arabic" pitchFamily="34" charset="-120"/>
              </a:rPr>
              <a:t>قانون ساختار</a:t>
            </a:r>
            <a:endParaRPr lang="en-US" sz="1500" dirty="0"/>
          </a:p>
        </p:txBody>
      </p:sp>
      <p:sp>
        <p:nvSpPr>
          <p:cNvPr id="21" name="Text 19"/>
          <p:cNvSpPr/>
          <p:nvPr/>
        </p:nvSpPr>
        <p:spPr>
          <a:xfrm>
            <a:off x="6355080" y="2240280"/>
            <a:ext cx="4617720" cy="822960"/>
          </a:xfrm>
          <a:prstGeom prst="rect">
            <a:avLst/>
          </a:prstGeom>
          <a:noFill/>
          <a:ln/>
        </p:spPr>
        <p:txBody>
          <a:bodyPr wrap="square" lIns="635" tIns="635" rIns="635" bIns="635" rtlCol="0" anchor="ctr">
            <a:normAutofit/>
          </a:bodyPr>
          <a:lstStyle/>
          <a:p>
            <a:pPr rtl="1" algn="ctr" indent="0" marL="0">
              <a:buNone/>
            </a:pPr>
            <a:r>
              <a:rPr lang="en-US" sz="1500" b="1" dirty="0">
                <a:solidFill>
                  <a:srgbClr val="1F2937"/>
                </a:solidFill>
                <a:latin typeface="Noto Sans Arabic" pitchFamily="34" charset="0"/>
                <a:ea typeface="Noto Sans Arabic" pitchFamily="34" charset="-122"/>
                <a:cs typeface="Noto Sans Arabic" pitchFamily="34" charset="-120"/>
              </a:rPr>
              <a:t>بریف رسمی → سؤال اتمیک → Evidence → Decision → Artifact → Jira/Figma → ارائه نهایی</a:t>
            </a:r>
            <a:endParaRPr lang="en-US" sz="1500" dirty="0"/>
          </a:p>
        </p:txBody>
      </p:sp>
      <p:sp>
        <p:nvSpPr>
          <p:cNvPr id="22" name="Shape 20"/>
          <p:cNvSpPr/>
          <p:nvPr/>
        </p:nvSpPr>
        <p:spPr>
          <a:xfrm>
            <a:off x="6629400" y="3383280"/>
            <a:ext cx="365760" cy="0"/>
          </a:xfrm>
          <a:prstGeom prst="line">
            <a:avLst/>
          </a:prstGeom>
          <a:noFill/>
          <a:ln w="22860">
            <a:solidFill>
              <a:srgbClr val="E91E63"/>
            </a:solidFill>
            <a:prstDash val="solid"/>
            <a:headEnd type="none"/>
            <a:tailEnd type="triangle"/>
          </a:ln>
        </p:spPr>
      </p:sp>
      <p:sp>
        <p:nvSpPr>
          <p:cNvPr id="23" name="Shape 21"/>
          <p:cNvSpPr/>
          <p:nvPr/>
        </p:nvSpPr>
        <p:spPr>
          <a:xfrm>
            <a:off x="7287768" y="3383280"/>
            <a:ext cx="365760" cy="0"/>
          </a:xfrm>
          <a:prstGeom prst="line">
            <a:avLst/>
          </a:prstGeom>
          <a:noFill/>
          <a:ln w="22860">
            <a:solidFill>
              <a:srgbClr val="E91E63"/>
            </a:solidFill>
            <a:prstDash val="solid"/>
            <a:headEnd type="none"/>
            <a:tailEnd type="triangle"/>
          </a:ln>
        </p:spPr>
      </p:sp>
      <p:sp>
        <p:nvSpPr>
          <p:cNvPr id="24" name="Shape 22"/>
          <p:cNvSpPr/>
          <p:nvPr/>
        </p:nvSpPr>
        <p:spPr>
          <a:xfrm>
            <a:off x="7946136" y="3383280"/>
            <a:ext cx="365760" cy="0"/>
          </a:xfrm>
          <a:prstGeom prst="line">
            <a:avLst/>
          </a:prstGeom>
          <a:noFill/>
          <a:ln w="22860">
            <a:solidFill>
              <a:srgbClr val="E91E63"/>
            </a:solidFill>
            <a:prstDash val="solid"/>
            <a:headEnd type="none"/>
            <a:tailEnd type="triangle"/>
          </a:ln>
        </p:spPr>
      </p:sp>
      <p:sp>
        <p:nvSpPr>
          <p:cNvPr id="25" name="Shape 23"/>
          <p:cNvSpPr/>
          <p:nvPr/>
        </p:nvSpPr>
        <p:spPr>
          <a:xfrm>
            <a:off x="8604504" y="3383280"/>
            <a:ext cx="365760" cy="0"/>
          </a:xfrm>
          <a:prstGeom prst="line">
            <a:avLst/>
          </a:prstGeom>
          <a:noFill/>
          <a:ln w="22860">
            <a:solidFill>
              <a:srgbClr val="E91E63"/>
            </a:solidFill>
            <a:prstDash val="solid"/>
            <a:headEnd type="none"/>
            <a:tailEnd type="triangle"/>
          </a:ln>
        </p:spPr>
      </p:sp>
      <p:sp>
        <p:nvSpPr>
          <p:cNvPr id="26" name="Shape 24"/>
          <p:cNvSpPr/>
          <p:nvPr/>
        </p:nvSpPr>
        <p:spPr>
          <a:xfrm>
            <a:off x="9262872" y="3383280"/>
            <a:ext cx="365760" cy="0"/>
          </a:xfrm>
          <a:prstGeom prst="line">
            <a:avLst/>
          </a:prstGeom>
          <a:noFill/>
          <a:ln w="22860">
            <a:solidFill>
              <a:srgbClr val="E91E63"/>
            </a:solidFill>
            <a:prstDash val="solid"/>
            <a:headEnd type="none"/>
            <a:tailEnd type="triangle"/>
          </a:ln>
        </p:spPr>
      </p:sp>
      <p:sp>
        <p:nvSpPr>
          <p:cNvPr id="27" name="Shape 25"/>
          <p:cNvSpPr/>
          <p:nvPr/>
        </p:nvSpPr>
        <p:spPr>
          <a:xfrm>
            <a:off x="9921240" y="3383280"/>
            <a:ext cx="365760" cy="0"/>
          </a:xfrm>
          <a:prstGeom prst="line">
            <a:avLst/>
          </a:prstGeom>
          <a:noFill/>
          <a:ln w="22860">
            <a:solidFill>
              <a:srgbClr val="E91E63"/>
            </a:solidFill>
            <a:prstDash val="solid"/>
            <a:headEnd type="none"/>
            <a:tailEnd type="triangle"/>
          </a:ln>
        </p:spPr>
      </p:sp>
      <p:sp>
        <p:nvSpPr>
          <p:cNvPr id="28" name="Text 26"/>
          <p:cNvSpPr/>
          <p:nvPr/>
        </p:nvSpPr>
        <p:spPr>
          <a:xfrm>
            <a:off x="6355080" y="3977640"/>
            <a:ext cx="4572000" cy="457200"/>
          </a:xfrm>
          <a:prstGeom prst="rect">
            <a:avLst/>
          </a:prstGeom>
          <a:noFill/>
          <a:ln/>
        </p:spPr>
        <p:txBody>
          <a:bodyPr wrap="square" lIns="635" tIns="635" rIns="635" bIns="635" rtlCol="0" anchor="ctr">
            <a:normAutofit/>
          </a:bodyPr>
          <a:lstStyle/>
          <a:p>
            <a:pPr rtl="1" algn="ctr" indent="0" marL="0">
              <a:buNone/>
            </a:pPr>
            <a:r>
              <a:rPr lang="en-US" sz="1200" dirty="0">
                <a:solidFill>
                  <a:srgbClr val="6B7280"/>
                </a:solidFill>
                <a:latin typeface="Noto Sans Arabic" pitchFamily="34" charset="0"/>
                <a:ea typeface="Noto Sans Arabic" pitchFamily="34" charset="-122"/>
                <a:cs typeface="Noto Sans Arabic" pitchFamily="34" charset="-120"/>
              </a:rPr>
              <a:t>هر پاسخ باید قابل ردیابی باشد؛ هیچ ادعای اصلی بدون Evidence trail وارد ارائه نمی‌شود.</a:t>
            </a:r>
            <a:endParaRPr lang="en-US" sz="1200" dirty="0"/>
          </a:p>
        </p:txBody>
      </p:sp>
      <p:sp>
        <p:nvSpPr>
          <p:cNvPr id="29" name="Text 27"/>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4</a:t>
            </a:r>
            <a:endParaRPr lang="en-US" sz="700" dirty="0"/>
          </a:p>
        </p:txBody>
      </p:sp>
      <p:sp>
        <p:nvSpPr>
          <p:cNvPr id="30" name="Text 28">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پایه شواهد؛ چرا فقط به یک منبع تکیه نکردیم؟</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اعتبار از مثلث‌سازی می‌آید، نه از بلندتر کردن یک جدول.</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Evidence</a:t>
            </a:r>
            <a:endParaRPr lang="en-US" sz="800" dirty="0"/>
          </a:p>
        </p:txBody>
      </p:sp>
      <p:sp>
        <p:nvSpPr>
          <p:cNvPr id="7" name="Shape 5"/>
          <p:cNvSpPr/>
          <p:nvPr/>
        </p:nvSpPr>
        <p:spPr>
          <a:xfrm>
            <a:off x="731520" y="1417320"/>
            <a:ext cx="2514600" cy="777240"/>
          </a:xfrm>
          <a:prstGeom prst="roundRect">
            <a:avLst>
              <a:gd name="adj" fmla="val 14118"/>
            </a:avLst>
          </a:prstGeom>
          <a:solidFill>
            <a:srgbClr val="FFF5F8"/>
          </a:solidFill>
          <a:ln w="12700">
            <a:solidFill>
              <a:srgbClr val="E5E7EB"/>
            </a:solidFill>
            <a:prstDash val="solid"/>
          </a:ln>
        </p:spPr>
      </p:sp>
      <p:sp>
        <p:nvSpPr>
          <p:cNvPr id="8" name="Text 6"/>
          <p:cNvSpPr/>
          <p:nvPr/>
        </p:nvSpPr>
        <p:spPr>
          <a:xfrm>
            <a:off x="868680" y="152704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Survey خریداران</a:t>
            </a:r>
            <a:endParaRPr lang="en-US" sz="1100" dirty="0"/>
          </a:p>
        </p:txBody>
      </p:sp>
      <p:sp>
        <p:nvSpPr>
          <p:cNvPr id="9" name="Text 7"/>
          <p:cNvSpPr/>
          <p:nvPr/>
        </p:nvSpPr>
        <p:spPr>
          <a:xfrm>
            <a:off x="868680" y="184708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رفتار، اعتماد، مقایسه</a:t>
            </a:r>
            <a:endParaRPr lang="en-US" sz="750" dirty="0"/>
          </a:p>
        </p:txBody>
      </p:sp>
      <p:sp>
        <p:nvSpPr>
          <p:cNvPr id="10" name="Shape 8"/>
          <p:cNvSpPr/>
          <p:nvPr/>
        </p:nvSpPr>
        <p:spPr>
          <a:xfrm>
            <a:off x="3520440" y="1417320"/>
            <a:ext cx="2514600" cy="777240"/>
          </a:xfrm>
          <a:prstGeom prst="roundRect">
            <a:avLst>
              <a:gd name="adj" fmla="val 14118"/>
            </a:avLst>
          </a:prstGeom>
          <a:solidFill>
            <a:srgbClr val="FFFFFF"/>
          </a:solidFill>
          <a:ln w="12700">
            <a:solidFill>
              <a:srgbClr val="E5E7EB"/>
            </a:solidFill>
            <a:prstDash val="solid"/>
          </a:ln>
        </p:spPr>
      </p:sp>
      <p:sp>
        <p:nvSpPr>
          <p:cNvPr id="11" name="Text 9"/>
          <p:cNvSpPr/>
          <p:nvPr/>
        </p:nvSpPr>
        <p:spPr>
          <a:xfrm>
            <a:off x="3657600" y="152704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Never/Lapsed</a:t>
            </a:r>
            <a:endParaRPr lang="en-US" sz="1100" dirty="0"/>
          </a:p>
        </p:txBody>
      </p:sp>
      <p:sp>
        <p:nvSpPr>
          <p:cNvPr id="12" name="Text 10"/>
          <p:cNvSpPr/>
          <p:nvPr/>
        </p:nvSpPr>
        <p:spPr>
          <a:xfrm>
            <a:off x="3657600" y="184708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مانع خرید و بازگشت</a:t>
            </a:r>
            <a:endParaRPr lang="en-US" sz="750" dirty="0"/>
          </a:p>
        </p:txBody>
      </p:sp>
      <p:sp>
        <p:nvSpPr>
          <p:cNvPr id="13" name="Shape 11"/>
          <p:cNvSpPr/>
          <p:nvPr/>
        </p:nvSpPr>
        <p:spPr>
          <a:xfrm>
            <a:off x="6309360" y="1417320"/>
            <a:ext cx="2514600" cy="777240"/>
          </a:xfrm>
          <a:prstGeom prst="roundRect">
            <a:avLst>
              <a:gd name="adj" fmla="val 14118"/>
            </a:avLst>
          </a:prstGeom>
          <a:solidFill>
            <a:srgbClr val="FFF5F8"/>
          </a:solidFill>
          <a:ln w="12700">
            <a:solidFill>
              <a:srgbClr val="E5E7EB"/>
            </a:solidFill>
            <a:prstDash val="solid"/>
          </a:ln>
        </p:spPr>
      </p:sp>
      <p:sp>
        <p:nvSpPr>
          <p:cNvPr id="14" name="Text 12"/>
          <p:cNvSpPr/>
          <p:nvPr/>
        </p:nvSpPr>
        <p:spPr>
          <a:xfrm>
            <a:off x="6446520" y="152704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مصاحبه عمیق</a:t>
            </a:r>
            <a:endParaRPr lang="en-US" sz="1100" dirty="0"/>
          </a:p>
        </p:txBody>
      </p:sp>
      <p:sp>
        <p:nvSpPr>
          <p:cNvPr id="15" name="Text 13"/>
          <p:cNvSpPr/>
          <p:nvPr/>
        </p:nvSpPr>
        <p:spPr>
          <a:xfrm>
            <a:off x="6446520" y="184708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چرایی و زمینه رفتار</a:t>
            </a:r>
            <a:endParaRPr lang="en-US" sz="750" dirty="0"/>
          </a:p>
        </p:txBody>
      </p:sp>
      <p:sp>
        <p:nvSpPr>
          <p:cNvPr id="16" name="Shape 14"/>
          <p:cNvSpPr/>
          <p:nvPr/>
        </p:nvSpPr>
        <p:spPr>
          <a:xfrm>
            <a:off x="9098280" y="1417320"/>
            <a:ext cx="2514600" cy="777240"/>
          </a:xfrm>
          <a:prstGeom prst="roundRect">
            <a:avLst>
              <a:gd name="adj" fmla="val 14118"/>
            </a:avLst>
          </a:prstGeom>
          <a:solidFill>
            <a:srgbClr val="FFFFFF"/>
          </a:solidFill>
          <a:ln w="12700">
            <a:solidFill>
              <a:srgbClr val="E5E7EB"/>
            </a:solidFill>
            <a:prstDash val="solid"/>
          </a:ln>
        </p:spPr>
      </p:sp>
      <p:sp>
        <p:nvSpPr>
          <p:cNvPr id="17" name="Text 15"/>
          <p:cNvSpPr/>
          <p:nvPr/>
        </p:nvSpPr>
        <p:spPr>
          <a:xfrm>
            <a:off x="9235440" y="152704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VOC/Comments</a:t>
            </a:r>
            <a:endParaRPr lang="en-US" sz="1100" dirty="0"/>
          </a:p>
        </p:txBody>
      </p:sp>
      <p:sp>
        <p:nvSpPr>
          <p:cNvPr id="18" name="Text 16"/>
          <p:cNvSpPr/>
          <p:nvPr/>
        </p:nvSpPr>
        <p:spPr>
          <a:xfrm>
            <a:off x="9235440" y="184708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الگوهای وسیع شکایت/رضایت</a:t>
            </a:r>
            <a:endParaRPr lang="en-US" sz="750" dirty="0"/>
          </a:p>
        </p:txBody>
      </p:sp>
      <p:sp>
        <p:nvSpPr>
          <p:cNvPr id="19" name="Shape 17"/>
          <p:cNvSpPr/>
          <p:nvPr/>
        </p:nvSpPr>
        <p:spPr>
          <a:xfrm>
            <a:off x="731520" y="2514600"/>
            <a:ext cx="2514600" cy="777240"/>
          </a:xfrm>
          <a:prstGeom prst="roundRect">
            <a:avLst>
              <a:gd name="adj" fmla="val 14118"/>
            </a:avLst>
          </a:prstGeom>
          <a:solidFill>
            <a:srgbClr val="FFF5F8"/>
          </a:solidFill>
          <a:ln w="12700">
            <a:solidFill>
              <a:srgbClr val="E5E7EB"/>
            </a:solidFill>
            <a:prstDash val="solid"/>
          </a:ln>
        </p:spPr>
      </p:sp>
      <p:sp>
        <p:nvSpPr>
          <p:cNvPr id="20" name="Text 18"/>
          <p:cNvSpPr/>
          <p:nvPr/>
        </p:nvSpPr>
        <p:spPr>
          <a:xfrm>
            <a:off x="868680" y="262432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UX Review</a:t>
            </a:r>
            <a:endParaRPr lang="en-US" sz="1100" dirty="0"/>
          </a:p>
        </p:txBody>
      </p:sp>
      <p:sp>
        <p:nvSpPr>
          <p:cNvPr id="21" name="Text 19"/>
          <p:cNvSpPr/>
          <p:nvPr/>
        </p:nvSpPr>
        <p:spPr>
          <a:xfrm>
            <a:off x="868680" y="294436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فرضیه اصطکاک در Flow</a:t>
            </a:r>
            <a:endParaRPr lang="en-US" sz="750" dirty="0"/>
          </a:p>
        </p:txBody>
      </p:sp>
      <p:sp>
        <p:nvSpPr>
          <p:cNvPr id="22" name="Shape 20"/>
          <p:cNvSpPr/>
          <p:nvPr/>
        </p:nvSpPr>
        <p:spPr>
          <a:xfrm>
            <a:off x="3520440" y="2514600"/>
            <a:ext cx="2514600" cy="777240"/>
          </a:xfrm>
          <a:prstGeom prst="roundRect">
            <a:avLst>
              <a:gd name="adj" fmla="val 14118"/>
            </a:avLst>
          </a:prstGeom>
          <a:solidFill>
            <a:srgbClr val="FFFFFF"/>
          </a:solidFill>
          <a:ln w="12700">
            <a:solidFill>
              <a:srgbClr val="E5E7EB"/>
            </a:solidFill>
            <a:prstDash val="solid"/>
          </a:ln>
        </p:spPr>
      </p:sp>
      <p:sp>
        <p:nvSpPr>
          <p:cNvPr id="23" name="Text 21"/>
          <p:cNvSpPr/>
          <p:nvPr/>
        </p:nvSpPr>
        <p:spPr>
          <a:xfrm>
            <a:off x="3657600" y="262432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گزارش رسمی</a:t>
            </a:r>
            <a:endParaRPr lang="en-US" sz="1100" dirty="0"/>
          </a:p>
        </p:txBody>
      </p:sp>
      <p:sp>
        <p:nvSpPr>
          <p:cNvPr id="24" name="Text 22"/>
          <p:cNvSpPr/>
          <p:nvPr/>
        </p:nvSpPr>
        <p:spPr>
          <a:xfrm>
            <a:off x="3657600" y="294436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مقیاس، رشد، عملیات</a:t>
            </a:r>
            <a:endParaRPr lang="en-US" sz="750" dirty="0"/>
          </a:p>
        </p:txBody>
      </p:sp>
      <p:sp>
        <p:nvSpPr>
          <p:cNvPr id="25" name="Shape 23"/>
          <p:cNvSpPr/>
          <p:nvPr/>
        </p:nvSpPr>
        <p:spPr>
          <a:xfrm>
            <a:off x="6309360" y="2514600"/>
            <a:ext cx="2514600" cy="777240"/>
          </a:xfrm>
          <a:prstGeom prst="roundRect">
            <a:avLst>
              <a:gd name="adj" fmla="val 14118"/>
            </a:avLst>
          </a:prstGeom>
          <a:solidFill>
            <a:srgbClr val="FFF5F8"/>
          </a:solidFill>
          <a:ln w="12700">
            <a:solidFill>
              <a:srgbClr val="E5E7EB"/>
            </a:solidFill>
            <a:prstDash val="solid"/>
          </a:ln>
        </p:spPr>
      </p:sp>
      <p:sp>
        <p:nvSpPr>
          <p:cNvPr id="26" name="Text 24"/>
          <p:cNvSpPr/>
          <p:nvPr/>
        </p:nvSpPr>
        <p:spPr>
          <a:xfrm>
            <a:off x="6446520" y="2624328"/>
            <a:ext cx="2240280" cy="210312"/>
          </a:xfrm>
          <a:prstGeom prst="rect">
            <a:avLst/>
          </a:prstGeom>
          <a:noFill/>
          <a:ln/>
        </p:spPr>
        <p:txBody>
          <a:bodyPr wrap="square" lIns="635" tIns="635" rIns="635" bIns="635" rtlCol="0" anchor="ctr">
            <a:normAutofit/>
          </a:bodyPr>
          <a:lstStyle/>
          <a:p>
            <a:pPr rtl="1" algn="r" indent="0" marL="0">
              <a:buNone/>
            </a:pPr>
            <a:r>
              <a:rPr lang="en-US" sz="1100" b="1" dirty="0">
                <a:solidFill>
                  <a:srgbClr val="14213D"/>
                </a:solidFill>
                <a:latin typeface="Noto Sans Arabic" pitchFamily="34" charset="0"/>
                <a:ea typeface="Noto Sans Arabic" pitchFamily="34" charset="-122"/>
                <a:cs typeface="Noto Sans Arabic" pitchFamily="34" charset="-120"/>
              </a:rPr>
              <a:t>Benchmark</a:t>
            </a:r>
            <a:endParaRPr lang="en-US" sz="1100" dirty="0"/>
          </a:p>
        </p:txBody>
      </p:sp>
      <p:sp>
        <p:nvSpPr>
          <p:cNvPr id="27" name="Text 25"/>
          <p:cNvSpPr/>
          <p:nvPr/>
        </p:nvSpPr>
        <p:spPr>
          <a:xfrm>
            <a:off x="6446520" y="2944368"/>
            <a:ext cx="2240280" cy="155448"/>
          </a:xfrm>
          <a:prstGeom prst="rect">
            <a:avLst/>
          </a:prstGeom>
          <a:noFill/>
          <a:ln/>
        </p:spPr>
        <p:txBody>
          <a:bodyPr wrap="square" lIns="635" tIns="635" rIns="635" bIns="635" rtlCol="0" anchor="ctr">
            <a:normAutofit/>
          </a:bodyPr>
          <a:lstStyle/>
          <a:p>
            <a:pPr rtl="1" algn="r" indent="0" marL="0">
              <a:buNone/>
            </a:pPr>
            <a:r>
              <a:rPr lang="en-US" sz="750" dirty="0">
                <a:solidFill>
                  <a:srgbClr val="6B7280"/>
                </a:solidFill>
                <a:latin typeface="Noto Sans Arabic" pitchFamily="34" charset="0"/>
                <a:ea typeface="Noto Sans Arabic" pitchFamily="34" charset="-122"/>
                <a:cs typeface="Noto Sans Arabic" pitchFamily="34" charset="-120"/>
              </a:rPr>
              <a:t>مکانیزم‌های بازار</a:t>
            </a:r>
            <a:endParaRPr lang="en-US" sz="750" dirty="0"/>
          </a:p>
        </p:txBody>
      </p:sp>
      <p:sp>
        <p:nvSpPr>
          <p:cNvPr id="28" name="Shape 26"/>
          <p:cNvSpPr/>
          <p:nvPr/>
        </p:nvSpPr>
        <p:spPr>
          <a:xfrm>
            <a:off x="1005840" y="4069080"/>
            <a:ext cx="10149840" cy="1371600"/>
          </a:xfrm>
          <a:prstGeom prst="roundRect">
            <a:avLst>
              <a:gd name="adj" fmla="val 8000"/>
            </a:avLst>
          </a:prstGeom>
          <a:solidFill>
            <a:srgbClr val="FFFFFF"/>
          </a:solidFill>
          <a:ln w="12700">
            <a:solidFill>
              <a:srgbClr val="E5E7EB"/>
            </a:solidFill>
            <a:prstDash val="solid"/>
          </a:ln>
        </p:spPr>
      </p:sp>
      <p:sp>
        <p:nvSpPr>
          <p:cNvPr id="29" name="Text 27"/>
          <p:cNvSpPr/>
          <p:nvPr/>
        </p:nvSpPr>
        <p:spPr>
          <a:xfrm>
            <a:off x="1325880" y="4251960"/>
            <a:ext cx="9509760" cy="256032"/>
          </a:xfrm>
          <a:prstGeom prst="rect">
            <a:avLst/>
          </a:prstGeom>
          <a:noFill/>
          <a:ln/>
        </p:spPr>
        <p:txBody>
          <a:bodyPr wrap="square" lIns="635" tIns="635" rIns="635" bIns="635" rtlCol="0" anchor="ctr">
            <a:normAutofit/>
          </a:bodyPr>
          <a:lstStyle/>
          <a:p>
            <a:pPr rtl="1" algn="ctr" indent="0" marL="0">
              <a:buNone/>
            </a:pPr>
            <a:r>
              <a:rPr lang="en-US" sz="1500" b="1" dirty="0">
                <a:solidFill>
                  <a:srgbClr val="14213D"/>
                </a:solidFill>
                <a:latin typeface="Noto Sans Arabic" pitchFamily="34" charset="0"/>
                <a:ea typeface="Noto Sans Arabic" pitchFamily="34" charset="-122"/>
                <a:cs typeface="Noto Sans Arabic" pitchFamily="34" charset="-120"/>
              </a:rPr>
              <a:t>قانون مثلث‌سازی</a:t>
            </a:r>
            <a:endParaRPr lang="en-US" sz="1500" dirty="0"/>
          </a:p>
        </p:txBody>
      </p:sp>
      <p:sp>
        <p:nvSpPr>
          <p:cNvPr id="30" name="Text 28"/>
          <p:cNvSpPr/>
          <p:nvPr/>
        </p:nvSpPr>
        <p:spPr>
          <a:xfrm>
            <a:off x="1325880" y="4709160"/>
            <a:ext cx="9509760" cy="329184"/>
          </a:xfrm>
          <a:prstGeom prst="rect">
            <a:avLst/>
          </a:prstGeom>
          <a:noFill/>
          <a:ln/>
        </p:spPr>
        <p:txBody>
          <a:bodyPr wrap="square" lIns="635" tIns="635" rIns="635" bIns="635" rtlCol="0" anchor="ctr">
            <a:normAutofit/>
          </a:bodyPr>
          <a:lstStyle/>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یک مسئله زمانی قوی می‌شود که در چند خانواده مستقل شواهد تکرار شود. چند نمودار از یک دیتاست، چند منبع مستقل نیست.</a:t>
            </a:r>
            <a:endParaRPr lang="en-US" sz="1400" dirty="0"/>
          </a:p>
        </p:txBody>
      </p:sp>
      <p:sp>
        <p:nvSpPr>
          <p:cNvPr id="31" name="Text 29"/>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5</a:t>
            </a:r>
            <a:endParaRPr lang="en-US" sz="700" dirty="0"/>
          </a:p>
        </p:txBody>
      </p:sp>
      <p:sp>
        <p:nvSpPr>
          <p:cNvPr id="32" name="Text 30">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جریان فعلی کاربر؛ تراکنش هست، اطمینان کامل نیست</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Q1 نشان داد خانومی Flow خرید دارد؛ فرصت در میانه ارزیابی و تصمیم است.</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Current Flow</a:t>
            </a:r>
            <a:endParaRPr lang="en-US" sz="800" dirty="0"/>
          </a:p>
        </p:txBody>
      </p:sp>
      <p:sp>
        <p:nvSpPr>
          <p:cNvPr id="7" name="Shape 5"/>
          <p:cNvSpPr/>
          <p:nvPr/>
        </p:nvSpPr>
        <p:spPr>
          <a:xfrm>
            <a:off x="594360" y="2011680"/>
            <a:ext cx="1170432" cy="594360"/>
          </a:xfrm>
          <a:prstGeom prst="roundRect">
            <a:avLst>
              <a:gd name="adj" fmla="val 18462"/>
            </a:avLst>
          </a:prstGeom>
          <a:solidFill>
            <a:srgbClr val="FFFFFF"/>
          </a:solidFill>
          <a:ln w="12700">
            <a:solidFill>
              <a:srgbClr val="E5E7EB"/>
            </a:solidFill>
            <a:prstDash val="solid"/>
          </a:ln>
        </p:spPr>
      </p:sp>
      <p:sp>
        <p:nvSpPr>
          <p:cNvPr id="8" name="Text 6"/>
          <p:cNvSpPr/>
          <p:nvPr/>
        </p:nvSpPr>
        <p:spPr>
          <a:xfrm>
            <a:off x="64008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نیاز/تحریک</a:t>
            </a:r>
            <a:endParaRPr lang="en-US" sz="850" dirty="0"/>
          </a:p>
        </p:txBody>
      </p:sp>
      <p:sp>
        <p:nvSpPr>
          <p:cNvPr id="9" name="Shape 7"/>
          <p:cNvSpPr/>
          <p:nvPr/>
        </p:nvSpPr>
        <p:spPr>
          <a:xfrm>
            <a:off x="1783080" y="2313432"/>
            <a:ext cx="201168" cy="0"/>
          </a:xfrm>
          <a:prstGeom prst="line">
            <a:avLst/>
          </a:prstGeom>
          <a:noFill/>
          <a:ln w="22860">
            <a:solidFill>
              <a:srgbClr val="6B7280"/>
            </a:solidFill>
            <a:prstDash val="solid"/>
            <a:headEnd type="none"/>
            <a:tailEnd type="triangle"/>
          </a:ln>
        </p:spPr>
      </p:sp>
      <p:sp>
        <p:nvSpPr>
          <p:cNvPr id="10" name="Shape 8"/>
          <p:cNvSpPr/>
          <p:nvPr/>
        </p:nvSpPr>
        <p:spPr>
          <a:xfrm>
            <a:off x="2011680" y="2011680"/>
            <a:ext cx="1170432" cy="594360"/>
          </a:xfrm>
          <a:prstGeom prst="roundRect">
            <a:avLst>
              <a:gd name="adj" fmla="val 18462"/>
            </a:avLst>
          </a:prstGeom>
          <a:solidFill>
            <a:srgbClr val="FFFFFF"/>
          </a:solidFill>
          <a:ln w="12700">
            <a:solidFill>
              <a:srgbClr val="E5E7EB"/>
            </a:solidFill>
            <a:prstDash val="solid"/>
          </a:ln>
        </p:spPr>
      </p:sp>
      <p:sp>
        <p:nvSpPr>
          <p:cNvPr id="11" name="Text 9"/>
          <p:cNvSpPr/>
          <p:nvPr/>
        </p:nvSpPr>
        <p:spPr>
          <a:xfrm>
            <a:off x="205740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جستجو/دسته‌بندی</a:t>
            </a:r>
            <a:endParaRPr lang="en-US" sz="850" dirty="0"/>
          </a:p>
        </p:txBody>
      </p:sp>
      <p:sp>
        <p:nvSpPr>
          <p:cNvPr id="12" name="Shape 10"/>
          <p:cNvSpPr/>
          <p:nvPr/>
        </p:nvSpPr>
        <p:spPr>
          <a:xfrm>
            <a:off x="3200400" y="2313432"/>
            <a:ext cx="201168" cy="0"/>
          </a:xfrm>
          <a:prstGeom prst="line">
            <a:avLst/>
          </a:prstGeom>
          <a:noFill/>
          <a:ln w="22860">
            <a:solidFill>
              <a:srgbClr val="6B7280"/>
            </a:solidFill>
            <a:prstDash val="solid"/>
            <a:headEnd type="none"/>
            <a:tailEnd type="triangle"/>
          </a:ln>
        </p:spPr>
      </p:sp>
      <p:sp>
        <p:nvSpPr>
          <p:cNvPr id="13" name="Shape 11"/>
          <p:cNvSpPr/>
          <p:nvPr/>
        </p:nvSpPr>
        <p:spPr>
          <a:xfrm>
            <a:off x="3429000" y="2011680"/>
            <a:ext cx="1170432" cy="594360"/>
          </a:xfrm>
          <a:prstGeom prst="roundRect">
            <a:avLst>
              <a:gd name="adj" fmla="val 18462"/>
            </a:avLst>
          </a:prstGeom>
          <a:solidFill>
            <a:srgbClr val="FFFFFF"/>
          </a:solidFill>
          <a:ln w="12700">
            <a:solidFill>
              <a:srgbClr val="E5E7EB"/>
            </a:solidFill>
            <a:prstDash val="solid"/>
          </a:ln>
        </p:spPr>
      </p:sp>
      <p:sp>
        <p:nvSpPr>
          <p:cNvPr id="14" name="Text 12"/>
          <p:cNvSpPr/>
          <p:nvPr/>
        </p:nvSpPr>
        <p:spPr>
          <a:xfrm>
            <a:off x="347472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ارزیابی محصول</a:t>
            </a:r>
            <a:endParaRPr lang="en-US" sz="850" dirty="0"/>
          </a:p>
        </p:txBody>
      </p:sp>
      <p:sp>
        <p:nvSpPr>
          <p:cNvPr id="15" name="Shape 13"/>
          <p:cNvSpPr/>
          <p:nvPr/>
        </p:nvSpPr>
        <p:spPr>
          <a:xfrm>
            <a:off x="4617720" y="2313432"/>
            <a:ext cx="201168" cy="0"/>
          </a:xfrm>
          <a:prstGeom prst="line">
            <a:avLst/>
          </a:prstGeom>
          <a:noFill/>
          <a:ln w="22860">
            <a:solidFill>
              <a:srgbClr val="6B7280"/>
            </a:solidFill>
            <a:prstDash val="solid"/>
            <a:headEnd type="none"/>
            <a:tailEnd type="triangle"/>
          </a:ln>
        </p:spPr>
      </p:sp>
      <p:sp>
        <p:nvSpPr>
          <p:cNvPr id="16" name="Shape 14"/>
          <p:cNvSpPr/>
          <p:nvPr/>
        </p:nvSpPr>
        <p:spPr>
          <a:xfrm>
            <a:off x="4846320" y="2011680"/>
            <a:ext cx="1170432" cy="594360"/>
          </a:xfrm>
          <a:prstGeom prst="roundRect">
            <a:avLst>
              <a:gd name="adj" fmla="val 18462"/>
            </a:avLst>
          </a:prstGeom>
          <a:solidFill>
            <a:srgbClr val="FCE4EC"/>
          </a:solidFill>
          <a:ln w="12700">
            <a:solidFill>
              <a:srgbClr val="E91E63"/>
            </a:solidFill>
            <a:prstDash val="solid"/>
          </a:ln>
        </p:spPr>
      </p:sp>
      <p:sp>
        <p:nvSpPr>
          <p:cNvPr id="17" name="Text 15"/>
          <p:cNvSpPr/>
          <p:nvPr/>
        </p:nvSpPr>
        <p:spPr>
          <a:xfrm>
            <a:off x="4892040" y="2176272"/>
            <a:ext cx="1078992" cy="146304"/>
          </a:xfrm>
          <a:prstGeom prst="rect">
            <a:avLst/>
          </a:prstGeom>
          <a:noFill/>
          <a:ln/>
        </p:spPr>
        <p:txBody>
          <a:bodyPr wrap="square" lIns="635" tIns="635" rIns="635" bIns="635" rtlCol="0" anchor="ctr">
            <a:normAutofit/>
          </a:bodyPr>
          <a:lstStyle/>
          <a:p>
            <a:pPr rtl="1" algn="ctr" indent="0" marL="0">
              <a:buNone/>
            </a:pPr>
            <a:r>
              <a:rPr lang="en-US" sz="850" b="1" dirty="0">
                <a:solidFill>
                  <a:srgbClr val="E91E63"/>
                </a:solidFill>
                <a:latin typeface="Noto Sans Arabic" pitchFamily="34" charset="0"/>
                <a:ea typeface="Noto Sans Arabic" pitchFamily="34" charset="-122"/>
                <a:cs typeface="Noto Sans Arabic" pitchFamily="34" charset="-120"/>
              </a:rPr>
              <a:t>ساخت اطمینان</a:t>
            </a:r>
            <a:endParaRPr lang="en-US" sz="850" dirty="0"/>
          </a:p>
        </p:txBody>
      </p:sp>
      <p:sp>
        <p:nvSpPr>
          <p:cNvPr id="18" name="Shape 16"/>
          <p:cNvSpPr/>
          <p:nvPr/>
        </p:nvSpPr>
        <p:spPr>
          <a:xfrm>
            <a:off x="6035040" y="2313432"/>
            <a:ext cx="201168" cy="0"/>
          </a:xfrm>
          <a:prstGeom prst="line">
            <a:avLst/>
          </a:prstGeom>
          <a:noFill/>
          <a:ln w="22860">
            <a:solidFill>
              <a:srgbClr val="6B7280"/>
            </a:solidFill>
            <a:prstDash val="solid"/>
            <a:headEnd type="none"/>
            <a:tailEnd type="triangle"/>
          </a:ln>
        </p:spPr>
      </p:sp>
      <p:sp>
        <p:nvSpPr>
          <p:cNvPr id="19" name="Shape 17"/>
          <p:cNvSpPr/>
          <p:nvPr/>
        </p:nvSpPr>
        <p:spPr>
          <a:xfrm>
            <a:off x="6263640" y="2011680"/>
            <a:ext cx="1170432" cy="594360"/>
          </a:xfrm>
          <a:prstGeom prst="roundRect">
            <a:avLst>
              <a:gd name="adj" fmla="val 18462"/>
            </a:avLst>
          </a:prstGeom>
          <a:solidFill>
            <a:srgbClr val="FFFFFF"/>
          </a:solidFill>
          <a:ln w="12700">
            <a:solidFill>
              <a:srgbClr val="E5E7EB"/>
            </a:solidFill>
            <a:prstDash val="solid"/>
          </a:ln>
        </p:spPr>
      </p:sp>
      <p:sp>
        <p:nvSpPr>
          <p:cNvPr id="20" name="Text 18"/>
          <p:cNvSpPr/>
          <p:nvPr/>
        </p:nvSpPr>
        <p:spPr>
          <a:xfrm>
            <a:off x="630936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تصمیم</a:t>
            </a:r>
            <a:endParaRPr lang="en-US" sz="850" dirty="0"/>
          </a:p>
        </p:txBody>
      </p:sp>
      <p:sp>
        <p:nvSpPr>
          <p:cNvPr id="21" name="Shape 19"/>
          <p:cNvSpPr/>
          <p:nvPr/>
        </p:nvSpPr>
        <p:spPr>
          <a:xfrm>
            <a:off x="7452360" y="2313432"/>
            <a:ext cx="201168" cy="0"/>
          </a:xfrm>
          <a:prstGeom prst="line">
            <a:avLst/>
          </a:prstGeom>
          <a:noFill/>
          <a:ln w="22860">
            <a:solidFill>
              <a:srgbClr val="6B7280"/>
            </a:solidFill>
            <a:prstDash val="solid"/>
            <a:headEnd type="none"/>
            <a:tailEnd type="triangle"/>
          </a:ln>
        </p:spPr>
      </p:sp>
      <p:sp>
        <p:nvSpPr>
          <p:cNvPr id="22" name="Shape 20"/>
          <p:cNvSpPr/>
          <p:nvPr/>
        </p:nvSpPr>
        <p:spPr>
          <a:xfrm>
            <a:off x="7680960" y="2011680"/>
            <a:ext cx="1170432" cy="594360"/>
          </a:xfrm>
          <a:prstGeom prst="roundRect">
            <a:avLst>
              <a:gd name="adj" fmla="val 18462"/>
            </a:avLst>
          </a:prstGeom>
          <a:solidFill>
            <a:srgbClr val="FFFFFF"/>
          </a:solidFill>
          <a:ln w="12700">
            <a:solidFill>
              <a:srgbClr val="E5E7EB"/>
            </a:solidFill>
            <a:prstDash val="solid"/>
          </a:ln>
        </p:spPr>
      </p:sp>
      <p:sp>
        <p:nvSpPr>
          <p:cNvPr id="23" name="Text 21"/>
          <p:cNvSpPr/>
          <p:nvPr/>
        </p:nvSpPr>
        <p:spPr>
          <a:xfrm>
            <a:off x="772668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سبد/پرداخت</a:t>
            </a:r>
            <a:endParaRPr lang="en-US" sz="850" dirty="0"/>
          </a:p>
        </p:txBody>
      </p:sp>
      <p:sp>
        <p:nvSpPr>
          <p:cNvPr id="24" name="Shape 22"/>
          <p:cNvSpPr/>
          <p:nvPr/>
        </p:nvSpPr>
        <p:spPr>
          <a:xfrm>
            <a:off x="8869680" y="2313432"/>
            <a:ext cx="201168" cy="0"/>
          </a:xfrm>
          <a:prstGeom prst="line">
            <a:avLst/>
          </a:prstGeom>
          <a:noFill/>
          <a:ln w="22860">
            <a:solidFill>
              <a:srgbClr val="6B7280"/>
            </a:solidFill>
            <a:prstDash val="solid"/>
            <a:headEnd type="none"/>
            <a:tailEnd type="triangle"/>
          </a:ln>
        </p:spPr>
      </p:sp>
      <p:sp>
        <p:nvSpPr>
          <p:cNvPr id="25" name="Shape 23"/>
          <p:cNvSpPr/>
          <p:nvPr/>
        </p:nvSpPr>
        <p:spPr>
          <a:xfrm>
            <a:off x="9098280" y="2011680"/>
            <a:ext cx="1170432" cy="594360"/>
          </a:xfrm>
          <a:prstGeom prst="roundRect">
            <a:avLst>
              <a:gd name="adj" fmla="val 18462"/>
            </a:avLst>
          </a:prstGeom>
          <a:solidFill>
            <a:srgbClr val="FFFFFF"/>
          </a:solidFill>
          <a:ln w="12700">
            <a:solidFill>
              <a:srgbClr val="E5E7EB"/>
            </a:solidFill>
            <a:prstDash val="solid"/>
          </a:ln>
        </p:spPr>
      </p:sp>
      <p:sp>
        <p:nvSpPr>
          <p:cNvPr id="26" name="Text 24"/>
          <p:cNvSpPr/>
          <p:nvPr/>
        </p:nvSpPr>
        <p:spPr>
          <a:xfrm>
            <a:off x="914400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تحویل</a:t>
            </a:r>
            <a:endParaRPr lang="en-US" sz="850" dirty="0"/>
          </a:p>
        </p:txBody>
      </p:sp>
      <p:sp>
        <p:nvSpPr>
          <p:cNvPr id="27" name="Shape 25"/>
          <p:cNvSpPr/>
          <p:nvPr/>
        </p:nvSpPr>
        <p:spPr>
          <a:xfrm>
            <a:off x="10287000" y="2313432"/>
            <a:ext cx="201168" cy="0"/>
          </a:xfrm>
          <a:prstGeom prst="line">
            <a:avLst/>
          </a:prstGeom>
          <a:noFill/>
          <a:ln w="22860">
            <a:solidFill>
              <a:srgbClr val="6B7280"/>
            </a:solidFill>
            <a:prstDash val="solid"/>
            <a:headEnd type="none"/>
            <a:tailEnd type="triangle"/>
          </a:ln>
        </p:spPr>
      </p:sp>
      <p:sp>
        <p:nvSpPr>
          <p:cNvPr id="28" name="Shape 26"/>
          <p:cNvSpPr/>
          <p:nvPr/>
        </p:nvSpPr>
        <p:spPr>
          <a:xfrm>
            <a:off x="10515600" y="2011680"/>
            <a:ext cx="1170432" cy="594360"/>
          </a:xfrm>
          <a:prstGeom prst="roundRect">
            <a:avLst>
              <a:gd name="adj" fmla="val 18462"/>
            </a:avLst>
          </a:prstGeom>
          <a:solidFill>
            <a:srgbClr val="FFFFFF"/>
          </a:solidFill>
          <a:ln w="12700">
            <a:solidFill>
              <a:srgbClr val="E5E7EB"/>
            </a:solidFill>
            <a:prstDash val="solid"/>
          </a:ln>
        </p:spPr>
      </p:sp>
      <p:sp>
        <p:nvSpPr>
          <p:cNvPr id="29" name="Text 27"/>
          <p:cNvSpPr/>
          <p:nvPr/>
        </p:nvSpPr>
        <p:spPr>
          <a:xfrm>
            <a:off x="10561320" y="2176272"/>
            <a:ext cx="1078992" cy="146304"/>
          </a:xfrm>
          <a:prstGeom prst="rect">
            <a:avLst/>
          </a:prstGeom>
          <a:noFill/>
          <a:ln/>
        </p:spPr>
        <p:txBody>
          <a:bodyPr wrap="square" lIns="635" tIns="635" rIns="635" bIns="635" rtlCol="0" anchor="ctr">
            <a:normAutofit/>
          </a:bodyPr>
          <a:lstStyle/>
          <a:p>
            <a:pPr rtl="1" algn="ctr" indent="0" marL="0">
              <a:buNone/>
            </a:pPr>
            <a:r>
              <a:rPr lang="en-US" sz="850" dirty="0">
                <a:solidFill>
                  <a:srgbClr val="1F2937"/>
                </a:solidFill>
                <a:latin typeface="Noto Sans Arabic" pitchFamily="34" charset="0"/>
                <a:ea typeface="Noto Sans Arabic" pitchFamily="34" charset="-122"/>
                <a:cs typeface="Noto Sans Arabic" pitchFamily="34" charset="-120"/>
              </a:rPr>
              <a:t>بازخرید/خروج</a:t>
            </a:r>
            <a:endParaRPr lang="en-US" sz="850" dirty="0"/>
          </a:p>
        </p:txBody>
      </p:sp>
      <p:sp>
        <p:nvSpPr>
          <p:cNvPr id="30" name="Shape 28"/>
          <p:cNvSpPr/>
          <p:nvPr/>
        </p:nvSpPr>
        <p:spPr>
          <a:xfrm>
            <a:off x="1188720" y="3657600"/>
            <a:ext cx="4480560" cy="1417320"/>
          </a:xfrm>
          <a:prstGeom prst="roundRect">
            <a:avLst>
              <a:gd name="adj" fmla="val 7742"/>
            </a:avLst>
          </a:prstGeom>
          <a:solidFill>
            <a:srgbClr val="FFFFFF"/>
          </a:solidFill>
          <a:ln w="12700">
            <a:solidFill>
              <a:srgbClr val="E5E7EB"/>
            </a:solidFill>
            <a:prstDash val="solid"/>
          </a:ln>
        </p:spPr>
      </p:sp>
      <p:sp>
        <p:nvSpPr>
          <p:cNvPr id="31" name="Text 29"/>
          <p:cNvSpPr/>
          <p:nvPr/>
        </p:nvSpPr>
        <p:spPr>
          <a:xfrm>
            <a:off x="1463040" y="3858768"/>
            <a:ext cx="393192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Flowهای مشاهده‌شده</a:t>
            </a:r>
            <a:endParaRPr lang="en-US" sz="1300" dirty="0"/>
          </a:p>
        </p:txBody>
      </p:sp>
      <p:sp>
        <p:nvSpPr>
          <p:cNvPr id="32" name="Text 30"/>
          <p:cNvSpPr/>
          <p:nvPr/>
        </p:nvSpPr>
        <p:spPr>
          <a:xfrm>
            <a:off x="1463040" y="4279392"/>
            <a:ext cx="3931920" cy="502920"/>
          </a:xfrm>
          <a:prstGeom prst="rect">
            <a:avLst/>
          </a:prstGeom>
          <a:noFill/>
          <a:ln/>
        </p:spPr>
        <p:txBody>
          <a:bodyPr wrap="square" lIns="635" tIns="635" rIns="635" bIns="635" rtlCol="0" anchor="ctr">
            <a:normAutofit/>
          </a:bodyPr>
          <a:lstStyle/>
          <a:p>
            <a:pPr rtl="1" algn="r" indent="0" marL="0">
              <a:buNone/>
            </a:pPr>
            <a:r>
              <a:rPr lang="en-US" sz="1000" dirty="0">
                <a:solidFill>
                  <a:srgbClr val="1F2937"/>
                </a:solidFill>
                <a:latin typeface="Noto Sans Arabic" pitchFamily="34" charset="0"/>
                <a:ea typeface="Noto Sans Arabic" pitchFamily="34" charset="-122"/>
                <a:cs typeface="Noto Sans Arabic" pitchFamily="34" charset="-120"/>
              </a:rPr>
              <a:t>محصول مشخص → Search → PDP → Checkout</a:t>
            </a:r>
            <a:endParaRPr lang="en-US" sz="1000" dirty="0"/>
          </a:p>
          <a:p>
            <a:pPr rtl="1" algn="r" indent="0" marL="0">
              <a:buNone/>
            </a:pPr>
            <a:r>
              <a:rPr lang="en-US" sz="1000" dirty="0">
                <a:solidFill>
                  <a:srgbClr val="1F2937"/>
                </a:solidFill>
                <a:latin typeface="Noto Sans Arabic" pitchFamily="34" charset="0"/>
                <a:ea typeface="Noto Sans Arabic" pitchFamily="34" charset="-122"/>
                <a:cs typeface="Noto Sans Arabic" pitchFamily="34" charset="-120"/>
              </a:rPr>
              <a:t>نیاز بدون SKU → Browse/Compare → تصمیم</a:t>
            </a:r>
            <a:endParaRPr lang="en-US" sz="1000" dirty="0"/>
          </a:p>
          <a:p>
            <a:pPr rtl="1" algn="r" indent="0" marL="0">
              <a:buNone/>
            </a:pPr>
            <a:r>
              <a:rPr lang="en-US" sz="1000" dirty="0">
                <a:solidFill>
                  <a:srgbClr val="1F2937"/>
                </a:solidFill>
                <a:latin typeface="Noto Sans Arabic" pitchFamily="34" charset="0"/>
                <a:ea typeface="Noto Sans Arabic" pitchFamily="34" charset="-122"/>
                <a:cs typeface="Noto Sans Arabic" pitchFamily="34" charset="-120"/>
              </a:rPr>
              <a:t>کمک‌خواهی → Chatbot/Support</a:t>
            </a:r>
            <a:endParaRPr lang="en-US" sz="1000" dirty="0"/>
          </a:p>
        </p:txBody>
      </p:sp>
      <p:sp>
        <p:nvSpPr>
          <p:cNvPr id="33" name="Shape 31"/>
          <p:cNvSpPr/>
          <p:nvPr/>
        </p:nvSpPr>
        <p:spPr>
          <a:xfrm>
            <a:off x="6400800" y="3657600"/>
            <a:ext cx="4480560" cy="1417320"/>
          </a:xfrm>
          <a:prstGeom prst="roundRect">
            <a:avLst>
              <a:gd name="adj" fmla="val 7742"/>
            </a:avLst>
          </a:prstGeom>
          <a:solidFill>
            <a:srgbClr val="FFF5F8"/>
          </a:solidFill>
          <a:ln w="12700">
            <a:solidFill>
              <a:srgbClr val="FCE4EC"/>
            </a:solidFill>
            <a:prstDash val="solid"/>
          </a:ln>
        </p:spPr>
      </p:sp>
      <p:sp>
        <p:nvSpPr>
          <p:cNvPr id="34" name="Text 32"/>
          <p:cNvSpPr/>
          <p:nvPr/>
        </p:nvSpPr>
        <p:spPr>
          <a:xfrm>
            <a:off x="6675120" y="3858768"/>
            <a:ext cx="393192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مرز استنتاج</a:t>
            </a:r>
            <a:endParaRPr lang="en-US" sz="1300" dirty="0"/>
          </a:p>
        </p:txBody>
      </p:sp>
      <p:sp>
        <p:nvSpPr>
          <p:cNvPr id="35" name="Text 33"/>
          <p:cNvSpPr/>
          <p:nvPr/>
        </p:nvSpPr>
        <p:spPr>
          <a:xfrm>
            <a:off x="6675120" y="4315968"/>
            <a:ext cx="3931920" cy="393192"/>
          </a:xfrm>
          <a:prstGeom prst="rect">
            <a:avLst/>
          </a:prstGeom>
          <a:noFill/>
          <a:ln/>
        </p:spPr>
        <p:txBody>
          <a:bodyPr wrap="square" lIns="635" tIns="635" rIns="635" bIns="635" rtlCol="0" anchor="ctr">
            <a:normAutofit/>
          </a:bodyPr>
          <a:lstStyle/>
          <a:p>
            <a:pPr rtl="1" algn="ctr" indent="0" marL="0">
              <a:buNone/>
            </a:pPr>
            <a:r>
              <a:rPr lang="en-US" sz="1100" b="1" dirty="0">
                <a:solidFill>
                  <a:srgbClr val="C2185B"/>
                </a:solidFill>
                <a:latin typeface="Noto Sans Arabic" pitchFamily="34" charset="0"/>
                <a:ea typeface="Noto Sans Arabic" pitchFamily="34" charset="-122"/>
                <a:cs typeface="Noto Sans Arabic" pitchFamily="34" charset="-120"/>
              </a:rPr>
              <a:t>ما وجود Flowها را می‌دانیم؛ اما بدون Analytics نمی‌دانیم چند درصد کاربران دقیقاً کدام مسیر را طی می‌کنند.</a:t>
            </a:r>
            <a:endParaRPr lang="en-US" sz="1100" dirty="0"/>
          </a:p>
        </p:txBody>
      </p:sp>
      <p:sp>
        <p:nvSpPr>
          <p:cNvPr id="36" name="Text 34"/>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6</a:t>
            </a:r>
            <a:endParaRPr lang="en-US" sz="700" dirty="0"/>
          </a:p>
        </p:txBody>
      </p:sp>
      <p:sp>
        <p:nvSpPr>
          <p:cNvPr id="37" name="Text 35">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مسئله اصلی از کجا درآمد؟</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مسئله اصلی با Ranking مبتنی بر شواهد انتخاب شد، نه با حدس اولیه.</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Problem</a:t>
            </a:r>
            <a:endParaRPr lang="en-US" sz="800" dirty="0"/>
          </a:p>
        </p:txBody>
      </p:sp>
      <p:sp>
        <p:nvSpPr>
          <p:cNvPr id="7" name="Text 5"/>
          <p:cNvSpPr/>
          <p:nvPr/>
        </p:nvSpPr>
        <p:spPr>
          <a:xfrm>
            <a:off x="822960" y="1417320"/>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Decision Confidence</a:t>
            </a:r>
            <a:endParaRPr lang="en-US" sz="720" dirty="0"/>
          </a:p>
        </p:txBody>
      </p:sp>
      <p:sp>
        <p:nvSpPr>
          <p:cNvPr id="8" name="Shape 6"/>
          <p:cNvSpPr/>
          <p:nvPr/>
        </p:nvSpPr>
        <p:spPr>
          <a:xfrm>
            <a:off x="3076042" y="1453896"/>
            <a:ext cx="2069763" cy="82296"/>
          </a:xfrm>
          <a:prstGeom prst="rect">
            <a:avLst/>
          </a:prstGeom>
          <a:solidFill>
            <a:srgbClr val="0F766E"/>
          </a:solidFill>
          <a:ln w="12700">
            <a:solidFill>
              <a:srgbClr val="0F766E"/>
            </a:solidFill>
            <a:prstDash val="solid"/>
          </a:ln>
        </p:spPr>
      </p:sp>
      <p:sp>
        <p:nvSpPr>
          <p:cNvPr id="9" name="Text 7"/>
          <p:cNvSpPr/>
          <p:nvPr/>
        </p:nvSpPr>
        <p:spPr>
          <a:xfrm>
            <a:off x="5380330" y="1408176"/>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94</a:t>
            </a:r>
            <a:endParaRPr lang="en-US" sz="680" dirty="0"/>
          </a:p>
        </p:txBody>
      </p:sp>
      <p:sp>
        <p:nvSpPr>
          <p:cNvPr id="10" name="Text 8"/>
          <p:cNvSpPr/>
          <p:nvPr/>
        </p:nvSpPr>
        <p:spPr>
          <a:xfrm>
            <a:off x="822960" y="1801368"/>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Product Fit &amp; Information</a:t>
            </a:r>
            <a:endParaRPr lang="en-US" sz="720" dirty="0"/>
          </a:p>
        </p:txBody>
      </p:sp>
      <p:sp>
        <p:nvSpPr>
          <p:cNvPr id="11" name="Shape 9"/>
          <p:cNvSpPr/>
          <p:nvPr/>
        </p:nvSpPr>
        <p:spPr>
          <a:xfrm>
            <a:off x="3076042" y="1837944"/>
            <a:ext cx="1981688" cy="82296"/>
          </a:xfrm>
          <a:prstGeom prst="rect">
            <a:avLst/>
          </a:prstGeom>
          <a:solidFill>
            <a:srgbClr val="0F766E"/>
          </a:solidFill>
          <a:ln w="12700">
            <a:solidFill>
              <a:srgbClr val="0F766E"/>
            </a:solidFill>
            <a:prstDash val="solid"/>
          </a:ln>
        </p:spPr>
      </p:sp>
      <p:sp>
        <p:nvSpPr>
          <p:cNvPr id="12" name="Text 10"/>
          <p:cNvSpPr/>
          <p:nvPr/>
        </p:nvSpPr>
        <p:spPr>
          <a:xfrm>
            <a:off x="5380330" y="1792224"/>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90</a:t>
            </a:r>
            <a:endParaRPr lang="en-US" sz="680" dirty="0"/>
          </a:p>
        </p:txBody>
      </p:sp>
      <p:sp>
        <p:nvSpPr>
          <p:cNvPr id="13" name="Text 11"/>
          <p:cNvSpPr/>
          <p:nvPr/>
        </p:nvSpPr>
        <p:spPr>
          <a:xfrm>
            <a:off x="822960" y="2185416"/>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Sensory / Offline Advantage</a:t>
            </a:r>
            <a:endParaRPr lang="en-US" sz="720" dirty="0"/>
          </a:p>
        </p:txBody>
      </p:sp>
      <p:sp>
        <p:nvSpPr>
          <p:cNvPr id="14" name="Shape 12"/>
          <p:cNvSpPr/>
          <p:nvPr/>
        </p:nvSpPr>
        <p:spPr>
          <a:xfrm>
            <a:off x="3076042" y="2221992"/>
            <a:ext cx="1849575" cy="82296"/>
          </a:xfrm>
          <a:prstGeom prst="rect">
            <a:avLst/>
          </a:prstGeom>
          <a:solidFill>
            <a:srgbClr val="0F766E"/>
          </a:solidFill>
          <a:ln w="12700">
            <a:solidFill>
              <a:srgbClr val="0F766E"/>
            </a:solidFill>
            <a:prstDash val="solid"/>
          </a:ln>
        </p:spPr>
      </p:sp>
      <p:sp>
        <p:nvSpPr>
          <p:cNvPr id="15" name="Text 13"/>
          <p:cNvSpPr/>
          <p:nvPr/>
        </p:nvSpPr>
        <p:spPr>
          <a:xfrm>
            <a:off x="5380330" y="2176272"/>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84</a:t>
            </a:r>
            <a:endParaRPr lang="en-US" sz="680" dirty="0"/>
          </a:p>
        </p:txBody>
      </p:sp>
      <p:sp>
        <p:nvSpPr>
          <p:cNvPr id="16" name="Text 14"/>
          <p:cNvSpPr/>
          <p:nvPr/>
        </p:nvSpPr>
        <p:spPr>
          <a:xfrm>
            <a:off x="822960" y="2569464"/>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Availability</a:t>
            </a:r>
            <a:endParaRPr lang="en-US" sz="720" dirty="0"/>
          </a:p>
        </p:txBody>
      </p:sp>
      <p:sp>
        <p:nvSpPr>
          <p:cNvPr id="17" name="Shape 15"/>
          <p:cNvSpPr/>
          <p:nvPr/>
        </p:nvSpPr>
        <p:spPr>
          <a:xfrm>
            <a:off x="3076042" y="2606040"/>
            <a:ext cx="1805538" cy="82296"/>
          </a:xfrm>
          <a:prstGeom prst="rect">
            <a:avLst/>
          </a:prstGeom>
          <a:solidFill>
            <a:srgbClr val="0F766E"/>
          </a:solidFill>
          <a:ln w="12700">
            <a:solidFill>
              <a:srgbClr val="0F766E"/>
            </a:solidFill>
            <a:prstDash val="solid"/>
          </a:ln>
        </p:spPr>
      </p:sp>
      <p:sp>
        <p:nvSpPr>
          <p:cNvPr id="18" name="Text 16"/>
          <p:cNvSpPr/>
          <p:nvPr/>
        </p:nvSpPr>
        <p:spPr>
          <a:xfrm>
            <a:off x="5380330" y="2560320"/>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82</a:t>
            </a:r>
            <a:endParaRPr lang="en-US" sz="680" dirty="0"/>
          </a:p>
        </p:txBody>
      </p:sp>
      <p:sp>
        <p:nvSpPr>
          <p:cNvPr id="19" name="Text 17"/>
          <p:cNvSpPr/>
          <p:nvPr/>
        </p:nvSpPr>
        <p:spPr>
          <a:xfrm>
            <a:off x="822960" y="2953512"/>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Price / Value</a:t>
            </a:r>
            <a:endParaRPr lang="en-US" sz="720" dirty="0"/>
          </a:p>
        </p:txBody>
      </p:sp>
      <p:sp>
        <p:nvSpPr>
          <p:cNvPr id="20" name="Shape 18"/>
          <p:cNvSpPr/>
          <p:nvPr/>
        </p:nvSpPr>
        <p:spPr>
          <a:xfrm>
            <a:off x="3076042" y="2990088"/>
            <a:ext cx="1761500" cy="82296"/>
          </a:xfrm>
          <a:prstGeom prst="rect">
            <a:avLst/>
          </a:prstGeom>
          <a:solidFill>
            <a:srgbClr val="0F766E"/>
          </a:solidFill>
          <a:ln w="12700">
            <a:solidFill>
              <a:srgbClr val="0F766E"/>
            </a:solidFill>
            <a:prstDash val="solid"/>
          </a:ln>
        </p:spPr>
      </p:sp>
      <p:sp>
        <p:nvSpPr>
          <p:cNvPr id="21" name="Text 19"/>
          <p:cNvSpPr/>
          <p:nvPr/>
        </p:nvSpPr>
        <p:spPr>
          <a:xfrm>
            <a:off x="5380330" y="2944368"/>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80</a:t>
            </a:r>
            <a:endParaRPr lang="en-US" sz="680" dirty="0"/>
          </a:p>
        </p:txBody>
      </p:sp>
      <p:sp>
        <p:nvSpPr>
          <p:cNvPr id="22" name="Text 20"/>
          <p:cNvSpPr/>
          <p:nvPr/>
        </p:nvSpPr>
        <p:spPr>
          <a:xfrm>
            <a:off x="822960" y="3337560"/>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Trust / Reputation</a:t>
            </a:r>
            <a:endParaRPr lang="en-US" sz="720" dirty="0"/>
          </a:p>
        </p:txBody>
      </p:sp>
      <p:sp>
        <p:nvSpPr>
          <p:cNvPr id="23" name="Shape 21"/>
          <p:cNvSpPr/>
          <p:nvPr/>
        </p:nvSpPr>
        <p:spPr>
          <a:xfrm>
            <a:off x="3076042" y="3374136"/>
            <a:ext cx="1717463" cy="82296"/>
          </a:xfrm>
          <a:prstGeom prst="rect">
            <a:avLst/>
          </a:prstGeom>
          <a:solidFill>
            <a:srgbClr val="F59E0B"/>
          </a:solidFill>
          <a:ln w="12700">
            <a:solidFill>
              <a:srgbClr val="F59E0B"/>
            </a:solidFill>
            <a:prstDash val="solid"/>
          </a:ln>
        </p:spPr>
      </p:sp>
      <p:sp>
        <p:nvSpPr>
          <p:cNvPr id="24" name="Text 22"/>
          <p:cNvSpPr/>
          <p:nvPr/>
        </p:nvSpPr>
        <p:spPr>
          <a:xfrm>
            <a:off x="5380330" y="3328416"/>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78</a:t>
            </a:r>
            <a:endParaRPr lang="en-US" sz="680" dirty="0"/>
          </a:p>
        </p:txBody>
      </p:sp>
      <p:sp>
        <p:nvSpPr>
          <p:cNvPr id="25" name="Text 23"/>
          <p:cNvSpPr/>
          <p:nvPr/>
        </p:nvSpPr>
        <p:spPr>
          <a:xfrm>
            <a:off x="822960" y="3721608"/>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Repurchase Loop</a:t>
            </a:r>
            <a:endParaRPr lang="en-US" sz="720" dirty="0"/>
          </a:p>
        </p:txBody>
      </p:sp>
      <p:sp>
        <p:nvSpPr>
          <p:cNvPr id="26" name="Shape 24"/>
          <p:cNvSpPr/>
          <p:nvPr/>
        </p:nvSpPr>
        <p:spPr>
          <a:xfrm>
            <a:off x="3076042" y="3758184"/>
            <a:ext cx="1497275" cy="82296"/>
          </a:xfrm>
          <a:prstGeom prst="rect">
            <a:avLst/>
          </a:prstGeom>
          <a:solidFill>
            <a:srgbClr val="F59E0B"/>
          </a:solidFill>
          <a:ln w="12700">
            <a:solidFill>
              <a:srgbClr val="F59E0B"/>
            </a:solidFill>
            <a:prstDash val="solid"/>
          </a:ln>
        </p:spPr>
      </p:sp>
      <p:sp>
        <p:nvSpPr>
          <p:cNvPr id="27" name="Text 25"/>
          <p:cNvSpPr/>
          <p:nvPr/>
        </p:nvSpPr>
        <p:spPr>
          <a:xfrm>
            <a:off x="5380330" y="3712464"/>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68</a:t>
            </a:r>
            <a:endParaRPr lang="en-US" sz="680" dirty="0"/>
          </a:p>
        </p:txBody>
      </p:sp>
      <p:sp>
        <p:nvSpPr>
          <p:cNvPr id="28" name="Text 26"/>
          <p:cNvSpPr/>
          <p:nvPr/>
        </p:nvSpPr>
        <p:spPr>
          <a:xfrm>
            <a:off x="822960" y="4105656"/>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Delivery</a:t>
            </a:r>
            <a:endParaRPr lang="en-US" sz="720" dirty="0"/>
          </a:p>
        </p:txBody>
      </p:sp>
      <p:sp>
        <p:nvSpPr>
          <p:cNvPr id="29" name="Shape 27"/>
          <p:cNvSpPr/>
          <p:nvPr/>
        </p:nvSpPr>
        <p:spPr>
          <a:xfrm>
            <a:off x="3076042" y="4142232"/>
            <a:ext cx="1211031" cy="82296"/>
          </a:xfrm>
          <a:prstGeom prst="rect">
            <a:avLst/>
          </a:prstGeom>
          <a:solidFill>
            <a:srgbClr val="DC2626"/>
          </a:solidFill>
          <a:ln w="12700">
            <a:solidFill>
              <a:srgbClr val="DC2626"/>
            </a:solidFill>
            <a:prstDash val="solid"/>
          </a:ln>
        </p:spPr>
      </p:sp>
      <p:sp>
        <p:nvSpPr>
          <p:cNvPr id="30" name="Text 28"/>
          <p:cNvSpPr/>
          <p:nvPr/>
        </p:nvSpPr>
        <p:spPr>
          <a:xfrm>
            <a:off x="5380330" y="4096512"/>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55</a:t>
            </a:r>
            <a:endParaRPr lang="en-US" sz="680" dirty="0"/>
          </a:p>
        </p:txBody>
      </p:sp>
      <p:sp>
        <p:nvSpPr>
          <p:cNvPr id="31" name="Text 29"/>
          <p:cNvSpPr/>
          <p:nvPr/>
        </p:nvSpPr>
        <p:spPr>
          <a:xfrm>
            <a:off x="822960" y="4489704"/>
            <a:ext cx="2150669" cy="155448"/>
          </a:xfrm>
          <a:prstGeom prst="rect">
            <a:avLst/>
          </a:prstGeom>
          <a:noFill/>
          <a:ln/>
        </p:spPr>
        <p:txBody>
          <a:bodyPr wrap="square" lIns="635" tIns="635" rIns="635" bIns="635" rtlCol="0" anchor="ctr">
            <a:normAutofit/>
          </a:bodyPr>
          <a:lstStyle/>
          <a:p>
            <a:pPr rtl="1" algn="r" indent="0" marL="0">
              <a:buNone/>
            </a:pPr>
            <a:r>
              <a:rPr lang="en-US" sz="720" dirty="0">
                <a:solidFill>
                  <a:srgbClr val="1F2937"/>
                </a:solidFill>
                <a:latin typeface="Noto Sans Arabic" pitchFamily="34" charset="0"/>
                <a:ea typeface="Noto Sans Arabic" pitchFamily="34" charset="-122"/>
                <a:cs typeface="Noto Sans Arabic" pitchFamily="34" charset="-120"/>
              </a:rPr>
              <a:t>Checkout</a:t>
            </a:r>
            <a:endParaRPr lang="en-US" sz="720" dirty="0"/>
          </a:p>
        </p:txBody>
      </p:sp>
      <p:sp>
        <p:nvSpPr>
          <p:cNvPr id="32" name="Shape 30"/>
          <p:cNvSpPr/>
          <p:nvPr/>
        </p:nvSpPr>
        <p:spPr>
          <a:xfrm>
            <a:off x="3076042" y="4526280"/>
            <a:ext cx="924788" cy="82296"/>
          </a:xfrm>
          <a:prstGeom prst="rect">
            <a:avLst/>
          </a:prstGeom>
          <a:solidFill>
            <a:srgbClr val="DC2626"/>
          </a:solidFill>
          <a:ln w="12700">
            <a:solidFill>
              <a:srgbClr val="DC2626"/>
            </a:solidFill>
            <a:prstDash val="solid"/>
          </a:ln>
        </p:spPr>
      </p:sp>
      <p:sp>
        <p:nvSpPr>
          <p:cNvPr id="33" name="Text 31"/>
          <p:cNvSpPr/>
          <p:nvPr/>
        </p:nvSpPr>
        <p:spPr>
          <a:xfrm>
            <a:off x="5380330" y="4480560"/>
            <a:ext cx="460858" cy="137160"/>
          </a:xfrm>
          <a:prstGeom prst="rect">
            <a:avLst/>
          </a:prstGeom>
          <a:noFill/>
          <a:ln/>
        </p:spPr>
        <p:txBody>
          <a:bodyPr wrap="square" lIns="635" tIns="635" rIns="635" bIns="635" rtlCol="0" anchor="ctr">
            <a:normAutofit/>
          </a:bodyPr>
          <a:lstStyle/>
          <a:p>
            <a:pPr algn="l" indent="0" marL="0">
              <a:buNone/>
            </a:pPr>
            <a:r>
              <a:rPr lang="en-US" sz="680" dirty="0">
                <a:solidFill>
                  <a:srgbClr val="6B7280"/>
                </a:solidFill>
                <a:latin typeface="Noto Sans Arabic" pitchFamily="34" charset="0"/>
                <a:ea typeface="Noto Sans Arabic" pitchFamily="34" charset="-122"/>
                <a:cs typeface="Noto Sans Arabic" pitchFamily="34" charset="-120"/>
              </a:rPr>
              <a:t>42</a:t>
            </a:r>
            <a:endParaRPr lang="en-US" sz="680" dirty="0"/>
          </a:p>
        </p:txBody>
      </p:sp>
      <p:sp>
        <p:nvSpPr>
          <p:cNvPr id="34" name="Shape 32"/>
          <p:cNvSpPr/>
          <p:nvPr/>
        </p:nvSpPr>
        <p:spPr>
          <a:xfrm>
            <a:off x="6446520" y="1417320"/>
            <a:ext cx="4800600" cy="1234440"/>
          </a:xfrm>
          <a:prstGeom prst="roundRect">
            <a:avLst>
              <a:gd name="adj" fmla="val 8889"/>
            </a:avLst>
          </a:prstGeom>
          <a:solidFill>
            <a:srgbClr val="FFF5F8"/>
          </a:solidFill>
          <a:ln w="12700">
            <a:solidFill>
              <a:srgbClr val="FCE4EC"/>
            </a:solidFill>
            <a:prstDash val="solid"/>
          </a:ln>
        </p:spPr>
      </p:sp>
      <p:sp>
        <p:nvSpPr>
          <p:cNvPr id="35" name="Text 33"/>
          <p:cNvSpPr/>
          <p:nvPr/>
        </p:nvSpPr>
        <p:spPr>
          <a:xfrm>
            <a:off x="6720840" y="1645920"/>
            <a:ext cx="4251960" cy="201168"/>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نتیجه تصمیمی</a:t>
            </a:r>
            <a:endParaRPr lang="en-US" sz="1300" dirty="0"/>
          </a:p>
        </p:txBody>
      </p:sp>
      <p:sp>
        <p:nvSpPr>
          <p:cNvPr id="36" name="Text 34"/>
          <p:cNvSpPr/>
          <p:nvPr/>
        </p:nvSpPr>
        <p:spPr>
          <a:xfrm>
            <a:off x="6720840" y="2011680"/>
            <a:ext cx="4251960" cy="256032"/>
          </a:xfrm>
          <a:prstGeom prst="rect">
            <a:avLst/>
          </a:prstGeom>
          <a:noFill/>
          <a:ln/>
        </p:spPr>
        <p:txBody>
          <a:bodyPr wrap="square" lIns="635" tIns="635" rIns="635" bIns="635" rtlCol="0" anchor="ctr">
            <a:normAutofit/>
          </a:bodyPr>
          <a:lstStyle/>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ریشه دفاع‌پذیرتر: عدم اطمینان در تصمیم پیش از خرید</a:t>
            </a:r>
            <a:endParaRPr lang="en-US" sz="1400" dirty="0"/>
          </a:p>
        </p:txBody>
      </p:sp>
      <p:sp>
        <p:nvSpPr>
          <p:cNvPr id="37" name="Shape 35"/>
          <p:cNvSpPr/>
          <p:nvPr/>
        </p:nvSpPr>
        <p:spPr>
          <a:xfrm>
            <a:off x="6446520" y="2971800"/>
            <a:ext cx="4800600" cy="1920240"/>
          </a:xfrm>
          <a:prstGeom prst="roundRect">
            <a:avLst>
              <a:gd name="adj" fmla="val 5714"/>
            </a:avLst>
          </a:prstGeom>
          <a:solidFill>
            <a:srgbClr val="FFFFFF"/>
          </a:solidFill>
          <a:ln w="12700">
            <a:solidFill>
              <a:srgbClr val="E5E7EB"/>
            </a:solidFill>
            <a:prstDash val="solid"/>
          </a:ln>
        </p:spPr>
      </p:sp>
      <p:sp>
        <p:nvSpPr>
          <p:cNvPr id="38" name="Text 36"/>
          <p:cNvSpPr/>
          <p:nvPr/>
        </p:nvSpPr>
        <p:spPr>
          <a:xfrm>
            <a:off x="6720840" y="3182112"/>
            <a:ext cx="4251960" cy="219456"/>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دو Reframe مهم</a:t>
            </a:r>
            <a:endParaRPr lang="en-US" sz="1300" dirty="0"/>
          </a:p>
        </p:txBody>
      </p:sp>
      <p:sp>
        <p:nvSpPr>
          <p:cNvPr id="39" name="Text 37"/>
          <p:cNvSpPr/>
          <p:nvPr/>
        </p:nvSpPr>
        <p:spPr>
          <a:xfrm>
            <a:off x="6720840" y="3639312"/>
            <a:ext cx="4251960" cy="658368"/>
          </a:xfrm>
          <a:prstGeom prst="rect">
            <a:avLst/>
          </a:prstGeom>
          <a:noFill/>
          <a:ln/>
        </p:spPr>
        <p:txBody>
          <a:bodyPr wrap="square" lIns="635" tIns="635" rIns="635" bIns="635" rtlCol="0" anchor="ctr">
            <a:normAutofit/>
          </a:bodyPr>
          <a:lstStyle/>
          <a:p>
            <a:pPr rtl="1" algn="r" indent="0" marL="0">
              <a:buNone/>
            </a:pPr>
            <a:r>
              <a:rPr lang="en-US" sz="1100" dirty="0">
                <a:solidFill>
                  <a:srgbClr val="1F2937"/>
                </a:solidFill>
                <a:latin typeface="Noto Sans Arabic" pitchFamily="34" charset="0"/>
                <a:ea typeface="Noto Sans Arabic" pitchFamily="34" charset="-122"/>
                <a:cs typeface="Noto Sans Arabic" pitchFamily="34" charset="-120"/>
              </a:rPr>
              <a:t>تحویل: Friction و Guardrail است، نه Root Problem اصلی.</a:t>
            </a:r>
            <a:endParaRPr lang="en-US" sz="1100" dirty="0"/>
          </a:p>
          <a:p>
            <a:pPr rtl="1" algn="r" indent="0" marL="0">
              <a:buNone/>
            </a:pPr>
            <a:r>
              <a:rPr lang="en-US" sz="1100" dirty="0">
                <a:solidFill>
                  <a:srgbClr val="1F2937"/>
                </a:solidFill>
                <a:latin typeface="Noto Sans Arabic" pitchFamily="34" charset="0"/>
                <a:ea typeface="Noto Sans Arabic" pitchFamily="34" charset="-122"/>
                <a:cs typeface="Noto Sans Arabic" pitchFamily="34" charset="-120"/>
              </a:rPr>
              <a:t>اصالت: لایه‌ای از Trust/Decision Confidence است، نه درد جهانی همه کاربران.</a:t>
            </a:r>
            <a:endParaRPr lang="en-US" sz="1100" dirty="0"/>
          </a:p>
        </p:txBody>
      </p:sp>
      <p:sp>
        <p:nvSpPr>
          <p:cNvPr id="40" name="Text 38"/>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7</a:t>
            </a:r>
            <a:endParaRPr lang="en-US" sz="700" dirty="0"/>
          </a:p>
        </p:txBody>
      </p:sp>
      <p:sp>
        <p:nvSpPr>
          <p:cNvPr id="41" name="Text 39">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صدای کاربر؛ رفتارها چه می‌گویند؟</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از «کاربر چه گفت» به «کاربر چه کرد یا احتمالاً می‌کند» حرکت کردیم.</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User Evidence</a:t>
            </a:r>
            <a:endParaRPr lang="en-US" sz="800" dirty="0"/>
          </a:p>
        </p:txBody>
      </p:sp>
      <p:sp>
        <p:nvSpPr>
          <p:cNvPr id="7" name="Shape 5"/>
          <p:cNvSpPr/>
          <p:nvPr/>
        </p:nvSpPr>
        <p:spPr>
          <a:xfrm>
            <a:off x="685800" y="1463040"/>
            <a:ext cx="1965960" cy="658368"/>
          </a:xfrm>
          <a:prstGeom prst="roundRect">
            <a:avLst>
              <a:gd name="adj" fmla="val 16667"/>
            </a:avLst>
          </a:prstGeom>
          <a:solidFill>
            <a:srgbClr val="FFFFFF"/>
          </a:solidFill>
          <a:ln w="12700">
            <a:solidFill>
              <a:srgbClr val="E5E7EB"/>
            </a:solidFill>
            <a:prstDash val="solid"/>
          </a:ln>
        </p:spPr>
      </p:sp>
      <p:sp>
        <p:nvSpPr>
          <p:cNvPr id="8" name="Text 6"/>
          <p:cNvSpPr/>
          <p:nvPr/>
        </p:nvSpPr>
        <p:spPr>
          <a:xfrm>
            <a:off x="822960" y="1563624"/>
            <a:ext cx="169164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E91E63"/>
                </a:solidFill>
                <a:latin typeface="Noto Sans Arabic" pitchFamily="34" charset="0"/>
                <a:ea typeface="Noto Sans Arabic" pitchFamily="34" charset="-122"/>
                <a:cs typeface="Noto Sans Arabic" pitchFamily="34" charset="-120"/>
              </a:rPr>
              <a:t>23/46</a:t>
            </a:r>
            <a:endParaRPr lang="en-US" sz="1800" dirty="0"/>
          </a:p>
        </p:txBody>
      </p:sp>
      <p:sp>
        <p:nvSpPr>
          <p:cNvPr id="9" name="Text 7"/>
          <p:cNvSpPr/>
          <p:nvPr/>
        </p:nvSpPr>
        <p:spPr>
          <a:xfrm>
            <a:off x="795528" y="1847088"/>
            <a:ext cx="174650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Reviews when uncertain</a:t>
            </a:r>
            <a:endParaRPr lang="en-US" sz="750" dirty="0"/>
          </a:p>
        </p:txBody>
      </p:sp>
      <p:sp>
        <p:nvSpPr>
          <p:cNvPr id="10" name="Shape 8"/>
          <p:cNvSpPr/>
          <p:nvPr/>
        </p:nvSpPr>
        <p:spPr>
          <a:xfrm>
            <a:off x="2834640" y="1463040"/>
            <a:ext cx="1965960" cy="658368"/>
          </a:xfrm>
          <a:prstGeom prst="roundRect">
            <a:avLst>
              <a:gd name="adj" fmla="val 16667"/>
            </a:avLst>
          </a:prstGeom>
          <a:solidFill>
            <a:srgbClr val="FFFFFF"/>
          </a:solidFill>
          <a:ln w="12700">
            <a:solidFill>
              <a:srgbClr val="E5E7EB"/>
            </a:solidFill>
            <a:prstDash val="solid"/>
          </a:ln>
        </p:spPr>
      </p:sp>
      <p:sp>
        <p:nvSpPr>
          <p:cNvPr id="11" name="Text 9"/>
          <p:cNvSpPr/>
          <p:nvPr/>
        </p:nvSpPr>
        <p:spPr>
          <a:xfrm>
            <a:off x="2971800" y="1563624"/>
            <a:ext cx="169164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14213D"/>
                </a:solidFill>
                <a:latin typeface="Noto Sans Arabic" pitchFamily="34" charset="0"/>
                <a:ea typeface="Noto Sans Arabic" pitchFamily="34" charset="-122"/>
                <a:cs typeface="Noto Sans Arabic" pitchFamily="34" charset="-120"/>
              </a:rPr>
              <a:t>15/46</a:t>
            </a:r>
            <a:endParaRPr lang="en-US" sz="1800" dirty="0"/>
          </a:p>
        </p:txBody>
      </p:sp>
      <p:sp>
        <p:nvSpPr>
          <p:cNvPr id="12" name="Text 10"/>
          <p:cNvSpPr/>
          <p:nvPr/>
        </p:nvSpPr>
        <p:spPr>
          <a:xfrm>
            <a:off x="2944368" y="1847088"/>
            <a:ext cx="174650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External comparison</a:t>
            </a:r>
            <a:endParaRPr lang="en-US" sz="750" dirty="0"/>
          </a:p>
        </p:txBody>
      </p:sp>
      <p:sp>
        <p:nvSpPr>
          <p:cNvPr id="13" name="Shape 11"/>
          <p:cNvSpPr/>
          <p:nvPr/>
        </p:nvSpPr>
        <p:spPr>
          <a:xfrm>
            <a:off x="4983480" y="1463040"/>
            <a:ext cx="1965960" cy="658368"/>
          </a:xfrm>
          <a:prstGeom prst="roundRect">
            <a:avLst>
              <a:gd name="adj" fmla="val 16667"/>
            </a:avLst>
          </a:prstGeom>
          <a:solidFill>
            <a:srgbClr val="FFFFFF"/>
          </a:solidFill>
          <a:ln w="12700">
            <a:solidFill>
              <a:srgbClr val="E5E7EB"/>
            </a:solidFill>
            <a:prstDash val="solid"/>
          </a:ln>
        </p:spPr>
      </p:sp>
      <p:sp>
        <p:nvSpPr>
          <p:cNvPr id="14" name="Text 12"/>
          <p:cNvSpPr/>
          <p:nvPr/>
        </p:nvSpPr>
        <p:spPr>
          <a:xfrm>
            <a:off x="5120640" y="1563624"/>
            <a:ext cx="169164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F59E0B"/>
                </a:solidFill>
                <a:latin typeface="Noto Sans Arabic" pitchFamily="34" charset="0"/>
                <a:ea typeface="Noto Sans Arabic" pitchFamily="34" charset="-122"/>
                <a:cs typeface="Noto Sans Arabic" pitchFamily="34" charset="-120"/>
              </a:rPr>
              <a:t>12/46</a:t>
            </a:r>
            <a:endParaRPr lang="en-US" sz="1800" dirty="0"/>
          </a:p>
        </p:txBody>
      </p:sp>
      <p:sp>
        <p:nvSpPr>
          <p:cNvPr id="15" name="Text 13"/>
          <p:cNvSpPr/>
          <p:nvPr/>
        </p:nvSpPr>
        <p:spPr>
          <a:xfrm>
            <a:off x="5093208" y="1847088"/>
            <a:ext cx="174650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Postponed purchase</a:t>
            </a:r>
            <a:endParaRPr lang="en-US" sz="750" dirty="0"/>
          </a:p>
        </p:txBody>
      </p:sp>
      <p:sp>
        <p:nvSpPr>
          <p:cNvPr id="16" name="Shape 14"/>
          <p:cNvSpPr/>
          <p:nvPr/>
        </p:nvSpPr>
        <p:spPr>
          <a:xfrm>
            <a:off x="7132320" y="1463040"/>
            <a:ext cx="1965960" cy="658368"/>
          </a:xfrm>
          <a:prstGeom prst="roundRect">
            <a:avLst>
              <a:gd name="adj" fmla="val 16667"/>
            </a:avLst>
          </a:prstGeom>
          <a:solidFill>
            <a:srgbClr val="FFFFFF"/>
          </a:solidFill>
          <a:ln w="12700">
            <a:solidFill>
              <a:srgbClr val="E5E7EB"/>
            </a:solidFill>
            <a:prstDash val="solid"/>
          </a:ln>
        </p:spPr>
      </p:sp>
      <p:sp>
        <p:nvSpPr>
          <p:cNvPr id="17" name="Text 15"/>
          <p:cNvSpPr/>
          <p:nvPr/>
        </p:nvSpPr>
        <p:spPr>
          <a:xfrm>
            <a:off x="7269480" y="1563624"/>
            <a:ext cx="169164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0F766E"/>
                </a:solidFill>
                <a:latin typeface="Noto Sans Arabic" pitchFamily="34" charset="0"/>
                <a:ea typeface="Noto Sans Arabic" pitchFamily="34" charset="-122"/>
                <a:cs typeface="Noto Sans Arabic" pitchFamily="34" charset="-120"/>
              </a:rPr>
              <a:t>16/28</a:t>
            </a:r>
            <a:endParaRPr lang="en-US" sz="1800" dirty="0"/>
          </a:p>
        </p:txBody>
      </p:sp>
      <p:sp>
        <p:nvSpPr>
          <p:cNvPr id="18" name="Text 16"/>
          <p:cNvSpPr/>
          <p:nvPr/>
        </p:nvSpPr>
        <p:spPr>
          <a:xfrm>
            <a:off x="7242048" y="1847088"/>
            <a:ext cx="174650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Physical first route</a:t>
            </a:r>
            <a:endParaRPr lang="en-US" sz="750" dirty="0"/>
          </a:p>
        </p:txBody>
      </p:sp>
      <p:sp>
        <p:nvSpPr>
          <p:cNvPr id="19" name="Shape 17"/>
          <p:cNvSpPr/>
          <p:nvPr/>
        </p:nvSpPr>
        <p:spPr>
          <a:xfrm>
            <a:off x="9281160" y="1463040"/>
            <a:ext cx="1965960" cy="658368"/>
          </a:xfrm>
          <a:prstGeom prst="roundRect">
            <a:avLst>
              <a:gd name="adj" fmla="val 16667"/>
            </a:avLst>
          </a:prstGeom>
          <a:solidFill>
            <a:srgbClr val="FFFFFF"/>
          </a:solidFill>
          <a:ln w="12700">
            <a:solidFill>
              <a:srgbClr val="E5E7EB"/>
            </a:solidFill>
            <a:prstDash val="solid"/>
          </a:ln>
        </p:spPr>
      </p:sp>
      <p:sp>
        <p:nvSpPr>
          <p:cNvPr id="20" name="Text 18"/>
          <p:cNvSpPr/>
          <p:nvPr/>
        </p:nvSpPr>
        <p:spPr>
          <a:xfrm>
            <a:off x="9418320" y="1563624"/>
            <a:ext cx="1691640" cy="228600"/>
          </a:xfrm>
          <a:prstGeom prst="rect">
            <a:avLst/>
          </a:prstGeom>
          <a:noFill/>
          <a:ln/>
        </p:spPr>
        <p:txBody>
          <a:bodyPr wrap="square" lIns="635" tIns="635" rIns="635" bIns="635" rtlCol="0" anchor="ctr">
            <a:normAutofit/>
          </a:bodyPr>
          <a:lstStyle/>
          <a:p>
            <a:pPr rtl="1" algn="ctr" indent="0" marL="0">
              <a:buNone/>
            </a:pPr>
            <a:r>
              <a:rPr lang="en-US" sz="1800" b="1" dirty="0">
                <a:solidFill>
                  <a:srgbClr val="DC2626"/>
                </a:solidFill>
                <a:latin typeface="Noto Sans Arabic" pitchFamily="34" charset="0"/>
                <a:ea typeface="Noto Sans Arabic" pitchFamily="34" charset="-122"/>
                <a:cs typeface="Noto Sans Arabic" pitchFamily="34" charset="-120"/>
              </a:rPr>
              <a:t>12/28</a:t>
            </a:r>
            <a:endParaRPr lang="en-US" sz="1800" dirty="0"/>
          </a:p>
        </p:txBody>
      </p:sp>
      <p:sp>
        <p:nvSpPr>
          <p:cNvPr id="21" name="Text 19"/>
          <p:cNvSpPr/>
          <p:nvPr/>
        </p:nvSpPr>
        <p:spPr>
          <a:xfrm>
            <a:off x="9390888" y="1847088"/>
            <a:ext cx="1746504" cy="164592"/>
          </a:xfrm>
          <a:prstGeom prst="rect">
            <a:avLst/>
          </a:prstGeom>
          <a:noFill/>
          <a:ln/>
        </p:spPr>
        <p:txBody>
          <a:bodyPr wrap="square" lIns="635" tIns="635" rIns="635" bIns="635" rtlCol="0" anchor="ctr">
            <a:normAutofit/>
          </a:bodyPr>
          <a:lstStyle/>
          <a:p>
            <a:pPr rtl="1" algn="ctr" indent="0" marL="0">
              <a:buNone/>
            </a:pPr>
            <a:r>
              <a:rPr lang="en-US" sz="750" dirty="0">
                <a:solidFill>
                  <a:srgbClr val="6B7280"/>
                </a:solidFill>
                <a:latin typeface="Noto Sans Arabic" pitchFamily="34" charset="0"/>
                <a:ea typeface="Noto Sans Arabic" pitchFamily="34" charset="-122"/>
                <a:cs typeface="Noto Sans Arabic" pitchFamily="34" charset="-120"/>
              </a:rPr>
              <a:t>Test/consult barrier</a:t>
            </a:r>
            <a:endParaRPr lang="en-US" sz="750" dirty="0"/>
          </a:p>
        </p:txBody>
      </p:sp>
      <p:sp>
        <p:nvSpPr>
          <p:cNvPr id="22" name="Shape 20"/>
          <p:cNvSpPr/>
          <p:nvPr/>
        </p:nvSpPr>
        <p:spPr>
          <a:xfrm>
            <a:off x="685800" y="2880360"/>
            <a:ext cx="5166360" cy="2377440"/>
          </a:xfrm>
          <a:prstGeom prst="roundRect">
            <a:avLst>
              <a:gd name="adj" fmla="val 4615"/>
            </a:avLst>
          </a:prstGeom>
          <a:solidFill>
            <a:srgbClr val="FFFFFF"/>
          </a:solidFill>
          <a:ln w="12700">
            <a:solidFill>
              <a:srgbClr val="E5E7EB"/>
            </a:solidFill>
            <a:prstDash val="solid"/>
          </a:ln>
        </p:spPr>
      </p:sp>
      <p:sp>
        <p:nvSpPr>
          <p:cNvPr id="23" name="Text 21"/>
          <p:cNvSpPr/>
          <p:nvPr/>
        </p:nvSpPr>
        <p:spPr>
          <a:xfrm>
            <a:off x="960120" y="3108960"/>
            <a:ext cx="461772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VOC چه چیزی را تقویت کرد؟</a:t>
            </a:r>
            <a:endParaRPr lang="en-US" sz="1300" dirty="0"/>
          </a:p>
        </p:txBody>
      </p:sp>
      <p:sp>
        <p:nvSpPr>
          <p:cNvPr id="24" name="Text 22"/>
          <p:cNvSpPr/>
          <p:nvPr/>
        </p:nvSpPr>
        <p:spPr>
          <a:xfrm>
            <a:off x="960120" y="3566160"/>
            <a:ext cx="4617720" cy="822960"/>
          </a:xfrm>
          <a:prstGeom prst="rect">
            <a:avLst/>
          </a:prstGeom>
          <a:noFill/>
          <a:ln/>
        </p:spPr>
        <p:txBody>
          <a:bodyPr wrap="square" lIns="635" tIns="635" rIns="635" bIns="635" rtlCol="0" anchor="ctr">
            <a:normAutofit/>
          </a:bodyPr>
          <a:lstStyle/>
          <a:p>
            <a:pPr rtl="1" algn="ctr" indent="0" marL="0">
              <a:buNone/>
            </a:pPr>
            <a:r>
              <a:rPr lang="en-US" sz="1200" dirty="0">
                <a:solidFill>
                  <a:srgbClr val="1F2937"/>
                </a:solidFill>
                <a:latin typeface="Noto Sans Arabic" pitchFamily="34" charset="0"/>
                <a:ea typeface="Noto Sans Arabic" pitchFamily="34" charset="-122"/>
                <a:cs typeface="Noto Sans Arabic" pitchFamily="34" charset="-120"/>
              </a:rPr>
              <a:t>تناسب، واکنش، رایحه، رنگ، اثرگذاری، موجودی، ارزش قیمت و اعتماد؛ یعنی تصمیم زیبایی فقط قیمت یا اصالت نیست، یک مسئله Fit + Confidence است.</a:t>
            </a:r>
            <a:endParaRPr lang="en-US" sz="1200" dirty="0"/>
          </a:p>
        </p:txBody>
      </p:sp>
      <p:sp>
        <p:nvSpPr>
          <p:cNvPr id="25" name="Shape 23"/>
          <p:cNvSpPr/>
          <p:nvPr/>
        </p:nvSpPr>
        <p:spPr>
          <a:xfrm>
            <a:off x="6217920" y="2880360"/>
            <a:ext cx="4983480" cy="2377440"/>
          </a:xfrm>
          <a:prstGeom prst="roundRect">
            <a:avLst>
              <a:gd name="adj" fmla="val 4615"/>
            </a:avLst>
          </a:prstGeom>
          <a:solidFill>
            <a:srgbClr val="FFF5F8"/>
          </a:solidFill>
          <a:ln w="12700">
            <a:solidFill>
              <a:srgbClr val="FCE4EC"/>
            </a:solidFill>
            <a:prstDash val="solid"/>
          </a:ln>
        </p:spPr>
      </p:sp>
      <p:sp>
        <p:nvSpPr>
          <p:cNvPr id="26" name="Text 24"/>
          <p:cNvSpPr/>
          <p:nvPr/>
        </p:nvSpPr>
        <p:spPr>
          <a:xfrm>
            <a:off x="6492240" y="3108960"/>
            <a:ext cx="443484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نباید چه بگوییم؟</a:t>
            </a:r>
            <a:endParaRPr lang="en-US" sz="1300" dirty="0"/>
          </a:p>
        </p:txBody>
      </p:sp>
      <p:sp>
        <p:nvSpPr>
          <p:cNvPr id="27" name="Text 25"/>
          <p:cNvSpPr/>
          <p:nvPr/>
        </p:nvSpPr>
        <p:spPr>
          <a:xfrm>
            <a:off x="6492240" y="3566160"/>
            <a:ext cx="4434840" cy="822960"/>
          </a:xfrm>
          <a:prstGeom prst="rect">
            <a:avLst/>
          </a:prstGeom>
          <a:noFill/>
          <a:ln/>
        </p:spPr>
        <p:txBody>
          <a:bodyPr wrap="square" lIns="635" tIns="635" rIns="635" bIns="635" rtlCol="0" anchor="ctr">
            <a:normAutofit/>
          </a:bodyPr>
          <a:lstStyle/>
          <a:p>
            <a:pPr rtl="1" algn="ctr" indent="0" marL="0">
              <a:buNone/>
            </a:pPr>
            <a:r>
              <a:rPr lang="en-US" sz="1200" b="1" dirty="0">
                <a:solidFill>
                  <a:srgbClr val="C2185B"/>
                </a:solidFill>
                <a:latin typeface="Noto Sans Arabic" pitchFamily="34" charset="0"/>
                <a:ea typeface="Noto Sans Arabic" pitchFamily="34" charset="-122"/>
                <a:cs typeface="Noto Sans Arabic" pitchFamily="34" charset="-120"/>
              </a:rPr>
              <a:t>نباید درصدهای نمونه را به کل کاربران خانومی تعمیم دهیم. نباید از کامنت‌ها علیت بسازیم. نباید «بلندترین صدا» را الزاماً «مهم‌ترین مسئله» بدانیم.</a:t>
            </a:r>
            <a:endParaRPr lang="en-US" sz="1200" dirty="0"/>
          </a:p>
        </p:txBody>
      </p:sp>
      <p:sp>
        <p:nvSpPr>
          <p:cNvPr id="28" name="Text 26"/>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8</a:t>
            </a:r>
            <a:endParaRPr lang="en-US" sz="700" dirty="0"/>
          </a:p>
        </p:txBody>
      </p:sp>
      <p:sp>
        <p:nvSpPr>
          <p:cNvPr id="29" name="Text 27">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رقبا و رهبران جهانی؛ Benchmark اثبات Demand نیست</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Benchmark به ما مکانیزم می‌دهد، نه Validation برای خانومی.</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Market</a:t>
            </a:r>
            <a:endParaRPr lang="en-US" sz="800" dirty="0"/>
          </a:p>
        </p:txBody>
      </p:sp>
      <p:sp>
        <p:nvSpPr>
          <p:cNvPr id="7" name="Shape 5"/>
          <p:cNvSpPr/>
          <p:nvPr/>
        </p:nvSpPr>
        <p:spPr>
          <a:xfrm>
            <a:off x="685800" y="1325880"/>
            <a:ext cx="3291840" cy="4297680"/>
          </a:xfrm>
          <a:prstGeom prst="roundRect">
            <a:avLst>
              <a:gd name="adj" fmla="val 3333"/>
            </a:avLst>
          </a:prstGeom>
          <a:solidFill>
            <a:srgbClr val="FFFFFF"/>
          </a:solidFill>
          <a:ln w="12700">
            <a:solidFill>
              <a:srgbClr val="E5E7EB"/>
            </a:solidFill>
            <a:prstDash val="solid"/>
          </a:ln>
        </p:spPr>
      </p:sp>
      <p:sp>
        <p:nvSpPr>
          <p:cNvPr id="8" name="Text 6"/>
          <p:cNvSpPr/>
          <p:nvPr/>
        </p:nvSpPr>
        <p:spPr>
          <a:xfrm>
            <a:off x="960120" y="1554480"/>
            <a:ext cx="274320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رقبای مستقیم/محلی</a:t>
            </a:r>
            <a:endParaRPr lang="en-US" sz="1300" dirty="0"/>
          </a:p>
        </p:txBody>
      </p:sp>
      <p:sp>
        <p:nvSpPr>
          <p:cNvPr id="9" name="Text 7"/>
          <p:cNvSpPr/>
          <p:nvPr/>
        </p:nvSpPr>
        <p:spPr>
          <a:xfrm>
            <a:off x="1097280" y="2148840"/>
            <a:ext cx="2377440" cy="822960"/>
          </a:xfrm>
          <a:prstGeom prst="rect">
            <a:avLst/>
          </a:prstGeom>
          <a:noFill/>
          <a:ln/>
        </p:spPr>
        <p:txBody>
          <a:bodyPr wrap="square" lIns="635" tIns="635" rIns="635" bIns="635" rtlCol="0" anchor="ctr">
            <a:normAutofit/>
          </a:bodyPr>
          <a:lstStyle/>
          <a:p>
            <a:pPr rtl="1" algn="ctr" indent="0" marL="0">
              <a:buNone/>
            </a:pPr>
            <a:r>
              <a:rPr lang="en-US" sz="1600" b="1" dirty="0">
                <a:solidFill>
                  <a:srgbClr val="E91E63"/>
                </a:solidFill>
                <a:latin typeface="Noto Sans Arabic" pitchFamily="34" charset="0"/>
                <a:ea typeface="Noto Sans Arabic" pitchFamily="34" charset="-122"/>
                <a:cs typeface="Noto Sans Arabic" pitchFamily="34" charset="-120"/>
              </a:rPr>
              <a:t>روژا</a:t>
            </a:r>
            <a:endParaRPr lang="en-US" sz="1600" dirty="0"/>
          </a:p>
          <a:p>
            <a:pPr rtl="1" algn="ctr" indent="0" marL="0">
              <a:buNone/>
            </a:pPr>
            <a:r>
              <a:rPr lang="en-US" sz="1600" b="1" dirty="0">
                <a:solidFill>
                  <a:srgbClr val="E91E63"/>
                </a:solidFill>
                <a:latin typeface="Noto Sans Arabic" pitchFamily="34" charset="0"/>
                <a:ea typeface="Noto Sans Arabic" pitchFamily="34" charset="-122"/>
                <a:cs typeface="Noto Sans Arabic" pitchFamily="34" charset="-120"/>
              </a:rPr>
              <a:t>الانزا</a:t>
            </a:r>
            <a:endParaRPr lang="en-US" sz="1600" dirty="0"/>
          </a:p>
          <a:p>
            <a:pPr rtl="1" algn="ctr" indent="0" marL="0">
              <a:buNone/>
            </a:pPr>
            <a:r>
              <a:rPr lang="en-US" sz="1600" b="1" dirty="0">
                <a:solidFill>
                  <a:srgbClr val="E91E63"/>
                </a:solidFill>
                <a:latin typeface="Noto Sans Arabic" pitchFamily="34" charset="0"/>
                <a:ea typeface="Noto Sans Arabic" pitchFamily="34" charset="-122"/>
                <a:cs typeface="Noto Sans Arabic" pitchFamily="34" charset="-120"/>
              </a:rPr>
              <a:t>مو تن رو</a:t>
            </a:r>
            <a:endParaRPr lang="en-US" sz="1600" dirty="0"/>
          </a:p>
        </p:txBody>
      </p:sp>
      <p:sp>
        <p:nvSpPr>
          <p:cNvPr id="10" name="Text 8"/>
          <p:cNvSpPr/>
          <p:nvPr/>
        </p:nvSpPr>
        <p:spPr>
          <a:xfrm>
            <a:off x="1005840" y="3749040"/>
            <a:ext cx="2651760" cy="201168"/>
          </a:xfrm>
          <a:prstGeom prst="rect">
            <a:avLst/>
          </a:prstGeom>
          <a:noFill/>
          <a:ln/>
        </p:spPr>
        <p:txBody>
          <a:bodyPr wrap="square" lIns="635" tIns="635" rIns="635" bIns="635" rtlCol="0" anchor="ctr">
            <a:normAutofit/>
          </a:bodyPr>
          <a:lstStyle/>
          <a:p>
            <a:pPr rtl="1" algn="ctr" indent="0" marL="0">
              <a:buNone/>
            </a:pPr>
            <a:r>
              <a:rPr lang="en-US" sz="800" dirty="0">
                <a:solidFill>
                  <a:srgbClr val="6B7280"/>
                </a:solidFill>
                <a:latin typeface="Noto Sans Arabic" pitchFamily="34" charset="0"/>
                <a:ea typeface="Noto Sans Arabic" pitchFamily="34" charset="-122"/>
                <a:cs typeface="Noto Sans Arabic" pitchFamily="34" charset="-120"/>
              </a:rPr>
              <a:t>Beauty specialist commerce</a:t>
            </a:r>
            <a:endParaRPr lang="en-US" sz="800" dirty="0"/>
          </a:p>
        </p:txBody>
      </p:sp>
      <p:sp>
        <p:nvSpPr>
          <p:cNvPr id="11" name="Shape 9"/>
          <p:cNvSpPr/>
          <p:nvPr/>
        </p:nvSpPr>
        <p:spPr>
          <a:xfrm>
            <a:off x="4434840" y="1325880"/>
            <a:ext cx="3291840" cy="4297680"/>
          </a:xfrm>
          <a:prstGeom prst="roundRect">
            <a:avLst>
              <a:gd name="adj" fmla="val 3333"/>
            </a:avLst>
          </a:prstGeom>
          <a:solidFill>
            <a:srgbClr val="FFF5F8"/>
          </a:solidFill>
          <a:ln w="12700">
            <a:solidFill>
              <a:srgbClr val="FCE4EC"/>
            </a:solidFill>
            <a:prstDash val="solid"/>
          </a:ln>
        </p:spPr>
      </p:sp>
      <p:sp>
        <p:nvSpPr>
          <p:cNvPr id="12" name="Text 10"/>
          <p:cNvSpPr/>
          <p:nvPr/>
        </p:nvSpPr>
        <p:spPr>
          <a:xfrm>
            <a:off x="4709160" y="1554480"/>
            <a:ext cx="274320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Substituteها</a:t>
            </a:r>
            <a:endParaRPr lang="en-US" sz="1300" dirty="0"/>
          </a:p>
        </p:txBody>
      </p:sp>
      <p:sp>
        <p:nvSpPr>
          <p:cNvPr id="13" name="Text 11"/>
          <p:cNvSpPr/>
          <p:nvPr/>
        </p:nvSpPr>
        <p:spPr>
          <a:xfrm>
            <a:off x="4681728" y="2057400"/>
            <a:ext cx="2788920" cy="1051560"/>
          </a:xfrm>
          <a:prstGeom prst="rect">
            <a:avLst/>
          </a:prstGeom>
          <a:noFill/>
          <a:ln/>
        </p:spPr>
        <p:txBody>
          <a:bodyPr wrap="square" lIns="635" tIns="635" rIns="635" bIns="635" rtlCol="0" anchor="ctr">
            <a:normAutofit/>
          </a:bodyPr>
          <a:lstStyle/>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داروخانه</a:t>
            </a:r>
            <a:endParaRPr lang="en-US" sz="1400" dirty="0"/>
          </a:p>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فروشگاه فیزیکی</a:t>
            </a:r>
            <a:endParaRPr lang="en-US" sz="1400" dirty="0"/>
          </a:p>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دیجی‌کالا</a:t>
            </a:r>
            <a:endParaRPr lang="en-US" sz="1400" dirty="0"/>
          </a:p>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Social / Influencer</a:t>
            </a:r>
            <a:endParaRPr lang="en-US" sz="1400" dirty="0"/>
          </a:p>
        </p:txBody>
      </p:sp>
      <p:sp>
        <p:nvSpPr>
          <p:cNvPr id="14" name="Text 12"/>
          <p:cNvSpPr/>
          <p:nvPr/>
        </p:nvSpPr>
        <p:spPr>
          <a:xfrm>
            <a:off x="4709160" y="3657600"/>
            <a:ext cx="2697480" cy="393192"/>
          </a:xfrm>
          <a:prstGeom prst="rect">
            <a:avLst/>
          </a:prstGeom>
          <a:noFill/>
          <a:ln/>
        </p:spPr>
        <p:txBody>
          <a:bodyPr wrap="square" lIns="635" tIns="635" rIns="635" bIns="635" rtlCol="0" anchor="ctr">
            <a:normAutofit/>
          </a:bodyPr>
          <a:lstStyle/>
          <a:p>
            <a:pPr rtl="1" algn="ctr" indent="0" marL="0">
              <a:buNone/>
            </a:pPr>
            <a:r>
              <a:rPr lang="en-US" sz="850" dirty="0">
                <a:solidFill>
                  <a:srgbClr val="6B7280"/>
                </a:solidFill>
                <a:latin typeface="Noto Sans Arabic" pitchFamily="34" charset="0"/>
                <a:ea typeface="Noto Sans Arabic" pitchFamily="34" charset="-122"/>
                <a:cs typeface="Noto Sans Arabic" pitchFamily="34" charset="-120"/>
              </a:rPr>
              <a:t>جایی که کاربر برای اعتماد/مشاوره/موجودی می‌رود</a:t>
            </a:r>
            <a:endParaRPr lang="en-US" sz="850" dirty="0"/>
          </a:p>
        </p:txBody>
      </p:sp>
      <p:sp>
        <p:nvSpPr>
          <p:cNvPr id="15" name="Shape 13"/>
          <p:cNvSpPr/>
          <p:nvPr/>
        </p:nvSpPr>
        <p:spPr>
          <a:xfrm>
            <a:off x="8183880" y="1325880"/>
            <a:ext cx="3291840" cy="4297680"/>
          </a:xfrm>
          <a:prstGeom prst="roundRect">
            <a:avLst>
              <a:gd name="adj" fmla="val 3333"/>
            </a:avLst>
          </a:prstGeom>
          <a:solidFill>
            <a:srgbClr val="FFFFFF"/>
          </a:solidFill>
          <a:ln w="12700">
            <a:solidFill>
              <a:srgbClr val="E5E7EB"/>
            </a:solidFill>
            <a:prstDash val="solid"/>
          </a:ln>
        </p:spPr>
      </p:sp>
      <p:sp>
        <p:nvSpPr>
          <p:cNvPr id="16" name="Text 14"/>
          <p:cNvSpPr/>
          <p:nvPr/>
        </p:nvSpPr>
        <p:spPr>
          <a:xfrm>
            <a:off x="8458200" y="1554480"/>
            <a:ext cx="274320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رهبران جهانی</a:t>
            </a:r>
            <a:endParaRPr lang="en-US" sz="1300" dirty="0"/>
          </a:p>
        </p:txBody>
      </p:sp>
      <p:sp>
        <p:nvSpPr>
          <p:cNvPr id="17" name="Text 15"/>
          <p:cNvSpPr/>
          <p:nvPr/>
        </p:nvSpPr>
        <p:spPr>
          <a:xfrm>
            <a:off x="8430768" y="2057400"/>
            <a:ext cx="2788920" cy="1051560"/>
          </a:xfrm>
          <a:prstGeom prst="rect">
            <a:avLst/>
          </a:prstGeom>
          <a:noFill/>
          <a:ln/>
        </p:spPr>
        <p:txBody>
          <a:bodyPr wrap="square" lIns="635" tIns="635" rIns="635" bIns="635" rtlCol="0" anchor="ctr">
            <a:normAutofit/>
          </a:bodyPr>
          <a:lstStyle/>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Sephora</a:t>
            </a:r>
            <a:endParaRPr lang="en-US" sz="1400" dirty="0"/>
          </a:p>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Ulta</a:t>
            </a:r>
            <a:endParaRPr lang="en-US" sz="1400" dirty="0"/>
          </a:p>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Nykaa</a:t>
            </a:r>
            <a:endParaRPr lang="en-US" sz="1400" dirty="0"/>
          </a:p>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Lookfantastic</a:t>
            </a:r>
            <a:endParaRPr lang="en-US" sz="1400" dirty="0"/>
          </a:p>
        </p:txBody>
      </p:sp>
      <p:sp>
        <p:nvSpPr>
          <p:cNvPr id="18" name="Text 16"/>
          <p:cNvSpPr/>
          <p:nvPr/>
        </p:nvSpPr>
        <p:spPr>
          <a:xfrm>
            <a:off x="8458200" y="3611880"/>
            <a:ext cx="2697480" cy="457200"/>
          </a:xfrm>
          <a:prstGeom prst="rect">
            <a:avLst/>
          </a:prstGeom>
          <a:noFill/>
          <a:ln/>
        </p:spPr>
        <p:txBody>
          <a:bodyPr wrap="square" lIns="635" tIns="635" rIns="635" bIns="635" rtlCol="0" anchor="ctr">
            <a:normAutofit/>
          </a:bodyPr>
          <a:lstStyle/>
          <a:p>
            <a:pPr rtl="1" algn="ctr" indent="0" marL="0">
              <a:buNone/>
            </a:pPr>
            <a:r>
              <a:rPr lang="en-US" sz="850" dirty="0">
                <a:solidFill>
                  <a:srgbClr val="6B7280"/>
                </a:solidFill>
                <a:latin typeface="Noto Sans Arabic" pitchFamily="34" charset="0"/>
                <a:ea typeface="Noto Sans Arabic" pitchFamily="34" charset="-122"/>
                <a:cs typeface="Noto Sans Arabic" pitchFamily="34" charset="-120"/>
              </a:rPr>
              <a:t>Assortment + Content + Guidance + Personalization + Loyalty</a:t>
            </a:r>
            <a:endParaRPr lang="en-US" sz="850" dirty="0"/>
          </a:p>
        </p:txBody>
      </p:sp>
      <p:sp>
        <p:nvSpPr>
          <p:cNvPr id="19" name="Text 17"/>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9</a:t>
            </a:r>
            <a:endParaRPr lang="en-US" sz="700" dirty="0"/>
          </a:p>
        </p:txBody>
      </p:sp>
      <p:sp>
        <p:nvSpPr>
          <p:cNvPr id="20" name="Text 18">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از مسئله تا فرصت و انتخاب Feature</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این نقطه ستون فقرات روایت پروژه است.</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Opportunity</a:t>
            </a:r>
            <a:endParaRPr lang="en-US" sz="800" dirty="0"/>
          </a:p>
        </p:txBody>
      </p:sp>
      <p:sp>
        <p:nvSpPr>
          <p:cNvPr id="7" name="Shape 5"/>
          <p:cNvSpPr/>
          <p:nvPr/>
        </p:nvSpPr>
        <p:spPr>
          <a:xfrm>
            <a:off x="731520" y="1828800"/>
            <a:ext cx="2331720" cy="1115568"/>
          </a:xfrm>
          <a:prstGeom prst="roundRect">
            <a:avLst>
              <a:gd name="adj" fmla="val 9836"/>
            </a:avLst>
          </a:prstGeom>
          <a:solidFill>
            <a:srgbClr val="FFFFFF"/>
          </a:solidFill>
          <a:ln w="12700">
            <a:solidFill>
              <a:srgbClr val="E5E7EB"/>
            </a:solidFill>
            <a:prstDash val="solid"/>
          </a:ln>
        </p:spPr>
      </p:sp>
      <p:sp>
        <p:nvSpPr>
          <p:cNvPr id="8" name="Text 6"/>
          <p:cNvSpPr/>
          <p:nvPr/>
        </p:nvSpPr>
        <p:spPr>
          <a:xfrm>
            <a:off x="868680" y="1993392"/>
            <a:ext cx="2057400" cy="164592"/>
          </a:xfrm>
          <a:prstGeom prst="rect">
            <a:avLst/>
          </a:prstGeom>
          <a:noFill/>
          <a:ln/>
        </p:spPr>
        <p:txBody>
          <a:bodyPr wrap="square" lIns="635" tIns="635" rIns="635" bIns="635" rtlCol="0" anchor="ctr">
            <a:normAutofit/>
          </a:bodyPr>
          <a:lstStyle/>
          <a:p>
            <a:pPr algn="ctr" indent="0" marL="0">
              <a:buNone/>
            </a:pPr>
            <a:r>
              <a:rPr lang="en-US" sz="800" dirty="0">
                <a:solidFill>
                  <a:srgbClr val="6B7280"/>
                </a:solidFill>
                <a:latin typeface="Noto Sans Arabic" pitchFamily="34" charset="0"/>
                <a:ea typeface="Noto Sans Arabic" pitchFamily="34" charset="-122"/>
                <a:cs typeface="Noto Sans Arabic" pitchFamily="34" charset="-120"/>
              </a:rPr>
              <a:t>Problem</a:t>
            </a:r>
            <a:endParaRPr lang="en-US" sz="800" dirty="0"/>
          </a:p>
        </p:txBody>
      </p:sp>
      <p:sp>
        <p:nvSpPr>
          <p:cNvPr id="9" name="Text 7"/>
          <p:cNvSpPr/>
          <p:nvPr/>
        </p:nvSpPr>
        <p:spPr>
          <a:xfrm>
            <a:off x="841248" y="2331720"/>
            <a:ext cx="2112264" cy="411480"/>
          </a:xfrm>
          <a:prstGeom prst="rect">
            <a:avLst/>
          </a:prstGeom>
          <a:noFill/>
          <a:ln/>
        </p:spPr>
        <p:txBody>
          <a:bodyPr wrap="square" lIns="635" tIns="635" rIns="635" bIns="635" rtlCol="0" anchor="ctr">
            <a:normAutofit/>
          </a:bodyPr>
          <a:lstStyle/>
          <a:p>
            <a:pPr rtl="1"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عدم اطمینان پیش از خرید</a:t>
            </a:r>
            <a:endParaRPr lang="en-US" sz="1200" dirty="0"/>
          </a:p>
        </p:txBody>
      </p:sp>
      <p:sp>
        <p:nvSpPr>
          <p:cNvPr id="10" name="Shape 8"/>
          <p:cNvSpPr/>
          <p:nvPr/>
        </p:nvSpPr>
        <p:spPr>
          <a:xfrm>
            <a:off x="3090672" y="2395728"/>
            <a:ext cx="310896" cy="0"/>
          </a:xfrm>
          <a:prstGeom prst="line">
            <a:avLst/>
          </a:prstGeom>
          <a:noFill/>
          <a:ln w="22860">
            <a:solidFill>
              <a:srgbClr val="E91E63"/>
            </a:solidFill>
            <a:prstDash val="solid"/>
            <a:headEnd type="none"/>
            <a:tailEnd type="triangle"/>
          </a:ln>
        </p:spPr>
      </p:sp>
      <p:sp>
        <p:nvSpPr>
          <p:cNvPr id="11" name="Shape 9"/>
          <p:cNvSpPr/>
          <p:nvPr/>
        </p:nvSpPr>
        <p:spPr>
          <a:xfrm>
            <a:off x="3520440" y="1828800"/>
            <a:ext cx="2331720" cy="1115568"/>
          </a:xfrm>
          <a:prstGeom prst="roundRect">
            <a:avLst>
              <a:gd name="adj" fmla="val 9836"/>
            </a:avLst>
          </a:prstGeom>
          <a:solidFill>
            <a:srgbClr val="FFFFFF"/>
          </a:solidFill>
          <a:ln w="12700">
            <a:solidFill>
              <a:srgbClr val="E5E7EB"/>
            </a:solidFill>
            <a:prstDash val="solid"/>
          </a:ln>
        </p:spPr>
      </p:sp>
      <p:sp>
        <p:nvSpPr>
          <p:cNvPr id="12" name="Text 10"/>
          <p:cNvSpPr/>
          <p:nvPr/>
        </p:nvSpPr>
        <p:spPr>
          <a:xfrm>
            <a:off x="3657600" y="1993392"/>
            <a:ext cx="2057400" cy="164592"/>
          </a:xfrm>
          <a:prstGeom prst="rect">
            <a:avLst/>
          </a:prstGeom>
          <a:noFill/>
          <a:ln/>
        </p:spPr>
        <p:txBody>
          <a:bodyPr wrap="square" lIns="635" tIns="635" rIns="635" bIns="635" rtlCol="0" anchor="ctr">
            <a:normAutofit/>
          </a:bodyPr>
          <a:lstStyle/>
          <a:p>
            <a:pPr algn="ctr" indent="0" marL="0">
              <a:buNone/>
            </a:pPr>
            <a:r>
              <a:rPr lang="en-US" sz="800" dirty="0">
                <a:solidFill>
                  <a:srgbClr val="6B7280"/>
                </a:solidFill>
                <a:latin typeface="Noto Sans Arabic" pitchFamily="34" charset="0"/>
                <a:ea typeface="Noto Sans Arabic" pitchFamily="34" charset="-122"/>
                <a:cs typeface="Noto Sans Arabic" pitchFamily="34" charset="-120"/>
              </a:rPr>
              <a:t>Opportunity</a:t>
            </a:r>
            <a:endParaRPr lang="en-US" sz="800" dirty="0"/>
          </a:p>
        </p:txBody>
      </p:sp>
      <p:sp>
        <p:nvSpPr>
          <p:cNvPr id="13" name="Text 11"/>
          <p:cNvSpPr/>
          <p:nvPr/>
        </p:nvSpPr>
        <p:spPr>
          <a:xfrm>
            <a:off x="3630168" y="2331720"/>
            <a:ext cx="2112264" cy="411480"/>
          </a:xfrm>
          <a:prstGeom prst="rect">
            <a:avLst/>
          </a:prstGeom>
          <a:noFill/>
          <a:ln/>
        </p:spPr>
        <p:txBody>
          <a:bodyPr wrap="square" lIns="635" tIns="635" rIns="635" bIns="635" rtlCol="0" anchor="ctr">
            <a:normAutofit/>
          </a:bodyPr>
          <a:lstStyle/>
          <a:p>
            <a:pPr rtl="1"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کاهش ابهام انتخاب محصول</a:t>
            </a:r>
            <a:endParaRPr lang="en-US" sz="1200" dirty="0"/>
          </a:p>
        </p:txBody>
      </p:sp>
      <p:sp>
        <p:nvSpPr>
          <p:cNvPr id="14" name="Shape 12"/>
          <p:cNvSpPr/>
          <p:nvPr/>
        </p:nvSpPr>
        <p:spPr>
          <a:xfrm>
            <a:off x="5879592" y="2395728"/>
            <a:ext cx="310896" cy="0"/>
          </a:xfrm>
          <a:prstGeom prst="line">
            <a:avLst/>
          </a:prstGeom>
          <a:noFill/>
          <a:ln w="22860">
            <a:solidFill>
              <a:srgbClr val="E91E63"/>
            </a:solidFill>
            <a:prstDash val="solid"/>
            <a:headEnd type="none"/>
            <a:tailEnd type="triangle"/>
          </a:ln>
        </p:spPr>
      </p:sp>
      <p:sp>
        <p:nvSpPr>
          <p:cNvPr id="15" name="Shape 13"/>
          <p:cNvSpPr/>
          <p:nvPr/>
        </p:nvSpPr>
        <p:spPr>
          <a:xfrm>
            <a:off x="6309360" y="1828800"/>
            <a:ext cx="2331720" cy="1115568"/>
          </a:xfrm>
          <a:prstGeom prst="roundRect">
            <a:avLst>
              <a:gd name="adj" fmla="val 9836"/>
            </a:avLst>
          </a:prstGeom>
          <a:solidFill>
            <a:srgbClr val="FCE4EC"/>
          </a:solidFill>
          <a:ln w="12700">
            <a:solidFill>
              <a:srgbClr val="E91E63"/>
            </a:solidFill>
            <a:prstDash val="solid"/>
          </a:ln>
        </p:spPr>
      </p:sp>
      <p:sp>
        <p:nvSpPr>
          <p:cNvPr id="16" name="Text 14"/>
          <p:cNvSpPr/>
          <p:nvPr/>
        </p:nvSpPr>
        <p:spPr>
          <a:xfrm>
            <a:off x="6446520" y="1993392"/>
            <a:ext cx="2057400" cy="164592"/>
          </a:xfrm>
          <a:prstGeom prst="rect">
            <a:avLst/>
          </a:prstGeom>
          <a:noFill/>
          <a:ln/>
        </p:spPr>
        <p:txBody>
          <a:bodyPr wrap="square" lIns="635" tIns="635" rIns="635" bIns="635" rtlCol="0" anchor="ctr">
            <a:normAutofit/>
          </a:bodyPr>
          <a:lstStyle/>
          <a:p>
            <a:pPr algn="ctr" indent="0" marL="0">
              <a:buNone/>
            </a:pPr>
            <a:r>
              <a:rPr lang="en-US" sz="800" dirty="0">
                <a:solidFill>
                  <a:srgbClr val="6B7280"/>
                </a:solidFill>
                <a:latin typeface="Noto Sans Arabic" pitchFamily="34" charset="0"/>
                <a:ea typeface="Noto Sans Arabic" pitchFamily="34" charset="-122"/>
                <a:cs typeface="Noto Sans Arabic" pitchFamily="34" charset="-120"/>
              </a:rPr>
              <a:t>Feature Candidate</a:t>
            </a:r>
            <a:endParaRPr lang="en-US" sz="800" dirty="0"/>
          </a:p>
        </p:txBody>
      </p:sp>
      <p:sp>
        <p:nvSpPr>
          <p:cNvPr id="17" name="Text 15"/>
          <p:cNvSpPr/>
          <p:nvPr/>
        </p:nvSpPr>
        <p:spPr>
          <a:xfrm>
            <a:off x="6419088" y="2331720"/>
            <a:ext cx="2112264" cy="411480"/>
          </a:xfrm>
          <a:prstGeom prst="rect">
            <a:avLst/>
          </a:prstGeom>
          <a:noFill/>
          <a:ln/>
        </p:spPr>
        <p:txBody>
          <a:bodyPr wrap="square" lIns="635" tIns="635" rIns="635" bIns="635" rtlCol="0" anchor="ctr">
            <a:normAutofit/>
          </a:bodyPr>
          <a:lstStyle/>
          <a:p>
            <a:pPr rtl="1" algn="ctr" indent="0" marL="0">
              <a:buNone/>
            </a:pPr>
            <a:r>
              <a:rPr lang="en-US" sz="1200" b="1" dirty="0">
                <a:solidFill>
                  <a:srgbClr val="E91E63"/>
                </a:solidFill>
                <a:latin typeface="Noto Sans Arabic" pitchFamily="34" charset="0"/>
                <a:ea typeface="Noto Sans Arabic" pitchFamily="34" charset="-122"/>
                <a:cs typeface="Noto Sans Arabic" pitchFamily="34" charset="-120"/>
              </a:rPr>
              <a:t>دستیار هدایت‌شده انتخاب محصول</a:t>
            </a:r>
            <a:endParaRPr lang="en-US" sz="1200" dirty="0"/>
          </a:p>
        </p:txBody>
      </p:sp>
      <p:sp>
        <p:nvSpPr>
          <p:cNvPr id="18" name="Shape 16"/>
          <p:cNvSpPr/>
          <p:nvPr/>
        </p:nvSpPr>
        <p:spPr>
          <a:xfrm>
            <a:off x="8668512" y="2395728"/>
            <a:ext cx="310896" cy="0"/>
          </a:xfrm>
          <a:prstGeom prst="line">
            <a:avLst/>
          </a:prstGeom>
          <a:noFill/>
          <a:ln w="22860">
            <a:solidFill>
              <a:srgbClr val="E91E63"/>
            </a:solidFill>
            <a:prstDash val="solid"/>
            <a:headEnd type="none"/>
            <a:tailEnd type="triangle"/>
          </a:ln>
        </p:spPr>
      </p:sp>
      <p:sp>
        <p:nvSpPr>
          <p:cNvPr id="19" name="Shape 17"/>
          <p:cNvSpPr/>
          <p:nvPr/>
        </p:nvSpPr>
        <p:spPr>
          <a:xfrm>
            <a:off x="9098280" y="1828800"/>
            <a:ext cx="2331720" cy="1115568"/>
          </a:xfrm>
          <a:prstGeom prst="roundRect">
            <a:avLst>
              <a:gd name="adj" fmla="val 9836"/>
            </a:avLst>
          </a:prstGeom>
          <a:solidFill>
            <a:srgbClr val="FFFFFF"/>
          </a:solidFill>
          <a:ln w="12700">
            <a:solidFill>
              <a:srgbClr val="E5E7EB"/>
            </a:solidFill>
            <a:prstDash val="solid"/>
          </a:ln>
        </p:spPr>
      </p:sp>
      <p:sp>
        <p:nvSpPr>
          <p:cNvPr id="20" name="Text 18"/>
          <p:cNvSpPr/>
          <p:nvPr/>
        </p:nvSpPr>
        <p:spPr>
          <a:xfrm>
            <a:off x="9235440" y="1993392"/>
            <a:ext cx="2057400" cy="164592"/>
          </a:xfrm>
          <a:prstGeom prst="rect">
            <a:avLst/>
          </a:prstGeom>
          <a:noFill/>
          <a:ln/>
        </p:spPr>
        <p:txBody>
          <a:bodyPr wrap="square" lIns="635" tIns="635" rIns="635" bIns="635" rtlCol="0" anchor="ctr">
            <a:normAutofit/>
          </a:bodyPr>
          <a:lstStyle/>
          <a:p>
            <a:pPr algn="ctr" indent="0" marL="0">
              <a:buNone/>
            </a:pPr>
            <a:r>
              <a:rPr lang="en-US" sz="800" dirty="0">
                <a:solidFill>
                  <a:srgbClr val="6B7280"/>
                </a:solidFill>
                <a:latin typeface="Noto Sans Arabic" pitchFamily="34" charset="0"/>
                <a:ea typeface="Noto Sans Arabic" pitchFamily="34" charset="-122"/>
                <a:cs typeface="Noto Sans Arabic" pitchFamily="34" charset="-120"/>
              </a:rPr>
              <a:t>MVP</a:t>
            </a:r>
            <a:endParaRPr lang="en-US" sz="800" dirty="0"/>
          </a:p>
        </p:txBody>
      </p:sp>
      <p:sp>
        <p:nvSpPr>
          <p:cNvPr id="21" name="Text 19"/>
          <p:cNvSpPr/>
          <p:nvPr/>
        </p:nvSpPr>
        <p:spPr>
          <a:xfrm>
            <a:off x="9208008" y="2331720"/>
            <a:ext cx="2112264" cy="411480"/>
          </a:xfrm>
          <a:prstGeom prst="rect">
            <a:avLst/>
          </a:prstGeom>
          <a:noFill/>
          <a:ln/>
        </p:spPr>
        <p:txBody>
          <a:bodyPr wrap="square" lIns="635" tIns="635" rIns="635" bIns="635" rtlCol="0" anchor="ctr">
            <a:normAutofit/>
          </a:bodyPr>
          <a:lstStyle/>
          <a:p>
            <a:pPr rtl="1"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Fake Door → Concierge → Rule-based</a:t>
            </a:r>
            <a:endParaRPr lang="en-US" sz="1200" dirty="0"/>
          </a:p>
        </p:txBody>
      </p:sp>
      <p:sp>
        <p:nvSpPr>
          <p:cNvPr id="22" name="Shape 20"/>
          <p:cNvSpPr/>
          <p:nvPr/>
        </p:nvSpPr>
        <p:spPr>
          <a:xfrm>
            <a:off x="914400" y="3931920"/>
            <a:ext cx="4846320" cy="1371600"/>
          </a:xfrm>
          <a:prstGeom prst="roundRect">
            <a:avLst>
              <a:gd name="adj" fmla="val 8000"/>
            </a:avLst>
          </a:prstGeom>
          <a:solidFill>
            <a:srgbClr val="FFFFFF"/>
          </a:solidFill>
          <a:ln w="12700">
            <a:solidFill>
              <a:srgbClr val="E5E7EB"/>
            </a:solidFill>
            <a:prstDash val="solid"/>
          </a:ln>
        </p:spPr>
      </p:sp>
      <p:sp>
        <p:nvSpPr>
          <p:cNvPr id="23" name="Text 21"/>
          <p:cNvSpPr/>
          <p:nvPr/>
        </p:nvSpPr>
        <p:spPr>
          <a:xfrm>
            <a:off x="1188720" y="4133088"/>
            <a:ext cx="4297680" cy="210312"/>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چرا این فیچر؟</a:t>
            </a:r>
            <a:endParaRPr lang="en-US" sz="1300" dirty="0"/>
          </a:p>
        </p:txBody>
      </p:sp>
      <p:sp>
        <p:nvSpPr>
          <p:cNvPr id="24" name="Text 22"/>
          <p:cNvSpPr/>
          <p:nvPr/>
        </p:nvSpPr>
        <p:spPr>
          <a:xfrm>
            <a:off x="1188720" y="4498848"/>
            <a:ext cx="4297680" cy="438912"/>
          </a:xfrm>
          <a:prstGeom prst="rect">
            <a:avLst/>
          </a:prstGeom>
          <a:noFill/>
          <a:ln/>
        </p:spPr>
        <p:txBody>
          <a:bodyPr wrap="square" lIns="635" tIns="635" rIns="635" bIns="635" rtlCol="0" anchor="ctr">
            <a:normAutofit/>
          </a:bodyPr>
          <a:lstStyle/>
          <a:p>
            <a:pPr rtl="1" algn="ctr" indent="0" marL="0">
              <a:buNone/>
            </a:pPr>
            <a:r>
              <a:rPr lang="en-US" sz="1100" dirty="0">
                <a:solidFill>
                  <a:srgbClr val="1F2937"/>
                </a:solidFill>
                <a:latin typeface="Noto Sans Arabic" pitchFamily="34" charset="0"/>
                <a:ea typeface="Noto Sans Arabic" pitchFamily="34" charset="-122"/>
                <a:cs typeface="Noto Sans Arabic" pitchFamily="34" charset="-120"/>
              </a:rPr>
              <a:t>Evidence Fit بالا، پوشش وسیع مسئله، نزدیکی به خرید، تست‌پذیری، هم‌راستایی با تخصصی‌بودن خانومی</a:t>
            </a:r>
            <a:endParaRPr lang="en-US" sz="1100" dirty="0"/>
          </a:p>
        </p:txBody>
      </p:sp>
      <p:sp>
        <p:nvSpPr>
          <p:cNvPr id="25" name="Shape 23"/>
          <p:cNvSpPr/>
          <p:nvPr/>
        </p:nvSpPr>
        <p:spPr>
          <a:xfrm>
            <a:off x="6400800" y="3931920"/>
            <a:ext cx="4846320" cy="1371600"/>
          </a:xfrm>
          <a:prstGeom prst="roundRect">
            <a:avLst>
              <a:gd name="adj" fmla="val 8000"/>
            </a:avLst>
          </a:prstGeom>
          <a:solidFill>
            <a:srgbClr val="FFF5F8"/>
          </a:solidFill>
          <a:ln w="12700">
            <a:solidFill>
              <a:srgbClr val="FCE4EC"/>
            </a:solidFill>
            <a:prstDash val="solid"/>
          </a:ln>
        </p:spPr>
      </p:sp>
      <p:sp>
        <p:nvSpPr>
          <p:cNvPr id="26" name="Text 24"/>
          <p:cNvSpPr/>
          <p:nvPr/>
        </p:nvSpPr>
        <p:spPr>
          <a:xfrm>
            <a:off x="6675120" y="4133088"/>
            <a:ext cx="4297680" cy="210312"/>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چه چیزی نیست؟</a:t>
            </a:r>
            <a:endParaRPr lang="en-US" sz="1300" dirty="0"/>
          </a:p>
        </p:txBody>
      </p:sp>
      <p:sp>
        <p:nvSpPr>
          <p:cNvPr id="27" name="Text 25"/>
          <p:cNvSpPr/>
          <p:nvPr/>
        </p:nvSpPr>
        <p:spPr>
          <a:xfrm>
            <a:off x="6675120" y="4498848"/>
            <a:ext cx="4297680" cy="438912"/>
          </a:xfrm>
          <a:prstGeom prst="rect">
            <a:avLst/>
          </a:prstGeom>
          <a:noFill/>
          <a:ln/>
        </p:spPr>
        <p:txBody>
          <a:bodyPr wrap="square" lIns="635" tIns="635" rIns="635" bIns="635" rtlCol="0" anchor="ctr">
            <a:normAutofit/>
          </a:bodyPr>
          <a:lstStyle/>
          <a:p>
            <a:pPr rtl="1" algn="ctr" indent="0" marL="0">
              <a:buNone/>
            </a:pPr>
            <a:r>
              <a:rPr lang="en-US" sz="1100" b="1" dirty="0">
                <a:solidFill>
                  <a:srgbClr val="C2185B"/>
                </a:solidFill>
                <a:latin typeface="Noto Sans Arabic" pitchFamily="34" charset="0"/>
                <a:ea typeface="Noto Sans Arabic" pitchFamily="34" charset="-122"/>
                <a:cs typeface="Noto Sans Arabic" pitchFamily="34" charset="-120"/>
              </a:rPr>
              <a:t>AI Feature نیست؛ AI فقط می‌تواند بعداً مکانیزم اجرا باشد. ارزش کاربر: تصمیم هدایت‌شده و قابل توضیح.</a:t>
            </a:r>
            <a:endParaRPr lang="en-US" sz="1100" dirty="0"/>
          </a:p>
        </p:txBody>
      </p:sp>
      <p:sp>
        <p:nvSpPr>
          <p:cNvPr id="28" name="Text 26"/>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10</a:t>
            </a:r>
            <a:endParaRPr lang="en-US" sz="700" dirty="0"/>
          </a:p>
        </p:txBody>
      </p:sp>
      <p:sp>
        <p:nvSpPr>
          <p:cNvPr id="29" name="Text 27">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DECAF؛ چطور جلوی اعتماد کاذب را گرفتیم؟</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هر جا عدد دادیم، گفتیم آن عدد چه محدودیتی دارد.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Decision Quality</a:t>
            </a:r>
            <a:endParaRPr lang="en-US" sz="800" dirty="0"/>
          </a:p>
        </p:txBody>
      </p:sp>
      <p:sp>
        <p:nvSpPr>
          <p:cNvPr id="7" name="Shape 5"/>
          <p:cNvSpPr/>
          <p:nvPr/>
        </p:nvSpPr>
        <p:spPr>
          <a:xfrm>
            <a:off x="685800" y="1417320"/>
            <a:ext cx="2331720" cy="685800"/>
          </a:xfrm>
          <a:prstGeom prst="roundRect">
            <a:avLst>
              <a:gd name="adj" fmla="val 16000"/>
            </a:avLst>
          </a:prstGeom>
          <a:solidFill>
            <a:srgbClr val="FFFFFF"/>
          </a:solidFill>
          <a:ln w="12700">
            <a:solidFill>
              <a:srgbClr val="E5E7EB"/>
            </a:solidFill>
            <a:prstDash val="solid"/>
          </a:ln>
        </p:spPr>
      </p:sp>
      <p:sp>
        <p:nvSpPr>
          <p:cNvPr id="8" name="Text 6"/>
          <p:cNvSpPr/>
          <p:nvPr/>
        </p:nvSpPr>
        <p:spPr>
          <a:xfrm>
            <a:off x="777240" y="1636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Required Data</a:t>
            </a:r>
            <a:endParaRPr lang="en-US" sz="1000" dirty="0"/>
          </a:p>
        </p:txBody>
      </p:sp>
      <p:sp>
        <p:nvSpPr>
          <p:cNvPr id="9" name="Shape 7"/>
          <p:cNvSpPr/>
          <p:nvPr/>
        </p:nvSpPr>
        <p:spPr>
          <a:xfrm>
            <a:off x="3474720" y="1417320"/>
            <a:ext cx="2331720" cy="685800"/>
          </a:xfrm>
          <a:prstGeom prst="roundRect">
            <a:avLst>
              <a:gd name="adj" fmla="val 16000"/>
            </a:avLst>
          </a:prstGeom>
          <a:solidFill>
            <a:srgbClr val="FFFFFF"/>
          </a:solidFill>
          <a:ln w="12700">
            <a:solidFill>
              <a:srgbClr val="E5E7EB"/>
            </a:solidFill>
            <a:prstDash val="solid"/>
          </a:ln>
        </p:spPr>
      </p:sp>
      <p:sp>
        <p:nvSpPr>
          <p:cNvPr id="10" name="Text 8"/>
          <p:cNvSpPr/>
          <p:nvPr/>
        </p:nvSpPr>
        <p:spPr>
          <a:xfrm>
            <a:off x="3566160" y="1636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Evidence Type</a:t>
            </a:r>
            <a:endParaRPr lang="en-US" sz="1000" dirty="0"/>
          </a:p>
        </p:txBody>
      </p:sp>
      <p:sp>
        <p:nvSpPr>
          <p:cNvPr id="11" name="Shape 9"/>
          <p:cNvSpPr/>
          <p:nvPr/>
        </p:nvSpPr>
        <p:spPr>
          <a:xfrm>
            <a:off x="6263640" y="1417320"/>
            <a:ext cx="2331720" cy="685800"/>
          </a:xfrm>
          <a:prstGeom prst="roundRect">
            <a:avLst>
              <a:gd name="adj" fmla="val 16000"/>
            </a:avLst>
          </a:prstGeom>
          <a:solidFill>
            <a:srgbClr val="FFFFFF"/>
          </a:solidFill>
          <a:ln w="12700">
            <a:solidFill>
              <a:srgbClr val="E5E7EB"/>
            </a:solidFill>
            <a:prstDash val="solid"/>
          </a:ln>
        </p:spPr>
      </p:sp>
      <p:sp>
        <p:nvSpPr>
          <p:cNvPr id="12" name="Text 10"/>
          <p:cNvSpPr/>
          <p:nvPr/>
        </p:nvSpPr>
        <p:spPr>
          <a:xfrm>
            <a:off x="6355080" y="1636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Triangulation</a:t>
            </a:r>
            <a:endParaRPr lang="en-US" sz="1000" dirty="0"/>
          </a:p>
        </p:txBody>
      </p:sp>
      <p:sp>
        <p:nvSpPr>
          <p:cNvPr id="13" name="Shape 11"/>
          <p:cNvSpPr/>
          <p:nvPr/>
        </p:nvSpPr>
        <p:spPr>
          <a:xfrm>
            <a:off x="9052560" y="1417320"/>
            <a:ext cx="2331720" cy="685800"/>
          </a:xfrm>
          <a:prstGeom prst="roundRect">
            <a:avLst>
              <a:gd name="adj" fmla="val 16000"/>
            </a:avLst>
          </a:prstGeom>
          <a:solidFill>
            <a:srgbClr val="FFFFFF"/>
          </a:solidFill>
          <a:ln w="12700">
            <a:solidFill>
              <a:srgbClr val="E5E7EB"/>
            </a:solidFill>
            <a:prstDash val="solid"/>
          </a:ln>
        </p:spPr>
      </p:sp>
      <p:sp>
        <p:nvSpPr>
          <p:cNvPr id="14" name="Text 12"/>
          <p:cNvSpPr/>
          <p:nvPr/>
        </p:nvSpPr>
        <p:spPr>
          <a:xfrm>
            <a:off x="9144000" y="1636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DC2626"/>
                </a:solidFill>
                <a:latin typeface="Noto Sans Arabic" pitchFamily="34" charset="0"/>
                <a:ea typeface="Noto Sans Arabic" pitchFamily="34" charset="-122"/>
                <a:cs typeface="Noto Sans Arabic" pitchFamily="34" charset="-120"/>
              </a:rPr>
              <a:t>Cap Rule</a:t>
            </a:r>
            <a:endParaRPr lang="en-US" sz="1000" dirty="0"/>
          </a:p>
        </p:txBody>
      </p:sp>
      <p:sp>
        <p:nvSpPr>
          <p:cNvPr id="15" name="Shape 13"/>
          <p:cNvSpPr/>
          <p:nvPr/>
        </p:nvSpPr>
        <p:spPr>
          <a:xfrm>
            <a:off x="685800" y="2560320"/>
            <a:ext cx="2331720" cy="685800"/>
          </a:xfrm>
          <a:prstGeom prst="roundRect">
            <a:avLst>
              <a:gd name="adj" fmla="val 16000"/>
            </a:avLst>
          </a:prstGeom>
          <a:solidFill>
            <a:srgbClr val="FFFFFF"/>
          </a:solidFill>
          <a:ln w="12700">
            <a:solidFill>
              <a:srgbClr val="E5E7EB"/>
            </a:solidFill>
            <a:prstDash val="solid"/>
          </a:ln>
        </p:spPr>
      </p:sp>
      <p:sp>
        <p:nvSpPr>
          <p:cNvPr id="16" name="Text 14"/>
          <p:cNvSpPr/>
          <p:nvPr/>
        </p:nvSpPr>
        <p:spPr>
          <a:xfrm>
            <a:off x="777240" y="2779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Sensitivity</a:t>
            </a:r>
            <a:endParaRPr lang="en-US" sz="1000" dirty="0"/>
          </a:p>
        </p:txBody>
      </p:sp>
      <p:sp>
        <p:nvSpPr>
          <p:cNvPr id="17" name="Shape 15"/>
          <p:cNvSpPr/>
          <p:nvPr/>
        </p:nvSpPr>
        <p:spPr>
          <a:xfrm>
            <a:off x="3474720" y="2560320"/>
            <a:ext cx="2331720" cy="685800"/>
          </a:xfrm>
          <a:prstGeom prst="roundRect">
            <a:avLst>
              <a:gd name="adj" fmla="val 16000"/>
            </a:avLst>
          </a:prstGeom>
          <a:solidFill>
            <a:srgbClr val="FFFFFF"/>
          </a:solidFill>
          <a:ln w="12700">
            <a:solidFill>
              <a:srgbClr val="E5E7EB"/>
            </a:solidFill>
            <a:prstDash val="solid"/>
          </a:ln>
        </p:spPr>
      </p:sp>
      <p:sp>
        <p:nvSpPr>
          <p:cNvPr id="18" name="Text 16"/>
          <p:cNvSpPr/>
          <p:nvPr/>
        </p:nvSpPr>
        <p:spPr>
          <a:xfrm>
            <a:off x="3566160" y="2779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VOI</a:t>
            </a:r>
            <a:endParaRPr lang="en-US" sz="1000" dirty="0"/>
          </a:p>
        </p:txBody>
      </p:sp>
      <p:sp>
        <p:nvSpPr>
          <p:cNvPr id="19" name="Shape 17"/>
          <p:cNvSpPr/>
          <p:nvPr/>
        </p:nvSpPr>
        <p:spPr>
          <a:xfrm>
            <a:off x="6263640" y="2560320"/>
            <a:ext cx="2331720" cy="685800"/>
          </a:xfrm>
          <a:prstGeom prst="roundRect">
            <a:avLst>
              <a:gd name="adj" fmla="val 16000"/>
            </a:avLst>
          </a:prstGeom>
          <a:solidFill>
            <a:srgbClr val="FFFFFF"/>
          </a:solidFill>
          <a:ln w="12700">
            <a:solidFill>
              <a:srgbClr val="E5E7EB"/>
            </a:solidFill>
            <a:prstDash val="solid"/>
          </a:ln>
        </p:spPr>
      </p:sp>
      <p:sp>
        <p:nvSpPr>
          <p:cNvPr id="20" name="Text 18"/>
          <p:cNvSpPr/>
          <p:nvPr/>
        </p:nvSpPr>
        <p:spPr>
          <a:xfrm>
            <a:off x="6355080" y="2779776"/>
            <a:ext cx="2148840" cy="164592"/>
          </a:xfrm>
          <a:prstGeom prst="rect">
            <a:avLst/>
          </a:prstGeom>
          <a:noFill/>
          <a:ln/>
        </p:spPr>
        <p:txBody>
          <a:bodyPr wrap="square" lIns="635" tIns="635" rIns="635" bIns="635" rtlCol="0" anchor="ctr">
            <a:normAutofit/>
          </a:bodyPr>
          <a:lstStyle/>
          <a:p>
            <a:pPr algn="ctr" indent="0" marL="0">
              <a:buNone/>
            </a:pPr>
            <a:r>
              <a:rPr lang="en-US" sz="1000" b="1" dirty="0">
                <a:solidFill>
                  <a:srgbClr val="14213D"/>
                </a:solidFill>
                <a:latin typeface="Noto Sans Arabic" pitchFamily="34" charset="0"/>
                <a:ea typeface="Noto Sans Arabic" pitchFamily="34" charset="-122"/>
                <a:cs typeface="Noto Sans Arabic" pitchFamily="34" charset="-120"/>
              </a:rPr>
              <a:t>Robustness</a:t>
            </a:r>
            <a:endParaRPr lang="en-US" sz="1000" dirty="0"/>
          </a:p>
        </p:txBody>
      </p:sp>
      <p:sp>
        <p:nvSpPr>
          <p:cNvPr id="21" name="Shape 19"/>
          <p:cNvSpPr/>
          <p:nvPr/>
        </p:nvSpPr>
        <p:spPr>
          <a:xfrm>
            <a:off x="960120" y="3977640"/>
            <a:ext cx="10287000" cy="1143000"/>
          </a:xfrm>
          <a:prstGeom prst="roundRect">
            <a:avLst>
              <a:gd name="adj" fmla="val 9600"/>
            </a:avLst>
          </a:prstGeom>
          <a:solidFill>
            <a:srgbClr val="FFF5F8"/>
          </a:solidFill>
          <a:ln w="12700">
            <a:solidFill>
              <a:srgbClr val="FCE4EC"/>
            </a:solidFill>
            <a:prstDash val="solid"/>
          </a:ln>
        </p:spPr>
      </p:sp>
      <p:sp>
        <p:nvSpPr>
          <p:cNvPr id="22" name="Text 20"/>
          <p:cNvSpPr/>
          <p:nvPr/>
        </p:nvSpPr>
        <p:spPr>
          <a:xfrm>
            <a:off x="1234440" y="4187952"/>
            <a:ext cx="9738360" cy="228600"/>
          </a:xfrm>
          <a:prstGeom prst="rect">
            <a:avLst/>
          </a:prstGeom>
          <a:noFill/>
          <a:ln/>
        </p:spPr>
        <p:txBody>
          <a:bodyPr wrap="square" lIns="635" tIns="635" rIns="635" bIns="635" rtlCol="0" anchor="ctr">
            <a:normAutofit/>
          </a:bodyPr>
          <a:lstStyle/>
          <a:p>
            <a:pPr rtl="1" algn="ctr" indent="0" marL="0">
              <a:buNone/>
            </a:pPr>
            <a:r>
              <a:rPr lang="en-US" sz="1400" b="1" dirty="0">
                <a:solidFill>
                  <a:srgbClr val="14213D"/>
                </a:solidFill>
                <a:latin typeface="Noto Sans Arabic" pitchFamily="34" charset="0"/>
                <a:ea typeface="Noto Sans Arabic" pitchFamily="34" charset="-122"/>
                <a:cs typeface="Noto Sans Arabic" pitchFamily="34" charset="-120"/>
              </a:rPr>
              <a:t>اصل مهم</a:t>
            </a:r>
            <a:endParaRPr lang="en-US" sz="1400" dirty="0"/>
          </a:p>
        </p:txBody>
      </p:sp>
      <p:sp>
        <p:nvSpPr>
          <p:cNvPr id="23" name="Text 21"/>
          <p:cNvSpPr/>
          <p:nvPr/>
        </p:nvSpPr>
        <p:spPr>
          <a:xfrm>
            <a:off x="1234440" y="4572000"/>
            <a:ext cx="9738360" cy="292608"/>
          </a:xfrm>
          <a:prstGeom prst="rect">
            <a:avLst/>
          </a:prstGeom>
          <a:noFill/>
          <a:ln/>
        </p:spPr>
        <p:txBody>
          <a:bodyPr wrap="square" lIns="635" tIns="635" rIns="635" bIns="635" rtlCol="0" anchor="ctr">
            <a:normAutofit/>
          </a:bodyPr>
          <a:lstStyle/>
          <a:p>
            <a:pPr rtl="1" algn="ctr" indent="0" marL="0">
              <a:buNone/>
            </a:pPr>
            <a:r>
              <a:rPr lang="en-US" sz="1400" b="1" dirty="0">
                <a:solidFill>
                  <a:srgbClr val="C2185B"/>
                </a:solidFill>
                <a:latin typeface="Noto Sans Arabic" pitchFamily="34" charset="0"/>
                <a:ea typeface="Noto Sans Arabic" pitchFamily="34" charset="-122"/>
                <a:cs typeface="Noto Sans Arabic" pitchFamily="34" charset="-120"/>
              </a:rPr>
              <a:t>اگر داده مفقود بتواند تصمیم را عوض کند، نمره Confidence سقف می‌خورد؛ حتی اگر سند خیلی زیبا نوشته شده باشد.</a:t>
            </a:r>
            <a:endParaRPr lang="en-US" sz="1400" dirty="0"/>
          </a:p>
        </p:txBody>
      </p:sp>
      <p:sp>
        <p:nvSpPr>
          <p:cNvPr id="24" name="Text 22"/>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11</a:t>
            </a:r>
            <a:endParaRPr lang="en-US" sz="700" dirty="0"/>
          </a:p>
        </p:txBody>
      </p:sp>
      <p:sp>
        <p:nvSpPr>
          <p:cNvPr id="25" name="Text 23">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MVP؛ کوچک‌ترین مسیر یادگیری قابل دفاع</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هدف MVP ساخت فیچر کامل نیست؛ یادگیری مرحله‌ای است.</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MVP</a:t>
            </a:r>
            <a:endParaRPr lang="en-US" sz="800" dirty="0"/>
          </a:p>
        </p:txBody>
      </p:sp>
      <p:sp>
        <p:nvSpPr>
          <p:cNvPr id="7" name="Shape 5"/>
          <p:cNvSpPr/>
          <p:nvPr/>
        </p:nvSpPr>
        <p:spPr>
          <a:xfrm>
            <a:off x="731520" y="1508760"/>
            <a:ext cx="2331720" cy="2926080"/>
          </a:xfrm>
          <a:prstGeom prst="roundRect">
            <a:avLst>
              <a:gd name="adj" fmla="val 4706"/>
            </a:avLst>
          </a:prstGeom>
          <a:solidFill>
            <a:srgbClr val="FFF5F8"/>
          </a:solidFill>
          <a:ln w="12700">
            <a:solidFill>
              <a:srgbClr val="FCE4EC"/>
            </a:solidFill>
            <a:prstDash val="solid"/>
          </a:ln>
        </p:spPr>
      </p:sp>
      <p:sp>
        <p:nvSpPr>
          <p:cNvPr id="8" name="Text 6"/>
          <p:cNvSpPr/>
          <p:nvPr/>
        </p:nvSpPr>
        <p:spPr>
          <a:xfrm>
            <a:off x="1600200" y="1737360"/>
            <a:ext cx="502920" cy="411480"/>
          </a:xfrm>
          <a:prstGeom prst="rect">
            <a:avLst/>
          </a:prstGeom>
          <a:noFill/>
          <a:ln/>
        </p:spPr>
        <p:txBody>
          <a:bodyPr wrap="square" lIns="635" tIns="635" rIns="635" bIns="635" rtlCol="0" anchor="ctr">
            <a:normAutofit/>
          </a:bodyPr>
          <a:lstStyle/>
          <a:p>
            <a:pPr algn="ctr" indent="0" marL="0">
              <a:buNone/>
            </a:pPr>
            <a:r>
              <a:rPr lang="en-US" sz="2200" b="1" dirty="0">
                <a:solidFill>
                  <a:srgbClr val="E91E63"/>
                </a:solidFill>
                <a:latin typeface="Noto Sans Arabic" pitchFamily="34" charset="0"/>
                <a:ea typeface="Noto Sans Arabic" pitchFamily="34" charset="-122"/>
                <a:cs typeface="Noto Sans Arabic" pitchFamily="34" charset="-120"/>
              </a:rPr>
              <a:t>0</a:t>
            </a:r>
            <a:endParaRPr lang="en-US" sz="2200" dirty="0"/>
          </a:p>
        </p:txBody>
      </p:sp>
      <p:sp>
        <p:nvSpPr>
          <p:cNvPr id="9" name="Text 7"/>
          <p:cNvSpPr/>
          <p:nvPr/>
        </p:nvSpPr>
        <p:spPr>
          <a:xfrm>
            <a:off x="914400" y="2331720"/>
            <a:ext cx="1965960" cy="292608"/>
          </a:xfrm>
          <a:prstGeom prst="rect">
            <a:avLst/>
          </a:prstGeom>
          <a:noFill/>
          <a:ln/>
        </p:spPr>
        <p:txBody>
          <a:bodyPr wrap="square" lIns="635" tIns="635" rIns="635" bIns="635" rtlCol="0" anchor="ctr">
            <a:normAutofit/>
          </a:bodyPr>
          <a:lstStyle/>
          <a:p>
            <a:pPr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Fake Door</a:t>
            </a:r>
            <a:endParaRPr lang="en-US" sz="1200" dirty="0"/>
          </a:p>
        </p:txBody>
      </p:sp>
      <p:sp>
        <p:nvSpPr>
          <p:cNvPr id="10" name="Text 8"/>
          <p:cNvSpPr/>
          <p:nvPr/>
        </p:nvSpPr>
        <p:spPr>
          <a:xfrm>
            <a:off x="914400" y="2926080"/>
            <a:ext cx="1965960" cy="50292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آیا کاربر اصلاً شروع می‌کند؟</a:t>
            </a:r>
            <a:endParaRPr lang="en-US" sz="1000" dirty="0"/>
          </a:p>
        </p:txBody>
      </p:sp>
      <p:sp>
        <p:nvSpPr>
          <p:cNvPr id="11" name="Shape 9"/>
          <p:cNvSpPr/>
          <p:nvPr/>
        </p:nvSpPr>
        <p:spPr>
          <a:xfrm>
            <a:off x="3108960" y="2834640"/>
            <a:ext cx="320040" cy="0"/>
          </a:xfrm>
          <a:prstGeom prst="line">
            <a:avLst/>
          </a:prstGeom>
          <a:noFill/>
          <a:ln w="22860">
            <a:solidFill>
              <a:srgbClr val="E91E63"/>
            </a:solidFill>
            <a:prstDash val="solid"/>
            <a:headEnd type="none"/>
            <a:tailEnd type="triangle"/>
          </a:ln>
        </p:spPr>
      </p:sp>
      <p:sp>
        <p:nvSpPr>
          <p:cNvPr id="12" name="Shape 10"/>
          <p:cNvSpPr/>
          <p:nvPr/>
        </p:nvSpPr>
        <p:spPr>
          <a:xfrm>
            <a:off x="3566160" y="1508760"/>
            <a:ext cx="2331720" cy="2926080"/>
          </a:xfrm>
          <a:prstGeom prst="roundRect">
            <a:avLst>
              <a:gd name="adj" fmla="val 4706"/>
            </a:avLst>
          </a:prstGeom>
          <a:solidFill>
            <a:srgbClr val="FFFFFF"/>
          </a:solidFill>
          <a:ln w="12700">
            <a:solidFill>
              <a:srgbClr val="E5E7EB"/>
            </a:solidFill>
            <a:prstDash val="solid"/>
          </a:ln>
        </p:spPr>
      </p:sp>
      <p:sp>
        <p:nvSpPr>
          <p:cNvPr id="13" name="Text 11"/>
          <p:cNvSpPr/>
          <p:nvPr/>
        </p:nvSpPr>
        <p:spPr>
          <a:xfrm>
            <a:off x="4434840" y="1737360"/>
            <a:ext cx="502920" cy="411480"/>
          </a:xfrm>
          <a:prstGeom prst="rect">
            <a:avLst/>
          </a:prstGeom>
          <a:noFill/>
          <a:ln/>
        </p:spPr>
        <p:txBody>
          <a:bodyPr wrap="square" lIns="635" tIns="635" rIns="635" bIns="635" rtlCol="0" anchor="ctr">
            <a:normAutofit/>
          </a:bodyPr>
          <a:lstStyle/>
          <a:p>
            <a:pPr algn="ctr" indent="0" marL="0">
              <a:buNone/>
            </a:pPr>
            <a:r>
              <a:rPr lang="en-US" sz="2200" b="1" dirty="0">
                <a:solidFill>
                  <a:srgbClr val="E91E63"/>
                </a:solidFill>
                <a:latin typeface="Noto Sans Arabic" pitchFamily="34" charset="0"/>
                <a:ea typeface="Noto Sans Arabic" pitchFamily="34" charset="-122"/>
                <a:cs typeface="Noto Sans Arabic" pitchFamily="34" charset="-120"/>
              </a:rPr>
              <a:t>1</a:t>
            </a:r>
            <a:endParaRPr lang="en-US" sz="2200" dirty="0"/>
          </a:p>
        </p:txBody>
      </p:sp>
      <p:sp>
        <p:nvSpPr>
          <p:cNvPr id="14" name="Text 12"/>
          <p:cNvSpPr/>
          <p:nvPr/>
        </p:nvSpPr>
        <p:spPr>
          <a:xfrm>
            <a:off x="3749040" y="2331720"/>
            <a:ext cx="1965960" cy="292608"/>
          </a:xfrm>
          <a:prstGeom prst="rect">
            <a:avLst/>
          </a:prstGeom>
          <a:noFill/>
          <a:ln/>
        </p:spPr>
        <p:txBody>
          <a:bodyPr wrap="square" lIns="635" tIns="635" rIns="635" bIns="635" rtlCol="0" anchor="ctr">
            <a:normAutofit/>
          </a:bodyPr>
          <a:lstStyle/>
          <a:p>
            <a:pPr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Concierge / Wizard-of-Oz</a:t>
            </a:r>
            <a:endParaRPr lang="en-US" sz="1200" dirty="0"/>
          </a:p>
        </p:txBody>
      </p:sp>
      <p:sp>
        <p:nvSpPr>
          <p:cNvPr id="15" name="Text 13"/>
          <p:cNvSpPr/>
          <p:nvPr/>
        </p:nvSpPr>
        <p:spPr>
          <a:xfrm>
            <a:off x="3749040" y="2926080"/>
            <a:ext cx="1965960" cy="50292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آیا جریان و پیشنهاد مفید است؟</a:t>
            </a:r>
            <a:endParaRPr lang="en-US" sz="1000" dirty="0"/>
          </a:p>
        </p:txBody>
      </p:sp>
      <p:sp>
        <p:nvSpPr>
          <p:cNvPr id="16" name="Shape 14"/>
          <p:cNvSpPr/>
          <p:nvPr/>
        </p:nvSpPr>
        <p:spPr>
          <a:xfrm>
            <a:off x="5943600" y="2834640"/>
            <a:ext cx="320040" cy="0"/>
          </a:xfrm>
          <a:prstGeom prst="line">
            <a:avLst/>
          </a:prstGeom>
          <a:noFill/>
          <a:ln w="22860">
            <a:solidFill>
              <a:srgbClr val="E91E63"/>
            </a:solidFill>
            <a:prstDash val="solid"/>
            <a:headEnd type="none"/>
            <a:tailEnd type="triangle"/>
          </a:ln>
        </p:spPr>
      </p:sp>
      <p:sp>
        <p:nvSpPr>
          <p:cNvPr id="17" name="Shape 15"/>
          <p:cNvSpPr/>
          <p:nvPr/>
        </p:nvSpPr>
        <p:spPr>
          <a:xfrm>
            <a:off x="6400800" y="1508760"/>
            <a:ext cx="2331720" cy="2926080"/>
          </a:xfrm>
          <a:prstGeom prst="roundRect">
            <a:avLst>
              <a:gd name="adj" fmla="val 4706"/>
            </a:avLst>
          </a:prstGeom>
          <a:solidFill>
            <a:srgbClr val="FFFFFF"/>
          </a:solidFill>
          <a:ln w="12700">
            <a:solidFill>
              <a:srgbClr val="E5E7EB"/>
            </a:solidFill>
            <a:prstDash val="solid"/>
          </a:ln>
        </p:spPr>
      </p:sp>
      <p:sp>
        <p:nvSpPr>
          <p:cNvPr id="18" name="Text 16"/>
          <p:cNvSpPr/>
          <p:nvPr/>
        </p:nvSpPr>
        <p:spPr>
          <a:xfrm>
            <a:off x="7269480" y="1737360"/>
            <a:ext cx="502920" cy="411480"/>
          </a:xfrm>
          <a:prstGeom prst="rect">
            <a:avLst/>
          </a:prstGeom>
          <a:noFill/>
          <a:ln/>
        </p:spPr>
        <p:txBody>
          <a:bodyPr wrap="square" lIns="635" tIns="635" rIns="635" bIns="635" rtlCol="0" anchor="ctr">
            <a:normAutofit/>
          </a:bodyPr>
          <a:lstStyle/>
          <a:p>
            <a:pPr algn="ctr" indent="0" marL="0">
              <a:buNone/>
            </a:pPr>
            <a:r>
              <a:rPr lang="en-US" sz="2200" b="1" dirty="0">
                <a:solidFill>
                  <a:srgbClr val="E91E63"/>
                </a:solidFill>
                <a:latin typeface="Noto Sans Arabic" pitchFamily="34" charset="0"/>
                <a:ea typeface="Noto Sans Arabic" pitchFamily="34" charset="-122"/>
                <a:cs typeface="Noto Sans Arabic" pitchFamily="34" charset="-120"/>
              </a:rPr>
              <a:t>2</a:t>
            </a:r>
            <a:endParaRPr lang="en-US" sz="2200" dirty="0"/>
          </a:p>
        </p:txBody>
      </p:sp>
      <p:sp>
        <p:nvSpPr>
          <p:cNvPr id="19" name="Text 17"/>
          <p:cNvSpPr/>
          <p:nvPr/>
        </p:nvSpPr>
        <p:spPr>
          <a:xfrm>
            <a:off x="6583680" y="2331720"/>
            <a:ext cx="1965960" cy="292608"/>
          </a:xfrm>
          <a:prstGeom prst="rect">
            <a:avLst/>
          </a:prstGeom>
          <a:noFill/>
          <a:ln/>
        </p:spPr>
        <p:txBody>
          <a:bodyPr wrap="square" lIns="635" tIns="635" rIns="635" bIns="635" rtlCol="0" anchor="ctr">
            <a:normAutofit/>
          </a:bodyPr>
          <a:lstStyle/>
          <a:p>
            <a:pPr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Rule-based MVP</a:t>
            </a:r>
            <a:endParaRPr lang="en-US" sz="1200" dirty="0"/>
          </a:p>
        </p:txBody>
      </p:sp>
      <p:sp>
        <p:nvSpPr>
          <p:cNvPr id="20" name="Text 18"/>
          <p:cNvSpPr/>
          <p:nvPr/>
        </p:nvSpPr>
        <p:spPr>
          <a:xfrm>
            <a:off x="6583680" y="2926080"/>
            <a:ext cx="1965960" cy="50292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آیا مکانیزم تکرارپذیر می‌شود؟</a:t>
            </a:r>
            <a:endParaRPr lang="en-US" sz="1000" dirty="0"/>
          </a:p>
        </p:txBody>
      </p:sp>
      <p:sp>
        <p:nvSpPr>
          <p:cNvPr id="21" name="Shape 19"/>
          <p:cNvSpPr/>
          <p:nvPr/>
        </p:nvSpPr>
        <p:spPr>
          <a:xfrm>
            <a:off x="8778240" y="2834640"/>
            <a:ext cx="320040" cy="0"/>
          </a:xfrm>
          <a:prstGeom prst="line">
            <a:avLst/>
          </a:prstGeom>
          <a:noFill/>
          <a:ln w="22860">
            <a:solidFill>
              <a:srgbClr val="E91E63"/>
            </a:solidFill>
            <a:prstDash val="solid"/>
            <a:headEnd type="none"/>
            <a:tailEnd type="triangle"/>
          </a:ln>
        </p:spPr>
      </p:sp>
      <p:sp>
        <p:nvSpPr>
          <p:cNvPr id="22" name="Shape 20"/>
          <p:cNvSpPr/>
          <p:nvPr/>
        </p:nvSpPr>
        <p:spPr>
          <a:xfrm>
            <a:off x="9235440" y="1508760"/>
            <a:ext cx="2331720" cy="2926080"/>
          </a:xfrm>
          <a:prstGeom prst="roundRect">
            <a:avLst>
              <a:gd name="adj" fmla="val 4706"/>
            </a:avLst>
          </a:prstGeom>
          <a:solidFill>
            <a:srgbClr val="FFFFFF"/>
          </a:solidFill>
          <a:ln w="12700">
            <a:solidFill>
              <a:srgbClr val="E5E7EB"/>
            </a:solidFill>
            <a:prstDash val="solid"/>
          </a:ln>
        </p:spPr>
      </p:sp>
      <p:sp>
        <p:nvSpPr>
          <p:cNvPr id="23" name="Text 21"/>
          <p:cNvSpPr/>
          <p:nvPr/>
        </p:nvSpPr>
        <p:spPr>
          <a:xfrm>
            <a:off x="10104120" y="1737360"/>
            <a:ext cx="502920" cy="411480"/>
          </a:xfrm>
          <a:prstGeom prst="rect">
            <a:avLst/>
          </a:prstGeom>
          <a:noFill/>
          <a:ln/>
        </p:spPr>
        <p:txBody>
          <a:bodyPr wrap="square" lIns="635" tIns="635" rIns="635" bIns="635" rtlCol="0" anchor="ctr">
            <a:normAutofit/>
          </a:bodyPr>
          <a:lstStyle/>
          <a:p>
            <a:pPr algn="ctr" indent="0" marL="0">
              <a:buNone/>
            </a:pPr>
            <a:r>
              <a:rPr lang="en-US" sz="2200" b="1" dirty="0">
                <a:solidFill>
                  <a:srgbClr val="E91E63"/>
                </a:solidFill>
                <a:latin typeface="Noto Sans Arabic" pitchFamily="34" charset="0"/>
                <a:ea typeface="Noto Sans Arabic" pitchFamily="34" charset="-122"/>
                <a:cs typeface="Noto Sans Arabic" pitchFamily="34" charset="-120"/>
              </a:rPr>
              <a:t>3</a:t>
            </a:r>
            <a:endParaRPr lang="en-US" sz="2200" dirty="0"/>
          </a:p>
        </p:txBody>
      </p:sp>
      <p:sp>
        <p:nvSpPr>
          <p:cNvPr id="24" name="Text 22"/>
          <p:cNvSpPr/>
          <p:nvPr/>
        </p:nvSpPr>
        <p:spPr>
          <a:xfrm>
            <a:off x="9418320" y="2331720"/>
            <a:ext cx="1965960" cy="292608"/>
          </a:xfrm>
          <a:prstGeom prst="rect">
            <a:avLst/>
          </a:prstGeom>
          <a:noFill/>
          <a:ln/>
        </p:spPr>
        <p:txBody>
          <a:bodyPr wrap="square" lIns="635" tIns="635" rIns="635" bIns="635" rtlCol="0" anchor="ctr">
            <a:normAutofit/>
          </a:bodyPr>
          <a:lstStyle/>
          <a:p>
            <a:pPr algn="ctr" indent="0" marL="0">
              <a:buNone/>
            </a:pPr>
            <a:r>
              <a:rPr lang="en-US" sz="1200" b="1" dirty="0">
                <a:solidFill>
                  <a:srgbClr val="14213D"/>
                </a:solidFill>
                <a:latin typeface="Noto Sans Arabic" pitchFamily="34" charset="0"/>
                <a:ea typeface="Noto Sans Arabic" pitchFamily="34" charset="-122"/>
                <a:cs typeface="Noto Sans Arabic" pitchFamily="34" charset="-120"/>
              </a:rPr>
              <a:t>Pilot</a:t>
            </a:r>
            <a:endParaRPr lang="en-US" sz="1200" dirty="0"/>
          </a:p>
        </p:txBody>
      </p:sp>
      <p:sp>
        <p:nvSpPr>
          <p:cNvPr id="25" name="Text 23"/>
          <p:cNvSpPr/>
          <p:nvPr/>
        </p:nvSpPr>
        <p:spPr>
          <a:xfrm>
            <a:off x="9418320" y="2926080"/>
            <a:ext cx="1965960" cy="50292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آیا اثر تجاری و Guardrail سالم است؟</a:t>
            </a:r>
            <a:endParaRPr lang="en-US" sz="1000" dirty="0"/>
          </a:p>
        </p:txBody>
      </p:sp>
      <p:sp>
        <p:nvSpPr>
          <p:cNvPr id="26" name="Text 24"/>
          <p:cNvSpPr/>
          <p:nvPr/>
        </p:nvSpPr>
        <p:spPr>
          <a:xfrm>
            <a:off x="1280160" y="5212080"/>
            <a:ext cx="9601200" cy="320040"/>
          </a:xfrm>
          <a:prstGeom prst="rect">
            <a:avLst/>
          </a:prstGeom>
          <a:noFill/>
          <a:ln/>
        </p:spPr>
        <p:txBody>
          <a:bodyPr wrap="square" lIns="635" tIns="635" rIns="635" bIns="635" rtlCol="0" anchor="ctr">
            <a:normAutofit/>
          </a:bodyPr>
          <a:lstStyle/>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Stage Gate: سرمایه فقط وقتی آزاد می‌شود که مرحله قبلی سیگنال رفتاری کافی بدهد.</a:t>
            </a:r>
            <a:endParaRPr lang="en-US" sz="1400" dirty="0"/>
          </a:p>
        </p:txBody>
      </p:sp>
      <p:sp>
        <p:nvSpPr>
          <p:cNvPr id="27" name="Text 25"/>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12</a:t>
            </a:r>
            <a:endParaRPr lang="en-US" sz="700" dirty="0"/>
          </a:p>
        </p:txBody>
      </p:sp>
      <p:sp>
        <p:nvSpPr>
          <p:cNvPr id="28" name="Text 26">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طراحی تجربه؛ از Need به پیشنهاد قابل توضیح</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Low-Fi قرار نیست اثبات کند فیچر موفق است؛ فقط فرضیه را قابل تست می‌کند.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UX Design</a:t>
            </a:r>
            <a:endParaRPr lang="en-US" sz="800" dirty="0"/>
          </a:p>
        </p:txBody>
      </p:sp>
      <p:sp>
        <p:nvSpPr>
          <p:cNvPr id="7" name="Shape 5"/>
          <p:cNvSpPr/>
          <p:nvPr/>
        </p:nvSpPr>
        <p:spPr>
          <a:xfrm>
            <a:off x="640080" y="1463040"/>
            <a:ext cx="1143000" cy="2011680"/>
          </a:xfrm>
          <a:prstGeom prst="roundRect">
            <a:avLst>
              <a:gd name="adj" fmla="val 9600"/>
            </a:avLst>
          </a:prstGeom>
          <a:solidFill>
            <a:srgbClr val="FFFFFF"/>
          </a:solidFill>
          <a:ln w="12700">
            <a:solidFill>
              <a:srgbClr val="E5E7EB"/>
            </a:solidFill>
            <a:prstDash val="solid"/>
          </a:ln>
        </p:spPr>
      </p:sp>
      <p:sp>
        <p:nvSpPr>
          <p:cNvPr id="8" name="Shape 6"/>
          <p:cNvSpPr/>
          <p:nvPr/>
        </p:nvSpPr>
        <p:spPr>
          <a:xfrm>
            <a:off x="777240" y="1664208"/>
            <a:ext cx="868680" cy="1280160"/>
          </a:xfrm>
          <a:prstGeom prst="roundRect">
            <a:avLst>
              <a:gd name="adj" fmla="val 6316"/>
            </a:avLst>
          </a:prstGeom>
          <a:solidFill>
            <a:srgbClr val="F7F7FA"/>
          </a:solidFill>
          <a:ln w="12700">
            <a:solidFill>
              <a:srgbClr val="E5E7EB"/>
            </a:solidFill>
            <a:prstDash val="solid"/>
          </a:ln>
        </p:spPr>
      </p:sp>
      <p:sp>
        <p:nvSpPr>
          <p:cNvPr id="9" name="Text 7"/>
          <p:cNvSpPr/>
          <p:nvPr/>
        </p:nvSpPr>
        <p:spPr>
          <a:xfrm>
            <a:off x="77724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Entry</a:t>
            </a:r>
            <a:endParaRPr lang="en-US" sz="760" dirty="0"/>
          </a:p>
        </p:txBody>
      </p:sp>
      <p:sp>
        <p:nvSpPr>
          <p:cNvPr id="10" name="Shape 8"/>
          <p:cNvSpPr/>
          <p:nvPr/>
        </p:nvSpPr>
        <p:spPr>
          <a:xfrm>
            <a:off x="1810512" y="2423160"/>
            <a:ext cx="192024" cy="0"/>
          </a:xfrm>
          <a:prstGeom prst="line">
            <a:avLst/>
          </a:prstGeom>
          <a:noFill/>
          <a:ln w="22860">
            <a:solidFill>
              <a:srgbClr val="6B7280"/>
            </a:solidFill>
            <a:prstDash val="solid"/>
            <a:headEnd type="none"/>
            <a:tailEnd type="triangle"/>
          </a:ln>
        </p:spPr>
      </p:sp>
      <p:sp>
        <p:nvSpPr>
          <p:cNvPr id="11" name="Shape 9"/>
          <p:cNvSpPr/>
          <p:nvPr/>
        </p:nvSpPr>
        <p:spPr>
          <a:xfrm>
            <a:off x="2057400" y="1463040"/>
            <a:ext cx="1143000" cy="2011680"/>
          </a:xfrm>
          <a:prstGeom prst="roundRect">
            <a:avLst>
              <a:gd name="adj" fmla="val 9600"/>
            </a:avLst>
          </a:prstGeom>
          <a:solidFill>
            <a:srgbClr val="FFFFFF"/>
          </a:solidFill>
          <a:ln w="12700">
            <a:solidFill>
              <a:srgbClr val="E5E7EB"/>
            </a:solidFill>
            <a:prstDash val="solid"/>
          </a:ln>
        </p:spPr>
      </p:sp>
      <p:sp>
        <p:nvSpPr>
          <p:cNvPr id="12" name="Shape 10"/>
          <p:cNvSpPr/>
          <p:nvPr/>
        </p:nvSpPr>
        <p:spPr>
          <a:xfrm>
            <a:off x="2194560" y="1664208"/>
            <a:ext cx="868680" cy="1280160"/>
          </a:xfrm>
          <a:prstGeom prst="roundRect">
            <a:avLst>
              <a:gd name="adj" fmla="val 6316"/>
            </a:avLst>
          </a:prstGeom>
          <a:solidFill>
            <a:srgbClr val="F7F7FA"/>
          </a:solidFill>
          <a:ln w="12700">
            <a:solidFill>
              <a:srgbClr val="E5E7EB"/>
            </a:solidFill>
            <a:prstDash val="solid"/>
          </a:ln>
        </p:spPr>
      </p:sp>
      <p:sp>
        <p:nvSpPr>
          <p:cNvPr id="13" name="Text 11"/>
          <p:cNvSpPr/>
          <p:nvPr/>
        </p:nvSpPr>
        <p:spPr>
          <a:xfrm>
            <a:off x="219456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Need</a:t>
            </a:r>
            <a:endParaRPr lang="en-US" sz="760" dirty="0"/>
          </a:p>
        </p:txBody>
      </p:sp>
      <p:sp>
        <p:nvSpPr>
          <p:cNvPr id="14" name="Shape 12"/>
          <p:cNvSpPr/>
          <p:nvPr/>
        </p:nvSpPr>
        <p:spPr>
          <a:xfrm>
            <a:off x="3227832" y="2423160"/>
            <a:ext cx="192024" cy="0"/>
          </a:xfrm>
          <a:prstGeom prst="line">
            <a:avLst/>
          </a:prstGeom>
          <a:noFill/>
          <a:ln w="22860">
            <a:solidFill>
              <a:srgbClr val="6B7280"/>
            </a:solidFill>
            <a:prstDash val="solid"/>
            <a:headEnd type="none"/>
            <a:tailEnd type="triangle"/>
          </a:ln>
        </p:spPr>
      </p:sp>
      <p:sp>
        <p:nvSpPr>
          <p:cNvPr id="15" name="Shape 13"/>
          <p:cNvSpPr/>
          <p:nvPr/>
        </p:nvSpPr>
        <p:spPr>
          <a:xfrm>
            <a:off x="3474720" y="1463040"/>
            <a:ext cx="1143000" cy="2011680"/>
          </a:xfrm>
          <a:prstGeom prst="roundRect">
            <a:avLst>
              <a:gd name="adj" fmla="val 9600"/>
            </a:avLst>
          </a:prstGeom>
          <a:solidFill>
            <a:srgbClr val="FFFFFF"/>
          </a:solidFill>
          <a:ln w="12700">
            <a:solidFill>
              <a:srgbClr val="E5E7EB"/>
            </a:solidFill>
            <a:prstDash val="solid"/>
          </a:ln>
        </p:spPr>
      </p:sp>
      <p:sp>
        <p:nvSpPr>
          <p:cNvPr id="16" name="Shape 14"/>
          <p:cNvSpPr/>
          <p:nvPr/>
        </p:nvSpPr>
        <p:spPr>
          <a:xfrm>
            <a:off x="3611880" y="1664208"/>
            <a:ext cx="868680" cy="1280160"/>
          </a:xfrm>
          <a:prstGeom prst="roundRect">
            <a:avLst>
              <a:gd name="adj" fmla="val 6316"/>
            </a:avLst>
          </a:prstGeom>
          <a:solidFill>
            <a:srgbClr val="F7F7FA"/>
          </a:solidFill>
          <a:ln w="12700">
            <a:solidFill>
              <a:srgbClr val="E5E7EB"/>
            </a:solidFill>
            <a:prstDash val="solid"/>
          </a:ln>
        </p:spPr>
      </p:sp>
      <p:sp>
        <p:nvSpPr>
          <p:cNvPr id="17" name="Text 15"/>
          <p:cNvSpPr/>
          <p:nvPr/>
        </p:nvSpPr>
        <p:spPr>
          <a:xfrm>
            <a:off x="361188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Skin Type</a:t>
            </a:r>
            <a:endParaRPr lang="en-US" sz="760" dirty="0"/>
          </a:p>
        </p:txBody>
      </p:sp>
      <p:sp>
        <p:nvSpPr>
          <p:cNvPr id="18" name="Shape 16"/>
          <p:cNvSpPr/>
          <p:nvPr/>
        </p:nvSpPr>
        <p:spPr>
          <a:xfrm>
            <a:off x="4645152" y="2423160"/>
            <a:ext cx="192024" cy="0"/>
          </a:xfrm>
          <a:prstGeom prst="line">
            <a:avLst/>
          </a:prstGeom>
          <a:noFill/>
          <a:ln w="22860">
            <a:solidFill>
              <a:srgbClr val="6B7280"/>
            </a:solidFill>
            <a:prstDash val="solid"/>
            <a:headEnd type="none"/>
            <a:tailEnd type="triangle"/>
          </a:ln>
        </p:spPr>
      </p:sp>
      <p:sp>
        <p:nvSpPr>
          <p:cNvPr id="19" name="Shape 17"/>
          <p:cNvSpPr/>
          <p:nvPr/>
        </p:nvSpPr>
        <p:spPr>
          <a:xfrm>
            <a:off x="4892040" y="1463040"/>
            <a:ext cx="1143000" cy="2011680"/>
          </a:xfrm>
          <a:prstGeom prst="roundRect">
            <a:avLst>
              <a:gd name="adj" fmla="val 9600"/>
            </a:avLst>
          </a:prstGeom>
          <a:solidFill>
            <a:srgbClr val="FFFFFF"/>
          </a:solidFill>
          <a:ln w="12700">
            <a:solidFill>
              <a:srgbClr val="E5E7EB"/>
            </a:solidFill>
            <a:prstDash val="solid"/>
          </a:ln>
        </p:spPr>
      </p:sp>
      <p:sp>
        <p:nvSpPr>
          <p:cNvPr id="20" name="Shape 18"/>
          <p:cNvSpPr/>
          <p:nvPr/>
        </p:nvSpPr>
        <p:spPr>
          <a:xfrm>
            <a:off x="5029200" y="1664208"/>
            <a:ext cx="868680" cy="1280160"/>
          </a:xfrm>
          <a:prstGeom prst="roundRect">
            <a:avLst>
              <a:gd name="adj" fmla="val 6316"/>
            </a:avLst>
          </a:prstGeom>
          <a:solidFill>
            <a:srgbClr val="F7F7FA"/>
          </a:solidFill>
          <a:ln w="12700">
            <a:solidFill>
              <a:srgbClr val="E5E7EB"/>
            </a:solidFill>
            <a:prstDash val="solid"/>
          </a:ln>
        </p:spPr>
      </p:sp>
      <p:sp>
        <p:nvSpPr>
          <p:cNvPr id="21" name="Text 19"/>
          <p:cNvSpPr/>
          <p:nvPr/>
        </p:nvSpPr>
        <p:spPr>
          <a:xfrm>
            <a:off x="502920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Concern</a:t>
            </a:r>
            <a:endParaRPr lang="en-US" sz="760" dirty="0"/>
          </a:p>
        </p:txBody>
      </p:sp>
      <p:sp>
        <p:nvSpPr>
          <p:cNvPr id="22" name="Shape 20"/>
          <p:cNvSpPr/>
          <p:nvPr/>
        </p:nvSpPr>
        <p:spPr>
          <a:xfrm>
            <a:off x="6062472" y="2423160"/>
            <a:ext cx="192024" cy="0"/>
          </a:xfrm>
          <a:prstGeom prst="line">
            <a:avLst/>
          </a:prstGeom>
          <a:noFill/>
          <a:ln w="22860">
            <a:solidFill>
              <a:srgbClr val="6B7280"/>
            </a:solidFill>
            <a:prstDash val="solid"/>
            <a:headEnd type="none"/>
            <a:tailEnd type="triangle"/>
          </a:ln>
        </p:spPr>
      </p:sp>
      <p:sp>
        <p:nvSpPr>
          <p:cNvPr id="23" name="Shape 21"/>
          <p:cNvSpPr/>
          <p:nvPr/>
        </p:nvSpPr>
        <p:spPr>
          <a:xfrm>
            <a:off x="6309360" y="1463040"/>
            <a:ext cx="1143000" cy="2011680"/>
          </a:xfrm>
          <a:prstGeom prst="roundRect">
            <a:avLst>
              <a:gd name="adj" fmla="val 9600"/>
            </a:avLst>
          </a:prstGeom>
          <a:solidFill>
            <a:srgbClr val="FFFFFF"/>
          </a:solidFill>
          <a:ln w="12700">
            <a:solidFill>
              <a:srgbClr val="E5E7EB"/>
            </a:solidFill>
            <a:prstDash val="solid"/>
          </a:ln>
        </p:spPr>
      </p:sp>
      <p:sp>
        <p:nvSpPr>
          <p:cNvPr id="24" name="Shape 22"/>
          <p:cNvSpPr/>
          <p:nvPr/>
        </p:nvSpPr>
        <p:spPr>
          <a:xfrm>
            <a:off x="6446520" y="1664208"/>
            <a:ext cx="868680" cy="1280160"/>
          </a:xfrm>
          <a:prstGeom prst="roundRect">
            <a:avLst>
              <a:gd name="adj" fmla="val 6316"/>
            </a:avLst>
          </a:prstGeom>
          <a:solidFill>
            <a:srgbClr val="F7F7FA"/>
          </a:solidFill>
          <a:ln w="12700">
            <a:solidFill>
              <a:srgbClr val="E5E7EB"/>
            </a:solidFill>
            <a:prstDash val="solid"/>
          </a:ln>
        </p:spPr>
      </p:sp>
      <p:sp>
        <p:nvSpPr>
          <p:cNvPr id="25" name="Text 23"/>
          <p:cNvSpPr/>
          <p:nvPr/>
        </p:nvSpPr>
        <p:spPr>
          <a:xfrm>
            <a:off x="644652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Budget</a:t>
            </a:r>
            <a:endParaRPr lang="en-US" sz="760" dirty="0"/>
          </a:p>
        </p:txBody>
      </p:sp>
      <p:sp>
        <p:nvSpPr>
          <p:cNvPr id="26" name="Shape 24"/>
          <p:cNvSpPr/>
          <p:nvPr/>
        </p:nvSpPr>
        <p:spPr>
          <a:xfrm>
            <a:off x="7479792" y="2423160"/>
            <a:ext cx="192024" cy="0"/>
          </a:xfrm>
          <a:prstGeom prst="line">
            <a:avLst/>
          </a:prstGeom>
          <a:noFill/>
          <a:ln w="22860">
            <a:solidFill>
              <a:srgbClr val="6B7280"/>
            </a:solidFill>
            <a:prstDash val="solid"/>
            <a:headEnd type="none"/>
            <a:tailEnd type="triangle"/>
          </a:ln>
        </p:spPr>
      </p:sp>
      <p:sp>
        <p:nvSpPr>
          <p:cNvPr id="27" name="Shape 25"/>
          <p:cNvSpPr/>
          <p:nvPr/>
        </p:nvSpPr>
        <p:spPr>
          <a:xfrm>
            <a:off x="7726680" y="1463040"/>
            <a:ext cx="1143000" cy="2011680"/>
          </a:xfrm>
          <a:prstGeom prst="roundRect">
            <a:avLst>
              <a:gd name="adj" fmla="val 9600"/>
            </a:avLst>
          </a:prstGeom>
          <a:solidFill>
            <a:srgbClr val="FFFFFF"/>
          </a:solidFill>
          <a:ln w="12700">
            <a:solidFill>
              <a:srgbClr val="E5E7EB"/>
            </a:solidFill>
            <a:prstDash val="solid"/>
          </a:ln>
        </p:spPr>
      </p:sp>
      <p:sp>
        <p:nvSpPr>
          <p:cNvPr id="28" name="Shape 26"/>
          <p:cNvSpPr/>
          <p:nvPr/>
        </p:nvSpPr>
        <p:spPr>
          <a:xfrm>
            <a:off x="7863840" y="1664208"/>
            <a:ext cx="868680" cy="1280160"/>
          </a:xfrm>
          <a:prstGeom prst="roundRect">
            <a:avLst>
              <a:gd name="adj" fmla="val 6316"/>
            </a:avLst>
          </a:prstGeom>
          <a:solidFill>
            <a:srgbClr val="FCE4EC"/>
          </a:solidFill>
          <a:ln w="12700">
            <a:solidFill>
              <a:srgbClr val="E91E63"/>
            </a:solidFill>
            <a:prstDash val="solid"/>
          </a:ln>
        </p:spPr>
      </p:sp>
      <p:sp>
        <p:nvSpPr>
          <p:cNvPr id="29" name="Text 27"/>
          <p:cNvSpPr/>
          <p:nvPr/>
        </p:nvSpPr>
        <p:spPr>
          <a:xfrm>
            <a:off x="7863840" y="3044952"/>
            <a:ext cx="868680" cy="164592"/>
          </a:xfrm>
          <a:prstGeom prst="rect">
            <a:avLst/>
          </a:prstGeom>
          <a:noFill/>
          <a:ln/>
        </p:spPr>
        <p:txBody>
          <a:bodyPr wrap="square" lIns="635" tIns="635" rIns="635" bIns="635" rtlCol="0" anchor="ctr">
            <a:normAutofit/>
          </a:bodyPr>
          <a:lstStyle/>
          <a:p>
            <a:pPr algn="ctr" indent="0" marL="0">
              <a:buNone/>
            </a:pPr>
            <a:r>
              <a:rPr lang="en-US" sz="760" b="1" dirty="0">
                <a:solidFill>
                  <a:srgbClr val="14213D"/>
                </a:solidFill>
                <a:latin typeface="Noto Sans Arabic" pitchFamily="34" charset="0"/>
                <a:ea typeface="Noto Sans Arabic" pitchFamily="34" charset="-122"/>
                <a:cs typeface="Noto Sans Arabic" pitchFamily="34" charset="-120"/>
              </a:rPr>
              <a:t>Results</a:t>
            </a:r>
            <a:endParaRPr lang="en-US" sz="760" dirty="0"/>
          </a:p>
        </p:txBody>
      </p:sp>
      <p:sp>
        <p:nvSpPr>
          <p:cNvPr id="30" name="Shape 28"/>
          <p:cNvSpPr/>
          <p:nvPr/>
        </p:nvSpPr>
        <p:spPr>
          <a:xfrm>
            <a:off x="8897112" y="2423160"/>
            <a:ext cx="192024" cy="0"/>
          </a:xfrm>
          <a:prstGeom prst="line">
            <a:avLst/>
          </a:prstGeom>
          <a:noFill/>
          <a:ln w="22860">
            <a:solidFill>
              <a:srgbClr val="6B7280"/>
            </a:solidFill>
            <a:prstDash val="solid"/>
            <a:headEnd type="none"/>
            <a:tailEnd type="triangle"/>
          </a:ln>
        </p:spPr>
      </p:sp>
      <p:sp>
        <p:nvSpPr>
          <p:cNvPr id="31" name="Shape 29"/>
          <p:cNvSpPr/>
          <p:nvPr/>
        </p:nvSpPr>
        <p:spPr>
          <a:xfrm>
            <a:off x="9144000" y="1463040"/>
            <a:ext cx="1143000" cy="2011680"/>
          </a:xfrm>
          <a:prstGeom prst="roundRect">
            <a:avLst>
              <a:gd name="adj" fmla="val 9600"/>
            </a:avLst>
          </a:prstGeom>
          <a:solidFill>
            <a:srgbClr val="FFFFFF"/>
          </a:solidFill>
          <a:ln w="12700">
            <a:solidFill>
              <a:srgbClr val="E5E7EB"/>
            </a:solidFill>
            <a:prstDash val="solid"/>
          </a:ln>
        </p:spPr>
      </p:sp>
      <p:sp>
        <p:nvSpPr>
          <p:cNvPr id="32" name="Shape 30"/>
          <p:cNvSpPr/>
          <p:nvPr/>
        </p:nvSpPr>
        <p:spPr>
          <a:xfrm>
            <a:off x="9281160" y="1664208"/>
            <a:ext cx="868680" cy="1280160"/>
          </a:xfrm>
          <a:prstGeom prst="roundRect">
            <a:avLst>
              <a:gd name="adj" fmla="val 6316"/>
            </a:avLst>
          </a:prstGeom>
          <a:solidFill>
            <a:srgbClr val="F7F7FA"/>
          </a:solidFill>
          <a:ln w="12700">
            <a:solidFill>
              <a:srgbClr val="E5E7EB"/>
            </a:solidFill>
            <a:prstDash val="solid"/>
          </a:ln>
        </p:spPr>
      </p:sp>
      <p:sp>
        <p:nvSpPr>
          <p:cNvPr id="33" name="Text 31"/>
          <p:cNvSpPr/>
          <p:nvPr/>
        </p:nvSpPr>
        <p:spPr>
          <a:xfrm>
            <a:off x="928116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Why</a:t>
            </a:r>
            <a:endParaRPr lang="en-US" sz="760" dirty="0"/>
          </a:p>
        </p:txBody>
      </p:sp>
      <p:sp>
        <p:nvSpPr>
          <p:cNvPr id="34" name="Shape 32"/>
          <p:cNvSpPr/>
          <p:nvPr/>
        </p:nvSpPr>
        <p:spPr>
          <a:xfrm>
            <a:off x="10314432" y="2423160"/>
            <a:ext cx="192024" cy="0"/>
          </a:xfrm>
          <a:prstGeom prst="line">
            <a:avLst/>
          </a:prstGeom>
          <a:noFill/>
          <a:ln w="22860">
            <a:solidFill>
              <a:srgbClr val="6B7280"/>
            </a:solidFill>
            <a:prstDash val="solid"/>
            <a:headEnd type="none"/>
            <a:tailEnd type="triangle"/>
          </a:ln>
        </p:spPr>
      </p:sp>
      <p:sp>
        <p:nvSpPr>
          <p:cNvPr id="35" name="Shape 33"/>
          <p:cNvSpPr/>
          <p:nvPr/>
        </p:nvSpPr>
        <p:spPr>
          <a:xfrm>
            <a:off x="10561320" y="1463040"/>
            <a:ext cx="1143000" cy="2011680"/>
          </a:xfrm>
          <a:prstGeom prst="roundRect">
            <a:avLst>
              <a:gd name="adj" fmla="val 9600"/>
            </a:avLst>
          </a:prstGeom>
          <a:solidFill>
            <a:srgbClr val="FFFFFF"/>
          </a:solidFill>
          <a:ln w="12700">
            <a:solidFill>
              <a:srgbClr val="E5E7EB"/>
            </a:solidFill>
            <a:prstDash val="solid"/>
          </a:ln>
        </p:spPr>
      </p:sp>
      <p:sp>
        <p:nvSpPr>
          <p:cNvPr id="36" name="Shape 34"/>
          <p:cNvSpPr/>
          <p:nvPr/>
        </p:nvSpPr>
        <p:spPr>
          <a:xfrm>
            <a:off x="10698480" y="1664208"/>
            <a:ext cx="868680" cy="1280160"/>
          </a:xfrm>
          <a:prstGeom prst="roundRect">
            <a:avLst>
              <a:gd name="adj" fmla="val 6316"/>
            </a:avLst>
          </a:prstGeom>
          <a:solidFill>
            <a:srgbClr val="F7F7FA"/>
          </a:solidFill>
          <a:ln w="12700">
            <a:solidFill>
              <a:srgbClr val="E5E7EB"/>
            </a:solidFill>
            <a:prstDash val="solid"/>
          </a:ln>
        </p:spPr>
      </p:sp>
      <p:sp>
        <p:nvSpPr>
          <p:cNvPr id="37" name="Text 35"/>
          <p:cNvSpPr/>
          <p:nvPr/>
        </p:nvSpPr>
        <p:spPr>
          <a:xfrm>
            <a:off x="10698480" y="3044952"/>
            <a:ext cx="868680" cy="164592"/>
          </a:xfrm>
          <a:prstGeom prst="rect">
            <a:avLst/>
          </a:prstGeom>
          <a:noFill/>
          <a:ln/>
        </p:spPr>
        <p:txBody>
          <a:bodyPr wrap="square" lIns="635" tIns="635" rIns="635" bIns="635" rtlCol="0" anchor="ctr">
            <a:normAutofit/>
          </a:bodyPr>
          <a:lstStyle/>
          <a:p>
            <a:pPr algn="ctr" indent="0" marL="0">
              <a:buNone/>
            </a:pPr>
            <a:r>
              <a:rPr lang="en-US" sz="760" dirty="0">
                <a:solidFill>
                  <a:srgbClr val="14213D"/>
                </a:solidFill>
                <a:latin typeface="Noto Sans Arabic" pitchFamily="34" charset="0"/>
                <a:ea typeface="Noto Sans Arabic" pitchFamily="34" charset="-122"/>
                <a:cs typeface="Noto Sans Arabic" pitchFamily="34" charset="-120"/>
              </a:rPr>
              <a:t>PDP</a:t>
            </a:r>
            <a:endParaRPr lang="en-US" sz="760" dirty="0"/>
          </a:p>
        </p:txBody>
      </p:sp>
      <p:sp>
        <p:nvSpPr>
          <p:cNvPr id="38" name="Shape 36"/>
          <p:cNvSpPr/>
          <p:nvPr/>
        </p:nvSpPr>
        <p:spPr>
          <a:xfrm>
            <a:off x="914400" y="4160520"/>
            <a:ext cx="3017520" cy="1051560"/>
          </a:xfrm>
          <a:prstGeom prst="roundRect">
            <a:avLst>
              <a:gd name="adj" fmla="val 10435"/>
            </a:avLst>
          </a:prstGeom>
          <a:solidFill>
            <a:srgbClr val="FFF5F8"/>
          </a:solidFill>
          <a:ln w="12700">
            <a:solidFill>
              <a:srgbClr val="FCE4EC"/>
            </a:solidFill>
            <a:prstDash val="solid"/>
          </a:ln>
        </p:spPr>
      </p:sp>
      <p:sp>
        <p:nvSpPr>
          <p:cNvPr id="39" name="Text 37"/>
          <p:cNvSpPr/>
          <p:nvPr/>
        </p:nvSpPr>
        <p:spPr>
          <a:xfrm>
            <a:off x="1143000" y="4343400"/>
            <a:ext cx="2560320" cy="18288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اصول طراحی</a:t>
            </a:r>
            <a:endParaRPr lang="en-US" sz="1200" dirty="0"/>
          </a:p>
        </p:txBody>
      </p:sp>
      <p:sp>
        <p:nvSpPr>
          <p:cNvPr id="40" name="Text 38"/>
          <p:cNvSpPr/>
          <p:nvPr/>
        </p:nvSpPr>
        <p:spPr>
          <a:xfrm>
            <a:off x="1143000" y="4681728"/>
            <a:ext cx="2560320" cy="219456"/>
          </a:xfrm>
          <a:prstGeom prst="rect">
            <a:avLst/>
          </a:prstGeom>
          <a:noFill/>
          <a:ln/>
        </p:spPr>
        <p:txBody>
          <a:bodyPr wrap="square" lIns="635" tIns="635" rIns="635" bIns="635" rtlCol="0" anchor="ctr">
            <a:normAutofit/>
          </a:bodyPr>
          <a:lstStyle/>
          <a:p>
            <a:pPr algn="ctr" indent="0" marL="0">
              <a:buNone/>
            </a:pPr>
            <a:r>
              <a:rPr lang="en-US" sz="900" dirty="0">
                <a:solidFill>
                  <a:srgbClr val="1F2937"/>
                </a:solidFill>
                <a:latin typeface="Noto Sans Arabic" pitchFamily="34" charset="0"/>
                <a:ea typeface="Noto Sans Arabic" pitchFamily="34" charset="-122"/>
                <a:cs typeface="Noto Sans Arabic" pitchFamily="34" charset="-120"/>
              </a:rPr>
              <a:t>Progressive Disclosure · Proximity · Explainability</a:t>
            </a:r>
            <a:endParaRPr lang="en-US" sz="900" dirty="0"/>
          </a:p>
        </p:txBody>
      </p:sp>
      <p:sp>
        <p:nvSpPr>
          <p:cNvPr id="41" name="Shape 39"/>
          <p:cNvSpPr/>
          <p:nvPr/>
        </p:nvSpPr>
        <p:spPr>
          <a:xfrm>
            <a:off x="4572000" y="4160520"/>
            <a:ext cx="3017520" cy="1051560"/>
          </a:xfrm>
          <a:prstGeom prst="roundRect">
            <a:avLst>
              <a:gd name="adj" fmla="val 10435"/>
            </a:avLst>
          </a:prstGeom>
          <a:solidFill>
            <a:srgbClr val="FFFFFF"/>
          </a:solidFill>
          <a:ln w="12700">
            <a:solidFill>
              <a:srgbClr val="E5E7EB"/>
            </a:solidFill>
            <a:prstDash val="solid"/>
          </a:ln>
        </p:spPr>
      </p:sp>
      <p:sp>
        <p:nvSpPr>
          <p:cNvPr id="42" name="Text 40"/>
          <p:cNvSpPr/>
          <p:nvPr/>
        </p:nvSpPr>
        <p:spPr>
          <a:xfrm>
            <a:off x="4800600" y="4343400"/>
            <a:ext cx="2560320" cy="18288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قانون سؤال‌ها</a:t>
            </a:r>
            <a:endParaRPr lang="en-US" sz="1200" dirty="0"/>
          </a:p>
        </p:txBody>
      </p:sp>
      <p:sp>
        <p:nvSpPr>
          <p:cNvPr id="43" name="Text 41"/>
          <p:cNvSpPr/>
          <p:nvPr/>
        </p:nvSpPr>
        <p:spPr>
          <a:xfrm>
            <a:off x="4800600" y="4681728"/>
            <a:ext cx="2560320" cy="219456"/>
          </a:xfrm>
          <a:prstGeom prst="rect">
            <a:avLst/>
          </a:prstGeom>
          <a:noFill/>
          <a:ln/>
        </p:spPr>
        <p:txBody>
          <a:bodyPr wrap="square" lIns="635" tIns="635" rIns="635" bIns="635" rtlCol="0" anchor="ctr">
            <a:normAutofit/>
          </a:bodyPr>
          <a:lstStyle/>
          <a:p>
            <a:pPr rtl="1" algn="ctr" indent="0" marL="0">
              <a:buNone/>
            </a:pPr>
            <a:r>
              <a:rPr lang="en-US" sz="1000" b="1" dirty="0">
                <a:solidFill>
                  <a:srgbClr val="C2185B"/>
                </a:solidFill>
                <a:latin typeface="Noto Sans Arabic" pitchFamily="34" charset="0"/>
                <a:ea typeface="Noto Sans Arabic" pitchFamily="34" charset="-122"/>
                <a:cs typeface="Noto Sans Arabic" pitchFamily="34" charset="-120"/>
              </a:rPr>
              <a:t>فقط چیزی بپرس که Recommendation را تغییر می‌دهد.</a:t>
            </a:r>
            <a:endParaRPr lang="en-US" sz="1000" dirty="0"/>
          </a:p>
        </p:txBody>
      </p:sp>
      <p:sp>
        <p:nvSpPr>
          <p:cNvPr id="44" name="Shape 42"/>
          <p:cNvSpPr/>
          <p:nvPr/>
        </p:nvSpPr>
        <p:spPr>
          <a:xfrm>
            <a:off x="8229600" y="4160520"/>
            <a:ext cx="3017520" cy="1051560"/>
          </a:xfrm>
          <a:prstGeom prst="roundRect">
            <a:avLst>
              <a:gd name="adj" fmla="val 10435"/>
            </a:avLst>
          </a:prstGeom>
          <a:solidFill>
            <a:srgbClr val="FFF5F8"/>
          </a:solidFill>
          <a:ln w="12700">
            <a:solidFill>
              <a:srgbClr val="FCE4EC"/>
            </a:solidFill>
            <a:prstDash val="solid"/>
          </a:ln>
        </p:spPr>
      </p:sp>
      <p:sp>
        <p:nvSpPr>
          <p:cNvPr id="45" name="Text 43"/>
          <p:cNvSpPr/>
          <p:nvPr/>
        </p:nvSpPr>
        <p:spPr>
          <a:xfrm>
            <a:off x="8458200" y="4343400"/>
            <a:ext cx="2560320" cy="182880"/>
          </a:xfrm>
          <a:prstGeom prst="rect">
            <a:avLst/>
          </a:prstGeom>
          <a:noFill/>
          <a:ln/>
        </p:spPr>
        <p:txBody>
          <a:bodyPr wrap="square" lIns="635" tIns="635" rIns="635" bIns="635" rtlCol="0" anchor="ctr">
            <a:normAutofit/>
          </a:bodyPr>
          <a:lstStyle/>
          <a:p>
            <a:pPr rtl="1" algn="r" indent="0" marL="0">
              <a:buNone/>
            </a:pPr>
            <a:r>
              <a:rPr lang="en-US" sz="1200" b="1" dirty="0">
                <a:solidFill>
                  <a:srgbClr val="14213D"/>
                </a:solidFill>
                <a:latin typeface="Noto Sans Arabic" pitchFamily="34" charset="0"/>
                <a:ea typeface="Noto Sans Arabic" pitchFamily="34" charset="-122"/>
                <a:cs typeface="Noto Sans Arabic" pitchFamily="34" charset="-120"/>
              </a:rPr>
              <a:t>لینک طراحی</a:t>
            </a:r>
            <a:endParaRPr lang="en-US" sz="1200" dirty="0"/>
          </a:p>
        </p:txBody>
      </p:sp>
      <p:sp>
        <p:nvSpPr>
          <p:cNvPr id="46" name="Text 44">
            <a:hlinkClick r:id="rId1" tooltip=""/>
          </p:cNvPr>
          <p:cNvSpPr/>
          <p:nvPr/>
        </p:nvSpPr>
        <p:spPr>
          <a:xfrm>
            <a:off x="8458200" y="4681728"/>
            <a:ext cx="2560320" cy="219456"/>
          </a:xfrm>
          <a:prstGeom prst="rect">
            <a:avLst/>
          </a:prstGeom>
          <a:noFill/>
          <a:ln/>
        </p:spPr>
        <p:txBody>
          <a:bodyPr wrap="square" lIns="635" tIns="635" rIns="635" bIns="635" rtlCol="0" anchor="ctr">
            <a:normAutofit/>
          </a:bodyPr>
          <a:lstStyle/>
          <a:p>
            <a:pPr algn="ctr" indent="0" marL="0">
              <a:buNone/>
            </a:pPr>
            <a:r>
              <a:rPr lang="en-US" sz="900" b="1" u="sng" dirty="0">
                <a:solidFill>
                  <a:srgbClr val="0F766E"/>
                </a:solidFill>
                <a:latin typeface="Noto Sans Arabic" pitchFamily="34" charset="0"/>
                <a:ea typeface="Noto Sans Arabic" pitchFamily="34" charset="-122"/>
                <a:cs typeface="Noto Sans Arab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Figma V2 Candidate</a:t>
            </a:r>
            <a:endParaRPr lang="en-US" sz="900" dirty="0"/>
          </a:p>
        </p:txBody>
      </p:sp>
      <p:sp>
        <p:nvSpPr>
          <p:cNvPr id="47" name="Text 45"/>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13</a:t>
            </a:r>
            <a:endParaRPr lang="en-US" sz="700" dirty="0"/>
          </a:p>
        </p:txBody>
      </p:sp>
      <p:sp>
        <p:nvSpPr>
          <p:cNvPr id="48" name="Text 46">
            <a:hlinkClick r:id="rId2"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2"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نقشه راه و اجرا؛ از تصمیم تا Jira</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Jira فقط محل اجرای Q17 تا Q20 است، نه آرشیو کل تحقیق.</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Delivery</a:t>
            </a:r>
            <a:endParaRPr lang="en-US" sz="800" dirty="0"/>
          </a:p>
        </p:txBody>
      </p:sp>
      <p:sp>
        <p:nvSpPr>
          <p:cNvPr id="7" name="Shape 5"/>
          <p:cNvSpPr/>
          <p:nvPr/>
        </p:nvSpPr>
        <p:spPr>
          <a:xfrm>
            <a:off x="685800" y="1417320"/>
            <a:ext cx="1572768" cy="868680"/>
          </a:xfrm>
          <a:prstGeom prst="roundRect">
            <a:avLst>
              <a:gd name="adj" fmla="val 12632"/>
            </a:avLst>
          </a:prstGeom>
          <a:solidFill>
            <a:srgbClr val="FFF5F8"/>
          </a:solidFill>
          <a:ln w="12700">
            <a:solidFill>
              <a:srgbClr val="FCE4EC"/>
            </a:solidFill>
            <a:prstDash val="solid"/>
          </a:ln>
        </p:spPr>
      </p:sp>
      <p:sp>
        <p:nvSpPr>
          <p:cNvPr id="8" name="Text 6"/>
          <p:cNvSpPr/>
          <p:nvPr/>
        </p:nvSpPr>
        <p:spPr>
          <a:xfrm>
            <a:off x="75895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E91E63"/>
                </a:solidFill>
                <a:latin typeface="Noto Sans Arabic" pitchFamily="34" charset="0"/>
                <a:ea typeface="Noto Sans Arabic" pitchFamily="34" charset="-122"/>
                <a:cs typeface="Noto Sans Arabic" pitchFamily="34" charset="-120"/>
              </a:rPr>
              <a:t>Demand Validation</a:t>
            </a:r>
            <a:endParaRPr lang="en-US" sz="870" dirty="0"/>
          </a:p>
        </p:txBody>
      </p:sp>
      <p:sp>
        <p:nvSpPr>
          <p:cNvPr id="9" name="Shape 7"/>
          <p:cNvSpPr/>
          <p:nvPr/>
        </p:nvSpPr>
        <p:spPr>
          <a:xfrm>
            <a:off x="2286000" y="1856232"/>
            <a:ext cx="219456" cy="0"/>
          </a:xfrm>
          <a:prstGeom prst="line">
            <a:avLst/>
          </a:prstGeom>
          <a:noFill/>
          <a:ln w="22860">
            <a:solidFill>
              <a:srgbClr val="E91E63"/>
            </a:solidFill>
            <a:prstDash val="solid"/>
            <a:headEnd type="none"/>
            <a:tailEnd type="triangle"/>
          </a:ln>
        </p:spPr>
      </p:sp>
      <p:sp>
        <p:nvSpPr>
          <p:cNvPr id="10" name="Shape 8"/>
          <p:cNvSpPr/>
          <p:nvPr/>
        </p:nvSpPr>
        <p:spPr>
          <a:xfrm>
            <a:off x="2560320" y="1417320"/>
            <a:ext cx="1572768" cy="868680"/>
          </a:xfrm>
          <a:prstGeom prst="roundRect">
            <a:avLst>
              <a:gd name="adj" fmla="val 12632"/>
            </a:avLst>
          </a:prstGeom>
          <a:solidFill>
            <a:srgbClr val="FFF5F8"/>
          </a:solidFill>
          <a:ln w="12700">
            <a:solidFill>
              <a:srgbClr val="FCE4EC"/>
            </a:solidFill>
            <a:prstDash val="solid"/>
          </a:ln>
        </p:spPr>
      </p:sp>
      <p:sp>
        <p:nvSpPr>
          <p:cNvPr id="11" name="Text 9"/>
          <p:cNvSpPr/>
          <p:nvPr/>
        </p:nvSpPr>
        <p:spPr>
          <a:xfrm>
            <a:off x="263347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E91E63"/>
                </a:solidFill>
                <a:latin typeface="Noto Sans Arabic" pitchFamily="34" charset="0"/>
                <a:ea typeface="Noto Sans Arabic" pitchFamily="34" charset="-122"/>
                <a:cs typeface="Noto Sans Arabic" pitchFamily="34" charset="-120"/>
              </a:rPr>
              <a:t>Concierge MVP</a:t>
            </a:r>
            <a:endParaRPr lang="en-US" sz="870" dirty="0"/>
          </a:p>
        </p:txBody>
      </p:sp>
      <p:sp>
        <p:nvSpPr>
          <p:cNvPr id="12" name="Shape 10"/>
          <p:cNvSpPr/>
          <p:nvPr/>
        </p:nvSpPr>
        <p:spPr>
          <a:xfrm>
            <a:off x="4160520" y="1856232"/>
            <a:ext cx="219456" cy="0"/>
          </a:xfrm>
          <a:prstGeom prst="line">
            <a:avLst/>
          </a:prstGeom>
          <a:noFill/>
          <a:ln w="22860">
            <a:solidFill>
              <a:srgbClr val="E91E63"/>
            </a:solidFill>
            <a:prstDash val="solid"/>
            <a:headEnd type="none"/>
            <a:tailEnd type="triangle"/>
          </a:ln>
        </p:spPr>
      </p:sp>
      <p:sp>
        <p:nvSpPr>
          <p:cNvPr id="13" name="Shape 11"/>
          <p:cNvSpPr/>
          <p:nvPr/>
        </p:nvSpPr>
        <p:spPr>
          <a:xfrm>
            <a:off x="4434840" y="1417320"/>
            <a:ext cx="1572768" cy="868680"/>
          </a:xfrm>
          <a:prstGeom prst="roundRect">
            <a:avLst>
              <a:gd name="adj" fmla="val 12632"/>
            </a:avLst>
          </a:prstGeom>
          <a:solidFill>
            <a:srgbClr val="FFFFFF"/>
          </a:solidFill>
          <a:ln w="12700">
            <a:solidFill>
              <a:srgbClr val="E5E7EB"/>
            </a:solidFill>
            <a:prstDash val="solid"/>
          </a:ln>
        </p:spPr>
      </p:sp>
      <p:sp>
        <p:nvSpPr>
          <p:cNvPr id="14" name="Text 12"/>
          <p:cNvSpPr/>
          <p:nvPr/>
        </p:nvSpPr>
        <p:spPr>
          <a:xfrm>
            <a:off x="450799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14213D"/>
                </a:solidFill>
                <a:latin typeface="Noto Sans Arabic" pitchFamily="34" charset="0"/>
                <a:ea typeface="Noto Sans Arabic" pitchFamily="34" charset="-122"/>
                <a:cs typeface="Noto Sans Arabic" pitchFamily="34" charset="-120"/>
              </a:rPr>
              <a:t>Rule-based MVP</a:t>
            </a:r>
            <a:endParaRPr lang="en-US" sz="870" dirty="0"/>
          </a:p>
        </p:txBody>
      </p:sp>
      <p:sp>
        <p:nvSpPr>
          <p:cNvPr id="15" name="Shape 13"/>
          <p:cNvSpPr/>
          <p:nvPr/>
        </p:nvSpPr>
        <p:spPr>
          <a:xfrm>
            <a:off x="6035040" y="1856232"/>
            <a:ext cx="219456" cy="0"/>
          </a:xfrm>
          <a:prstGeom prst="line">
            <a:avLst/>
          </a:prstGeom>
          <a:noFill/>
          <a:ln w="22860">
            <a:solidFill>
              <a:srgbClr val="E91E63"/>
            </a:solidFill>
            <a:prstDash val="solid"/>
            <a:headEnd type="none"/>
            <a:tailEnd type="triangle"/>
          </a:ln>
        </p:spPr>
      </p:sp>
      <p:sp>
        <p:nvSpPr>
          <p:cNvPr id="16" name="Shape 14"/>
          <p:cNvSpPr/>
          <p:nvPr/>
        </p:nvSpPr>
        <p:spPr>
          <a:xfrm>
            <a:off x="6309360" y="1417320"/>
            <a:ext cx="1572768" cy="868680"/>
          </a:xfrm>
          <a:prstGeom prst="roundRect">
            <a:avLst>
              <a:gd name="adj" fmla="val 12632"/>
            </a:avLst>
          </a:prstGeom>
          <a:solidFill>
            <a:srgbClr val="FFFFFF"/>
          </a:solidFill>
          <a:ln w="12700">
            <a:solidFill>
              <a:srgbClr val="E5E7EB"/>
            </a:solidFill>
            <a:prstDash val="solid"/>
          </a:ln>
        </p:spPr>
      </p:sp>
      <p:sp>
        <p:nvSpPr>
          <p:cNvPr id="17" name="Text 15"/>
          <p:cNvSpPr/>
          <p:nvPr/>
        </p:nvSpPr>
        <p:spPr>
          <a:xfrm>
            <a:off x="638251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14213D"/>
                </a:solidFill>
                <a:latin typeface="Noto Sans Arabic" pitchFamily="34" charset="0"/>
                <a:ea typeface="Noto Sans Arabic" pitchFamily="34" charset="-122"/>
                <a:cs typeface="Noto Sans Arabic" pitchFamily="34" charset="-120"/>
              </a:rPr>
              <a:t>Limited Pilot</a:t>
            </a:r>
            <a:endParaRPr lang="en-US" sz="870" dirty="0"/>
          </a:p>
        </p:txBody>
      </p:sp>
      <p:sp>
        <p:nvSpPr>
          <p:cNvPr id="18" name="Shape 16"/>
          <p:cNvSpPr/>
          <p:nvPr/>
        </p:nvSpPr>
        <p:spPr>
          <a:xfrm>
            <a:off x="7909560" y="1856232"/>
            <a:ext cx="219456" cy="0"/>
          </a:xfrm>
          <a:prstGeom prst="line">
            <a:avLst/>
          </a:prstGeom>
          <a:noFill/>
          <a:ln w="22860">
            <a:solidFill>
              <a:srgbClr val="E91E63"/>
            </a:solidFill>
            <a:prstDash val="solid"/>
            <a:headEnd type="none"/>
            <a:tailEnd type="triangle"/>
          </a:ln>
        </p:spPr>
      </p:sp>
      <p:sp>
        <p:nvSpPr>
          <p:cNvPr id="19" name="Shape 17"/>
          <p:cNvSpPr/>
          <p:nvPr/>
        </p:nvSpPr>
        <p:spPr>
          <a:xfrm>
            <a:off x="8183880" y="1417320"/>
            <a:ext cx="1572768" cy="868680"/>
          </a:xfrm>
          <a:prstGeom prst="roundRect">
            <a:avLst>
              <a:gd name="adj" fmla="val 12632"/>
            </a:avLst>
          </a:prstGeom>
          <a:solidFill>
            <a:srgbClr val="FFFFFF"/>
          </a:solidFill>
          <a:ln w="12700">
            <a:solidFill>
              <a:srgbClr val="E5E7EB"/>
            </a:solidFill>
            <a:prstDash val="solid"/>
          </a:ln>
        </p:spPr>
      </p:sp>
      <p:sp>
        <p:nvSpPr>
          <p:cNvPr id="20" name="Text 18"/>
          <p:cNvSpPr/>
          <p:nvPr/>
        </p:nvSpPr>
        <p:spPr>
          <a:xfrm>
            <a:off x="825703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14213D"/>
                </a:solidFill>
                <a:latin typeface="Noto Sans Arabic" pitchFamily="34" charset="0"/>
                <a:ea typeface="Noto Sans Arabic" pitchFamily="34" charset="-122"/>
                <a:cs typeface="Noto Sans Arabic" pitchFamily="34" charset="-120"/>
              </a:rPr>
              <a:t>Launch Readiness</a:t>
            </a:r>
            <a:endParaRPr lang="en-US" sz="870" dirty="0"/>
          </a:p>
        </p:txBody>
      </p:sp>
      <p:sp>
        <p:nvSpPr>
          <p:cNvPr id="21" name="Shape 19"/>
          <p:cNvSpPr/>
          <p:nvPr/>
        </p:nvSpPr>
        <p:spPr>
          <a:xfrm>
            <a:off x="9784080" y="1856232"/>
            <a:ext cx="219456" cy="0"/>
          </a:xfrm>
          <a:prstGeom prst="line">
            <a:avLst/>
          </a:prstGeom>
          <a:noFill/>
          <a:ln w="22860">
            <a:solidFill>
              <a:srgbClr val="E91E63"/>
            </a:solidFill>
            <a:prstDash val="solid"/>
            <a:headEnd type="none"/>
            <a:tailEnd type="triangle"/>
          </a:ln>
        </p:spPr>
      </p:sp>
      <p:sp>
        <p:nvSpPr>
          <p:cNvPr id="22" name="Shape 20"/>
          <p:cNvSpPr/>
          <p:nvPr/>
        </p:nvSpPr>
        <p:spPr>
          <a:xfrm>
            <a:off x="10058400" y="1417320"/>
            <a:ext cx="1572768" cy="868680"/>
          </a:xfrm>
          <a:prstGeom prst="roundRect">
            <a:avLst>
              <a:gd name="adj" fmla="val 12632"/>
            </a:avLst>
          </a:prstGeom>
          <a:solidFill>
            <a:srgbClr val="FFFFFF"/>
          </a:solidFill>
          <a:ln w="12700">
            <a:solidFill>
              <a:srgbClr val="E5E7EB"/>
            </a:solidFill>
            <a:prstDash val="solid"/>
          </a:ln>
        </p:spPr>
      </p:sp>
      <p:sp>
        <p:nvSpPr>
          <p:cNvPr id="23" name="Text 21"/>
          <p:cNvSpPr/>
          <p:nvPr/>
        </p:nvSpPr>
        <p:spPr>
          <a:xfrm>
            <a:off x="10131552" y="1737360"/>
            <a:ext cx="1426464" cy="201168"/>
          </a:xfrm>
          <a:prstGeom prst="rect">
            <a:avLst/>
          </a:prstGeom>
          <a:noFill/>
          <a:ln/>
        </p:spPr>
        <p:txBody>
          <a:bodyPr wrap="square" lIns="635" tIns="635" rIns="635" bIns="635" rtlCol="0" anchor="ctr">
            <a:normAutofit/>
          </a:bodyPr>
          <a:lstStyle/>
          <a:p>
            <a:pPr algn="ctr" indent="0" marL="0">
              <a:buNone/>
            </a:pPr>
            <a:r>
              <a:rPr lang="en-US" sz="870" b="1" dirty="0">
                <a:solidFill>
                  <a:srgbClr val="14213D"/>
                </a:solidFill>
                <a:latin typeface="Noto Sans Arabic" pitchFamily="34" charset="0"/>
                <a:ea typeface="Noto Sans Arabic" pitchFamily="34" charset="-122"/>
                <a:cs typeface="Noto Sans Arabic" pitchFamily="34" charset="-120"/>
              </a:rPr>
              <a:t>Scale Decision</a:t>
            </a:r>
            <a:endParaRPr lang="en-US" sz="870" dirty="0"/>
          </a:p>
        </p:txBody>
      </p:sp>
      <p:sp>
        <p:nvSpPr>
          <p:cNvPr id="24" name="Shape 22"/>
          <p:cNvSpPr/>
          <p:nvPr/>
        </p:nvSpPr>
        <p:spPr>
          <a:xfrm>
            <a:off x="1005840" y="3063240"/>
            <a:ext cx="10012680" cy="2011680"/>
          </a:xfrm>
          <a:prstGeom prst="roundRect">
            <a:avLst>
              <a:gd name="adj" fmla="val 5455"/>
            </a:avLst>
          </a:prstGeom>
          <a:solidFill>
            <a:srgbClr val="FFFFFF"/>
          </a:solidFill>
          <a:ln w="12700">
            <a:solidFill>
              <a:srgbClr val="E5E7EB"/>
            </a:solidFill>
            <a:prstDash val="solid"/>
          </a:ln>
        </p:spPr>
      </p:sp>
      <p:sp>
        <p:nvSpPr>
          <p:cNvPr id="25" name="Text 23"/>
          <p:cNvSpPr/>
          <p:nvPr/>
        </p:nvSpPr>
        <p:spPr>
          <a:xfrm>
            <a:off x="1280160" y="3291840"/>
            <a:ext cx="9464040" cy="228600"/>
          </a:xfrm>
          <a:prstGeom prst="rect">
            <a:avLst/>
          </a:prstGeom>
          <a:noFill/>
          <a:ln/>
        </p:spPr>
        <p:txBody>
          <a:bodyPr wrap="square" lIns="635" tIns="635" rIns="635" bIns="635" rtlCol="0" anchor="ctr">
            <a:normAutofit/>
          </a:bodyPr>
          <a:lstStyle/>
          <a:p>
            <a:pPr rtl="1" algn="ctr" indent="0" marL="0">
              <a:buNone/>
            </a:pPr>
            <a:r>
              <a:rPr lang="en-US" sz="1400" b="1" dirty="0">
                <a:solidFill>
                  <a:srgbClr val="14213D"/>
                </a:solidFill>
                <a:latin typeface="Noto Sans Arabic" pitchFamily="34" charset="0"/>
                <a:ea typeface="Noto Sans Arabic" pitchFamily="34" charset="-122"/>
                <a:cs typeface="Noto Sans Arabic" pitchFamily="34" charset="-120"/>
              </a:rPr>
              <a:t>زنجیره Jira</a:t>
            </a:r>
            <a:endParaRPr lang="en-US" sz="1400" dirty="0"/>
          </a:p>
        </p:txBody>
      </p:sp>
      <p:sp>
        <p:nvSpPr>
          <p:cNvPr id="26" name="Text 24"/>
          <p:cNvSpPr/>
          <p:nvPr/>
        </p:nvSpPr>
        <p:spPr>
          <a:xfrm>
            <a:off x="1280160" y="3749040"/>
            <a:ext cx="9464040" cy="320040"/>
          </a:xfrm>
          <a:prstGeom prst="rect">
            <a:avLst/>
          </a:prstGeom>
          <a:noFill/>
          <a:ln/>
        </p:spPr>
        <p:txBody>
          <a:bodyPr wrap="square" lIns="635" tIns="635" rIns="635" bIns="635" rtlCol="0" anchor="ctr">
            <a:normAutofit/>
          </a:bodyPr>
          <a:lstStyle/>
          <a:p>
            <a:pPr algn="ctr" indent="0" marL="0">
              <a:buNone/>
            </a:pPr>
            <a:r>
              <a:rPr lang="en-US" sz="1600" b="1" dirty="0">
                <a:solidFill>
                  <a:srgbClr val="C2185B"/>
                </a:solidFill>
                <a:latin typeface="Noto Sans Arabic" pitchFamily="34" charset="0"/>
                <a:ea typeface="Noto Sans Arabic" pitchFamily="34" charset="-122"/>
                <a:cs typeface="Noto Sans Arabic" pitchFamily="34" charset="-120"/>
              </a:rPr>
              <a:t>Roadmap → Epic → User Story → Acceptance Criteria → Sprint → Dependency</a:t>
            </a:r>
            <a:endParaRPr lang="en-US" sz="1600" dirty="0"/>
          </a:p>
        </p:txBody>
      </p:sp>
      <p:sp>
        <p:nvSpPr>
          <p:cNvPr id="27" name="Text 25"/>
          <p:cNvSpPr/>
          <p:nvPr/>
        </p:nvSpPr>
        <p:spPr>
          <a:xfrm>
            <a:off x="1280160" y="4434840"/>
            <a:ext cx="9464040" cy="292608"/>
          </a:xfrm>
          <a:prstGeom prst="rect">
            <a:avLst/>
          </a:prstGeom>
          <a:noFill/>
          <a:ln/>
        </p:spPr>
        <p:txBody>
          <a:bodyPr wrap="square" lIns="635" tIns="635" rIns="635" bIns="635" rtlCol="0" anchor="ctr">
            <a:normAutofit/>
          </a:bodyPr>
          <a:lstStyle/>
          <a:p>
            <a:pPr rtl="1" algn="ctr" indent="0" marL="0">
              <a:buNone/>
            </a:pPr>
            <a:r>
              <a:rPr lang="en-US" sz="1100" dirty="0">
                <a:solidFill>
                  <a:srgbClr val="6B7280"/>
                </a:solidFill>
                <a:latin typeface="Noto Sans Arabic" pitchFamily="34" charset="0"/>
                <a:ea typeface="Noto Sans Arabic" pitchFamily="34" charset="-122"/>
                <a:cs typeface="Noto Sans Arabic" pitchFamily="34" charset="-120"/>
              </a:rPr>
              <a:t>Confluence چرایی را نگه می‌دارد؛ Jira فقط کار قابل اجرا و قابل پیگیری را نگه می‌دارد.</a:t>
            </a:r>
            <a:endParaRPr lang="en-US" sz="1100" dirty="0"/>
          </a:p>
        </p:txBody>
      </p:sp>
      <p:sp>
        <p:nvSpPr>
          <p:cNvPr id="28" name="Text 26"/>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14</a:t>
            </a:r>
            <a:endParaRPr lang="en-US" sz="700" dirty="0"/>
          </a:p>
        </p:txBody>
      </p:sp>
      <p:sp>
        <p:nvSpPr>
          <p:cNvPr id="29" name="Text 27">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اندازه‌گیری موفقیت؛ Outcome قبل از Output</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برای فرار از Build Trap، موفقیت را با ارزش و رفتار می‌سنجیم، نه تعداد صفحه ساخته‌شده.</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Metrics</a:t>
            </a:r>
            <a:endParaRPr lang="en-US" sz="800" dirty="0"/>
          </a:p>
        </p:txBody>
      </p:sp>
      <p:sp>
        <p:nvSpPr>
          <p:cNvPr id="7" name="Shape 5"/>
          <p:cNvSpPr/>
          <p:nvPr/>
        </p:nvSpPr>
        <p:spPr>
          <a:xfrm>
            <a:off x="914400" y="1463040"/>
            <a:ext cx="1188720" cy="502920"/>
          </a:xfrm>
          <a:prstGeom prst="roundRect">
            <a:avLst>
              <a:gd name="adj" fmla="val 21818"/>
            </a:avLst>
          </a:prstGeom>
          <a:solidFill>
            <a:srgbClr val="FFF5F8"/>
          </a:solidFill>
          <a:ln w="12700">
            <a:solidFill>
              <a:srgbClr val="FCE4EC"/>
            </a:solidFill>
            <a:prstDash val="solid"/>
          </a:ln>
        </p:spPr>
      </p:sp>
      <p:sp>
        <p:nvSpPr>
          <p:cNvPr id="8" name="Text 6"/>
          <p:cNvSpPr/>
          <p:nvPr/>
        </p:nvSpPr>
        <p:spPr>
          <a:xfrm>
            <a:off x="950976" y="1627632"/>
            <a:ext cx="1115568"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Exposure</a:t>
            </a:r>
            <a:endParaRPr lang="en-US" sz="750" dirty="0"/>
          </a:p>
        </p:txBody>
      </p:sp>
      <p:sp>
        <p:nvSpPr>
          <p:cNvPr id="9" name="Shape 7"/>
          <p:cNvSpPr/>
          <p:nvPr/>
        </p:nvSpPr>
        <p:spPr>
          <a:xfrm>
            <a:off x="2139696" y="1719072"/>
            <a:ext cx="54864" cy="0"/>
          </a:xfrm>
          <a:prstGeom prst="line">
            <a:avLst/>
          </a:prstGeom>
          <a:noFill/>
          <a:ln w="22860">
            <a:solidFill>
              <a:srgbClr val="E91E63"/>
            </a:solidFill>
            <a:prstDash val="solid"/>
            <a:headEnd type="none"/>
            <a:tailEnd type="triangle"/>
          </a:ln>
        </p:spPr>
      </p:sp>
      <p:sp>
        <p:nvSpPr>
          <p:cNvPr id="10" name="Shape 8"/>
          <p:cNvSpPr/>
          <p:nvPr/>
        </p:nvSpPr>
        <p:spPr>
          <a:xfrm>
            <a:off x="2240280" y="1463040"/>
            <a:ext cx="1115568" cy="502920"/>
          </a:xfrm>
          <a:prstGeom prst="roundRect">
            <a:avLst>
              <a:gd name="adj" fmla="val 21818"/>
            </a:avLst>
          </a:prstGeom>
          <a:solidFill>
            <a:srgbClr val="FFF5F8"/>
          </a:solidFill>
          <a:ln w="12700">
            <a:solidFill>
              <a:srgbClr val="FCE4EC"/>
            </a:solidFill>
            <a:prstDash val="solid"/>
          </a:ln>
        </p:spPr>
      </p:sp>
      <p:sp>
        <p:nvSpPr>
          <p:cNvPr id="11" name="Text 9"/>
          <p:cNvSpPr/>
          <p:nvPr/>
        </p:nvSpPr>
        <p:spPr>
          <a:xfrm>
            <a:off x="2276856" y="1627632"/>
            <a:ext cx="1042416"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Start</a:t>
            </a:r>
            <a:endParaRPr lang="en-US" sz="750" dirty="0"/>
          </a:p>
        </p:txBody>
      </p:sp>
      <p:sp>
        <p:nvSpPr>
          <p:cNvPr id="12" name="Shape 10"/>
          <p:cNvSpPr/>
          <p:nvPr/>
        </p:nvSpPr>
        <p:spPr>
          <a:xfrm>
            <a:off x="3392424" y="1719072"/>
            <a:ext cx="128016" cy="0"/>
          </a:xfrm>
          <a:prstGeom prst="line">
            <a:avLst/>
          </a:prstGeom>
          <a:noFill/>
          <a:ln w="22860">
            <a:solidFill>
              <a:srgbClr val="E91E63"/>
            </a:solidFill>
            <a:prstDash val="solid"/>
            <a:headEnd type="none"/>
            <a:tailEnd type="triangle"/>
          </a:ln>
        </p:spPr>
      </p:sp>
      <p:sp>
        <p:nvSpPr>
          <p:cNvPr id="13" name="Shape 11"/>
          <p:cNvSpPr/>
          <p:nvPr/>
        </p:nvSpPr>
        <p:spPr>
          <a:xfrm>
            <a:off x="3566160" y="1463040"/>
            <a:ext cx="1042416" cy="502920"/>
          </a:xfrm>
          <a:prstGeom prst="roundRect">
            <a:avLst>
              <a:gd name="adj" fmla="val 21818"/>
            </a:avLst>
          </a:prstGeom>
          <a:solidFill>
            <a:srgbClr val="FFF5F8"/>
          </a:solidFill>
          <a:ln w="12700">
            <a:solidFill>
              <a:srgbClr val="FCE4EC"/>
            </a:solidFill>
            <a:prstDash val="solid"/>
          </a:ln>
        </p:spPr>
      </p:sp>
      <p:sp>
        <p:nvSpPr>
          <p:cNvPr id="14" name="Text 12"/>
          <p:cNvSpPr/>
          <p:nvPr/>
        </p:nvSpPr>
        <p:spPr>
          <a:xfrm>
            <a:off x="3602736" y="1627632"/>
            <a:ext cx="969264"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Completion</a:t>
            </a:r>
            <a:endParaRPr lang="en-US" sz="750" dirty="0"/>
          </a:p>
        </p:txBody>
      </p:sp>
      <p:sp>
        <p:nvSpPr>
          <p:cNvPr id="15" name="Shape 13"/>
          <p:cNvSpPr/>
          <p:nvPr/>
        </p:nvSpPr>
        <p:spPr>
          <a:xfrm>
            <a:off x="4645152" y="1719072"/>
            <a:ext cx="201168" cy="0"/>
          </a:xfrm>
          <a:prstGeom prst="line">
            <a:avLst/>
          </a:prstGeom>
          <a:noFill/>
          <a:ln w="22860">
            <a:solidFill>
              <a:srgbClr val="E91E63"/>
            </a:solidFill>
            <a:prstDash val="solid"/>
            <a:headEnd type="none"/>
            <a:tailEnd type="triangle"/>
          </a:ln>
        </p:spPr>
      </p:sp>
      <p:sp>
        <p:nvSpPr>
          <p:cNvPr id="16" name="Shape 14"/>
          <p:cNvSpPr/>
          <p:nvPr/>
        </p:nvSpPr>
        <p:spPr>
          <a:xfrm>
            <a:off x="4892040" y="1463040"/>
            <a:ext cx="969264" cy="502920"/>
          </a:xfrm>
          <a:prstGeom prst="roundRect">
            <a:avLst>
              <a:gd name="adj" fmla="val 21818"/>
            </a:avLst>
          </a:prstGeom>
          <a:solidFill>
            <a:srgbClr val="FFF5F8"/>
          </a:solidFill>
          <a:ln w="12700">
            <a:solidFill>
              <a:srgbClr val="FCE4EC"/>
            </a:solidFill>
            <a:prstDash val="solid"/>
          </a:ln>
        </p:spPr>
      </p:sp>
      <p:sp>
        <p:nvSpPr>
          <p:cNvPr id="17" name="Text 15"/>
          <p:cNvSpPr/>
          <p:nvPr/>
        </p:nvSpPr>
        <p:spPr>
          <a:xfrm>
            <a:off x="4928616" y="1627632"/>
            <a:ext cx="896112"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Reco View</a:t>
            </a:r>
            <a:endParaRPr lang="en-US" sz="750" dirty="0"/>
          </a:p>
        </p:txBody>
      </p:sp>
      <p:sp>
        <p:nvSpPr>
          <p:cNvPr id="18" name="Shape 16"/>
          <p:cNvSpPr/>
          <p:nvPr/>
        </p:nvSpPr>
        <p:spPr>
          <a:xfrm>
            <a:off x="5897880" y="1719072"/>
            <a:ext cx="274320" cy="0"/>
          </a:xfrm>
          <a:prstGeom prst="line">
            <a:avLst/>
          </a:prstGeom>
          <a:noFill/>
          <a:ln w="22860">
            <a:solidFill>
              <a:srgbClr val="E91E63"/>
            </a:solidFill>
            <a:prstDash val="solid"/>
            <a:headEnd type="none"/>
            <a:tailEnd type="triangle"/>
          </a:ln>
        </p:spPr>
      </p:sp>
      <p:sp>
        <p:nvSpPr>
          <p:cNvPr id="19" name="Shape 17"/>
          <p:cNvSpPr/>
          <p:nvPr/>
        </p:nvSpPr>
        <p:spPr>
          <a:xfrm>
            <a:off x="6217920" y="1463040"/>
            <a:ext cx="896112" cy="502920"/>
          </a:xfrm>
          <a:prstGeom prst="roundRect">
            <a:avLst>
              <a:gd name="adj" fmla="val 21818"/>
            </a:avLst>
          </a:prstGeom>
          <a:solidFill>
            <a:srgbClr val="FFF5F8"/>
          </a:solidFill>
          <a:ln w="12700">
            <a:solidFill>
              <a:srgbClr val="FCE4EC"/>
            </a:solidFill>
            <a:prstDash val="solid"/>
          </a:ln>
        </p:spPr>
      </p:sp>
      <p:sp>
        <p:nvSpPr>
          <p:cNvPr id="20" name="Text 18"/>
          <p:cNvSpPr/>
          <p:nvPr/>
        </p:nvSpPr>
        <p:spPr>
          <a:xfrm>
            <a:off x="6254496" y="1627632"/>
            <a:ext cx="822960"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Reco Click</a:t>
            </a:r>
            <a:endParaRPr lang="en-US" sz="750" dirty="0"/>
          </a:p>
        </p:txBody>
      </p:sp>
      <p:sp>
        <p:nvSpPr>
          <p:cNvPr id="21" name="Shape 19"/>
          <p:cNvSpPr/>
          <p:nvPr/>
        </p:nvSpPr>
        <p:spPr>
          <a:xfrm>
            <a:off x="7150608" y="1719072"/>
            <a:ext cx="347472" cy="0"/>
          </a:xfrm>
          <a:prstGeom prst="line">
            <a:avLst/>
          </a:prstGeom>
          <a:noFill/>
          <a:ln w="22860">
            <a:solidFill>
              <a:srgbClr val="E91E63"/>
            </a:solidFill>
            <a:prstDash val="solid"/>
            <a:headEnd type="none"/>
            <a:tailEnd type="triangle"/>
          </a:ln>
        </p:spPr>
      </p:sp>
      <p:sp>
        <p:nvSpPr>
          <p:cNvPr id="22" name="Shape 20"/>
          <p:cNvSpPr/>
          <p:nvPr/>
        </p:nvSpPr>
        <p:spPr>
          <a:xfrm>
            <a:off x="7543800" y="1463040"/>
            <a:ext cx="822960" cy="502920"/>
          </a:xfrm>
          <a:prstGeom prst="roundRect">
            <a:avLst>
              <a:gd name="adj" fmla="val 21818"/>
            </a:avLst>
          </a:prstGeom>
          <a:solidFill>
            <a:srgbClr val="FFF5F8"/>
          </a:solidFill>
          <a:ln w="12700">
            <a:solidFill>
              <a:srgbClr val="FCE4EC"/>
            </a:solidFill>
            <a:prstDash val="solid"/>
          </a:ln>
        </p:spPr>
      </p:sp>
      <p:sp>
        <p:nvSpPr>
          <p:cNvPr id="23" name="Text 21"/>
          <p:cNvSpPr/>
          <p:nvPr/>
        </p:nvSpPr>
        <p:spPr>
          <a:xfrm>
            <a:off x="7580376" y="1627632"/>
            <a:ext cx="749808"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PDP</a:t>
            </a:r>
            <a:endParaRPr lang="en-US" sz="750" dirty="0"/>
          </a:p>
        </p:txBody>
      </p:sp>
      <p:sp>
        <p:nvSpPr>
          <p:cNvPr id="24" name="Shape 22"/>
          <p:cNvSpPr/>
          <p:nvPr/>
        </p:nvSpPr>
        <p:spPr>
          <a:xfrm>
            <a:off x="8403336" y="1719072"/>
            <a:ext cx="420624" cy="0"/>
          </a:xfrm>
          <a:prstGeom prst="line">
            <a:avLst/>
          </a:prstGeom>
          <a:noFill/>
          <a:ln w="22860">
            <a:solidFill>
              <a:srgbClr val="E91E63"/>
            </a:solidFill>
            <a:prstDash val="solid"/>
            <a:headEnd type="none"/>
            <a:tailEnd type="triangle"/>
          </a:ln>
        </p:spPr>
      </p:sp>
      <p:sp>
        <p:nvSpPr>
          <p:cNvPr id="25" name="Shape 23"/>
          <p:cNvSpPr/>
          <p:nvPr/>
        </p:nvSpPr>
        <p:spPr>
          <a:xfrm>
            <a:off x="8869680" y="1463040"/>
            <a:ext cx="749808" cy="502920"/>
          </a:xfrm>
          <a:prstGeom prst="roundRect">
            <a:avLst>
              <a:gd name="adj" fmla="val 21818"/>
            </a:avLst>
          </a:prstGeom>
          <a:solidFill>
            <a:srgbClr val="FFF5F8"/>
          </a:solidFill>
          <a:ln w="12700">
            <a:solidFill>
              <a:srgbClr val="FCE4EC"/>
            </a:solidFill>
            <a:prstDash val="solid"/>
          </a:ln>
        </p:spPr>
      </p:sp>
      <p:sp>
        <p:nvSpPr>
          <p:cNvPr id="26" name="Text 24"/>
          <p:cNvSpPr/>
          <p:nvPr/>
        </p:nvSpPr>
        <p:spPr>
          <a:xfrm>
            <a:off x="8906256" y="1627632"/>
            <a:ext cx="676656"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ATC</a:t>
            </a:r>
            <a:endParaRPr lang="en-US" sz="750" dirty="0"/>
          </a:p>
        </p:txBody>
      </p:sp>
      <p:sp>
        <p:nvSpPr>
          <p:cNvPr id="27" name="Shape 25"/>
          <p:cNvSpPr/>
          <p:nvPr/>
        </p:nvSpPr>
        <p:spPr>
          <a:xfrm>
            <a:off x="9656064" y="1719072"/>
            <a:ext cx="493776" cy="0"/>
          </a:xfrm>
          <a:prstGeom prst="line">
            <a:avLst/>
          </a:prstGeom>
          <a:noFill/>
          <a:ln w="22860">
            <a:solidFill>
              <a:srgbClr val="E91E63"/>
            </a:solidFill>
            <a:prstDash val="solid"/>
            <a:headEnd type="none"/>
            <a:tailEnd type="triangle"/>
          </a:ln>
        </p:spPr>
      </p:sp>
      <p:sp>
        <p:nvSpPr>
          <p:cNvPr id="28" name="Shape 26"/>
          <p:cNvSpPr/>
          <p:nvPr/>
        </p:nvSpPr>
        <p:spPr>
          <a:xfrm>
            <a:off x="10195560" y="1463040"/>
            <a:ext cx="676656" cy="502920"/>
          </a:xfrm>
          <a:prstGeom prst="roundRect">
            <a:avLst>
              <a:gd name="adj" fmla="val 21818"/>
            </a:avLst>
          </a:prstGeom>
          <a:solidFill>
            <a:srgbClr val="FFF5F8"/>
          </a:solidFill>
          <a:ln w="12700">
            <a:solidFill>
              <a:srgbClr val="FCE4EC"/>
            </a:solidFill>
            <a:prstDash val="solid"/>
          </a:ln>
        </p:spPr>
      </p:sp>
      <p:sp>
        <p:nvSpPr>
          <p:cNvPr id="29" name="Text 27"/>
          <p:cNvSpPr/>
          <p:nvPr/>
        </p:nvSpPr>
        <p:spPr>
          <a:xfrm>
            <a:off x="10232136" y="1627632"/>
            <a:ext cx="603504" cy="146304"/>
          </a:xfrm>
          <a:prstGeom prst="rect">
            <a:avLst/>
          </a:prstGeom>
          <a:noFill/>
          <a:ln/>
        </p:spPr>
        <p:txBody>
          <a:bodyPr wrap="square" lIns="635" tIns="635" rIns="635" bIns="635" rtlCol="0" anchor="ctr">
            <a:normAutofit/>
          </a:bodyPr>
          <a:lstStyle/>
          <a:p>
            <a:pPr algn="ctr" indent="0" marL="0">
              <a:buNone/>
            </a:pPr>
            <a:r>
              <a:rPr lang="en-US" sz="750" b="1" dirty="0">
                <a:solidFill>
                  <a:srgbClr val="14213D"/>
                </a:solidFill>
                <a:latin typeface="Noto Sans Arabic" pitchFamily="34" charset="0"/>
                <a:ea typeface="Noto Sans Arabic" pitchFamily="34" charset="-122"/>
                <a:cs typeface="Noto Sans Arabic" pitchFamily="34" charset="-120"/>
              </a:rPr>
              <a:t>Purchase</a:t>
            </a:r>
            <a:endParaRPr lang="en-US" sz="750" dirty="0"/>
          </a:p>
        </p:txBody>
      </p:sp>
      <p:sp>
        <p:nvSpPr>
          <p:cNvPr id="30" name="Shape 28"/>
          <p:cNvSpPr/>
          <p:nvPr/>
        </p:nvSpPr>
        <p:spPr>
          <a:xfrm>
            <a:off x="960120" y="3063240"/>
            <a:ext cx="4800600" cy="1737360"/>
          </a:xfrm>
          <a:prstGeom prst="roundRect">
            <a:avLst>
              <a:gd name="adj" fmla="val 6316"/>
            </a:avLst>
          </a:prstGeom>
          <a:solidFill>
            <a:srgbClr val="FFFFFF"/>
          </a:solidFill>
          <a:ln w="12700">
            <a:solidFill>
              <a:srgbClr val="E5E7EB"/>
            </a:solidFill>
            <a:prstDash val="solid"/>
          </a:ln>
        </p:spPr>
      </p:sp>
      <p:sp>
        <p:nvSpPr>
          <p:cNvPr id="31" name="Text 29"/>
          <p:cNvSpPr/>
          <p:nvPr/>
        </p:nvSpPr>
        <p:spPr>
          <a:xfrm>
            <a:off x="1234440" y="3291840"/>
            <a:ext cx="425196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North Star پیشنهادی</a:t>
            </a:r>
            <a:endParaRPr lang="en-US" sz="1300" dirty="0"/>
          </a:p>
        </p:txBody>
      </p:sp>
      <p:sp>
        <p:nvSpPr>
          <p:cNvPr id="32" name="Text 30"/>
          <p:cNvSpPr/>
          <p:nvPr/>
        </p:nvSpPr>
        <p:spPr>
          <a:xfrm>
            <a:off x="1234440" y="3730752"/>
            <a:ext cx="4251960" cy="292608"/>
          </a:xfrm>
          <a:prstGeom prst="rect">
            <a:avLst/>
          </a:prstGeom>
          <a:noFill/>
          <a:ln/>
        </p:spPr>
        <p:txBody>
          <a:bodyPr wrap="square" lIns="635" tIns="635" rIns="635" bIns="635" rtlCol="0" anchor="ctr">
            <a:normAutofit/>
          </a:bodyPr>
          <a:lstStyle/>
          <a:p>
            <a:pPr algn="ctr" indent="0" marL="0">
              <a:buNone/>
            </a:pPr>
            <a:r>
              <a:rPr lang="en-US" sz="1500" b="1" dirty="0">
                <a:solidFill>
                  <a:srgbClr val="E91E63"/>
                </a:solidFill>
                <a:latin typeface="Noto Sans Arabic" pitchFamily="34" charset="0"/>
                <a:ea typeface="Noto Sans Arabic" pitchFamily="34" charset="-122"/>
                <a:cs typeface="Noto Sans Arabic" pitchFamily="34" charset="-120"/>
              </a:rPr>
              <a:t>Qualified Recommendation-to-Purchase Rate</a:t>
            </a:r>
            <a:endParaRPr lang="en-US" sz="1500" dirty="0"/>
          </a:p>
        </p:txBody>
      </p:sp>
      <p:sp>
        <p:nvSpPr>
          <p:cNvPr id="33" name="Text 31"/>
          <p:cNvSpPr/>
          <p:nvPr/>
        </p:nvSpPr>
        <p:spPr>
          <a:xfrm>
            <a:off x="1234440" y="4187952"/>
            <a:ext cx="4251960" cy="201168"/>
          </a:xfrm>
          <a:prstGeom prst="rect">
            <a:avLst/>
          </a:prstGeom>
          <a:noFill/>
          <a:ln/>
        </p:spPr>
        <p:txBody>
          <a:bodyPr wrap="square" lIns="635" tIns="635" rIns="635" bIns="635" rtlCol="0" anchor="ctr">
            <a:normAutofit/>
          </a:bodyPr>
          <a:lstStyle/>
          <a:p>
            <a:pPr rtl="1" algn="ctr" indent="0" marL="0">
              <a:buNone/>
            </a:pPr>
            <a:r>
              <a:rPr lang="en-US" sz="850" dirty="0">
                <a:solidFill>
                  <a:srgbClr val="6B7280"/>
                </a:solidFill>
                <a:latin typeface="Noto Sans Arabic" pitchFamily="34" charset="0"/>
                <a:ea typeface="Noto Sans Arabic" pitchFamily="34" charset="-122"/>
                <a:cs typeface="Noto Sans Arabic" pitchFamily="34" charset="-120"/>
              </a:rPr>
              <a:t>فقط اگر Attribution و پنجره زمانی درست تعریف شود.</a:t>
            </a:r>
            <a:endParaRPr lang="en-US" sz="850" dirty="0"/>
          </a:p>
        </p:txBody>
      </p:sp>
      <p:sp>
        <p:nvSpPr>
          <p:cNvPr id="34" name="Shape 32"/>
          <p:cNvSpPr/>
          <p:nvPr/>
        </p:nvSpPr>
        <p:spPr>
          <a:xfrm>
            <a:off x="6309360" y="3063240"/>
            <a:ext cx="4800600" cy="1737360"/>
          </a:xfrm>
          <a:prstGeom prst="roundRect">
            <a:avLst>
              <a:gd name="adj" fmla="val 6316"/>
            </a:avLst>
          </a:prstGeom>
          <a:solidFill>
            <a:srgbClr val="FFF5F8"/>
          </a:solidFill>
          <a:ln w="12700">
            <a:solidFill>
              <a:srgbClr val="FCE4EC"/>
            </a:solidFill>
            <a:prstDash val="solid"/>
          </a:ln>
        </p:spPr>
      </p:sp>
      <p:sp>
        <p:nvSpPr>
          <p:cNvPr id="35" name="Text 33"/>
          <p:cNvSpPr/>
          <p:nvPr/>
        </p:nvSpPr>
        <p:spPr>
          <a:xfrm>
            <a:off x="6583680" y="3291840"/>
            <a:ext cx="4251960" cy="228600"/>
          </a:xfrm>
          <a:prstGeom prst="rect">
            <a:avLst/>
          </a:prstGeom>
          <a:noFill/>
          <a:ln/>
        </p:spPr>
        <p:txBody>
          <a:bodyPr wrap="square" lIns="635" tIns="635" rIns="635" bIns="635" rtlCol="0" anchor="ctr">
            <a:normAutofit/>
          </a:bodyPr>
          <a:lstStyle/>
          <a:p>
            <a:pPr rtl="1" algn="r" indent="0" marL="0">
              <a:buNone/>
            </a:pPr>
            <a:r>
              <a:rPr lang="en-US" sz="1300" b="1" dirty="0">
                <a:solidFill>
                  <a:srgbClr val="14213D"/>
                </a:solidFill>
                <a:latin typeface="Noto Sans Arabic" pitchFamily="34" charset="0"/>
                <a:ea typeface="Noto Sans Arabic" pitchFamily="34" charset="-122"/>
                <a:cs typeface="Noto Sans Arabic" pitchFamily="34" charset="-120"/>
              </a:rPr>
              <a:t>Guardrails</a:t>
            </a:r>
            <a:endParaRPr lang="en-US" sz="1300" dirty="0"/>
          </a:p>
        </p:txBody>
      </p:sp>
      <p:sp>
        <p:nvSpPr>
          <p:cNvPr id="36" name="Text 34"/>
          <p:cNvSpPr/>
          <p:nvPr/>
        </p:nvSpPr>
        <p:spPr>
          <a:xfrm>
            <a:off x="6583680" y="3730752"/>
            <a:ext cx="4251960" cy="457200"/>
          </a:xfrm>
          <a:prstGeom prst="rect">
            <a:avLst/>
          </a:prstGeom>
          <a:noFill/>
          <a:ln/>
        </p:spPr>
        <p:txBody>
          <a:bodyPr wrap="square" lIns="635" tIns="635" rIns="635" bIns="635" rtlCol="0" anchor="ctr">
            <a:normAutofit/>
          </a:bodyPr>
          <a:lstStyle/>
          <a:p>
            <a:pPr algn="ctr" indent="0" marL="0">
              <a:buNone/>
            </a:pPr>
            <a:r>
              <a:rPr lang="en-US" sz="1000" b="1" dirty="0">
                <a:solidFill>
                  <a:srgbClr val="C2185B"/>
                </a:solidFill>
                <a:latin typeface="Noto Sans Arabic" pitchFamily="34" charset="0"/>
                <a:ea typeface="Noto Sans Arabic" pitchFamily="34" charset="-122"/>
                <a:cs typeface="Noto Sans Arabic" pitchFamily="34" charset="-120"/>
              </a:rPr>
              <a:t>Wrong-fit · Complaint · Return · Refund · Unsafe recommendation · Out-of-stock · Reliability</a:t>
            </a:r>
            <a:endParaRPr lang="en-US" sz="1000" dirty="0"/>
          </a:p>
        </p:txBody>
      </p:sp>
      <p:sp>
        <p:nvSpPr>
          <p:cNvPr id="37" name="Text 35"/>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15</a:t>
            </a:r>
            <a:endParaRPr lang="en-US" sz="700" dirty="0"/>
          </a:p>
        </p:txBody>
      </p:sp>
      <p:sp>
        <p:nvSpPr>
          <p:cNvPr id="38" name="Text 36">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جذب و نگهداشت؛ اول In-product، بعد Scale</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قبل از اثبات ارزش، نباید Growth بزرگ بیرونی اجرا شود.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Growth</a:t>
            </a:r>
            <a:endParaRPr lang="en-US" sz="800" dirty="0"/>
          </a:p>
        </p:txBody>
      </p:sp>
      <p:sp>
        <p:nvSpPr>
          <p:cNvPr id="7" name="Shape 5"/>
          <p:cNvSpPr/>
          <p:nvPr/>
        </p:nvSpPr>
        <p:spPr>
          <a:xfrm>
            <a:off x="777240" y="1417320"/>
            <a:ext cx="4983480" cy="4023360"/>
          </a:xfrm>
          <a:prstGeom prst="roundRect">
            <a:avLst>
              <a:gd name="adj" fmla="val 2727"/>
            </a:avLst>
          </a:prstGeom>
          <a:solidFill>
            <a:srgbClr val="FFFFFF"/>
          </a:solidFill>
          <a:ln w="12700">
            <a:solidFill>
              <a:srgbClr val="E5E7EB"/>
            </a:solidFill>
            <a:prstDash val="solid"/>
          </a:ln>
        </p:spPr>
      </p:sp>
      <p:sp>
        <p:nvSpPr>
          <p:cNvPr id="8" name="Text 6"/>
          <p:cNvSpPr/>
          <p:nvPr/>
        </p:nvSpPr>
        <p:spPr>
          <a:xfrm>
            <a:off x="1051560" y="1664208"/>
            <a:ext cx="4434840" cy="228600"/>
          </a:xfrm>
          <a:prstGeom prst="rect">
            <a:avLst/>
          </a:prstGeom>
          <a:noFill/>
          <a:ln/>
        </p:spPr>
        <p:txBody>
          <a:bodyPr wrap="square" lIns="635" tIns="635" rIns="635" bIns="635" rtlCol="0" anchor="ctr">
            <a:normAutofit/>
          </a:bodyPr>
          <a:lstStyle/>
          <a:p>
            <a:pPr rtl="1" algn="r" indent="0" marL="0">
              <a:buNone/>
            </a:pPr>
            <a:r>
              <a:rPr lang="en-US" sz="1400" b="1" dirty="0">
                <a:solidFill>
                  <a:srgbClr val="14213D"/>
                </a:solidFill>
                <a:latin typeface="Noto Sans Arabic" pitchFamily="34" charset="0"/>
                <a:ea typeface="Noto Sans Arabic" pitchFamily="34" charset="-122"/>
                <a:cs typeface="Noto Sans Arabic" pitchFamily="34" charset="-120"/>
              </a:rPr>
              <a:t>Acquisition منطقی برای MVP</a:t>
            </a:r>
            <a:endParaRPr lang="en-US" sz="1400" dirty="0"/>
          </a:p>
        </p:txBody>
      </p:sp>
      <p:sp>
        <p:nvSpPr>
          <p:cNvPr id="9" name="Text 7"/>
          <p:cNvSpPr/>
          <p:nvPr/>
        </p:nvSpPr>
        <p:spPr>
          <a:xfrm>
            <a:off x="1051560" y="2121408"/>
            <a:ext cx="4434840" cy="1554480"/>
          </a:xfrm>
          <a:prstGeom prst="rect">
            <a:avLst/>
          </a:prstGeom>
          <a:noFill/>
          <a:ln/>
        </p:spPr>
        <p:txBody>
          <a:bodyPr wrap="square" lIns="635" tIns="635" rIns="635" bIns="635" rtlCol="0" anchor="ctr">
            <a:normAutofit/>
          </a:bodyPr>
          <a:lstStyle/>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۱. Entry در Home / Category / PDP</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۲. CTA مبتنی بر نیاز، نه تبلیغ عمومی</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۳. محدود به کاربران واجد شرایط</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۴. اندازه‌گیری Start / Completion</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۵. بدون کمپین بزرگ قبل از Signal</a:t>
            </a:r>
            <a:endParaRPr lang="en-US" sz="1200" dirty="0"/>
          </a:p>
        </p:txBody>
      </p:sp>
      <p:sp>
        <p:nvSpPr>
          <p:cNvPr id="10" name="Shape 8"/>
          <p:cNvSpPr/>
          <p:nvPr/>
        </p:nvSpPr>
        <p:spPr>
          <a:xfrm>
            <a:off x="6355080" y="1417320"/>
            <a:ext cx="4983480" cy="4023360"/>
          </a:xfrm>
          <a:prstGeom prst="roundRect">
            <a:avLst>
              <a:gd name="adj" fmla="val 2727"/>
            </a:avLst>
          </a:prstGeom>
          <a:solidFill>
            <a:srgbClr val="FFF5F8"/>
          </a:solidFill>
          <a:ln w="12700">
            <a:solidFill>
              <a:srgbClr val="FCE4EC"/>
            </a:solidFill>
            <a:prstDash val="solid"/>
          </a:ln>
        </p:spPr>
      </p:sp>
      <p:sp>
        <p:nvSpPr>
          <p:cNvPr id="11" name="Text 9"/>
          <p:cNvSpPr/>
          <p:nvPr/>
        </p:nvSpPr>
        <p:spPr>
          <a:xfrm>
            <a:off x="6629400" y="1664208"/>
            <a:ext cx="4434840" cy="228600"/>
          </a:xfrm>
          <a:prstGeom prst="rect">
            <a:avLst/>
          </a:prstGeom>
          <a:noFill/>
          <a:ln/>
        </p:spPr>
        <p:txBody>
          <a:bodyPr wrap="square" lIns="635" tIns="635" rIns="635" bIns="635" rtlCol="0" anchor="ctr">
            <a:normAutofit/>
          </a:bodyPr>
          <a:lstStyle/>
          <a:p>
            <a:pPr rtl="1" algn="r" indent="0" marL="0">
              <a:buNone/>
            </a:pPr>
            <a:r>
              <a:rPr lang="en-US" sz="1400" b="1" dirty="0">
                <a:solidFill>
                  <a:srgbClr val="14213D"/>
                </a:solidFill>
                <a:latin typeface="Noto Sans Arabic" pitchFamily="34" charset="0"/>
                <a:ea typeface="Noto Sans Arabic" pitchFamily="34" charset="-122"/>
                <a:cs typeface="Noto Sans Arabic" pitchFamily="34" charset="-120"/>
              </a:rPr>
              <a:t>Retention منطقی بعد از Validation</a:t>
            </a:r>
            <a:endParaRPr lang="en-US" sz="1400" dirty="0"/>
          </a:p>
        </p:txBody>
      </p:sp>
      <p:sp>
        <p:nvSpPr>
          <p:cNvPr id="12" name="Text 10"/>
          <p:cNvSpPr/>
          <p:nvPr/>
        </p:nvSpPr>
        <p:spPr>
          <a:xfrm>
            <a:off x="6629400" y="2121408"/>
            <a:ext cx="4434840" cy="1554480"/>
          </a:xfrm>
          <a:prstGeom prst="rect">
            <a:avLst/>
          </a:prstGeom>
          <a:noFill/>
          <a:ln/>
        </p:spPr>
        <p:txBody>
          <a:bodyPr wrap="square" lIns="635" tIns="635" rIns="635" bIns="635" rtlCol="0" anchor="ctr">
            <a:normAutofit/>
          </a:bodyPr>
          <a:lstStyle/>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۱. ذخیره ترجیحات فقط با اجازه کاربر</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۲. یادآوری نیاز بعدی</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۳. پیشنهاد جایگزین هنگام ناموجودی</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۴. cohort برای کاربران استفاده‌کننده از Feature</a:t>
            </a:r>
            <a:endParaRPr lang="en-US" sz="1200" dirty="0"/>
          </a:p>
          <a:p>
            <a:pPr rtl="1" algn="r" indent="0" marL="0">
              <a:buNone/>
            </a:pPr>
            <a:r>
              <a:rPr lang="en-US" sz="1200" dirty="0">
                <a:solidFill>
                  <a:srgbClr val="1F2937"/>
                </a:solidFill>
                <a:latin typeface="Noto Sans Arabic" pitchFamily="34" charset="0"/>
                <a:ea typeface="Noto Sans Arabic" pitchFamily="34" charset="-122"/>
                <a:cs typeface="Noto Sans Arabic" pitchFamily="34" charset="-120"/>
              </a:rPr>
              <a:t>۵. عدم ادعای Retention uplift بدون آزمون</a:t>
            </a:r>
            <a:endParaRPr lang="en-US" sz="1200" dirty="0"/>
          </a:p>
        </p:txBody>
      </p:sp>
      <p:sp>
        <p:nvSpPr>
          <p:cNvPr id="13" name="Text 11"/>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16</a:t>
            </a:r>
            <a:endParaRPr lang="en-US" sz="700" dirty="0"/>
          </a:p>
        </p:txBody>
      </p:sp>
      <p:sp>
        <p:nvSpPr>
          <p:cNvPr id="14" name="Text 12">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مدل مالی؛ عددسازی نکردیم، مدل تصمیم ساختیم</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با ایراد Q27، Business Case از عدد جعلی به مدل قابل دفاع تبدیل شد.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Business Case</a:t>
            </a:r>
            <a:endParaRPr lang="en-US" sz="800" dirty="0"/>
          </a:p>
        </p:txBody>
      </p:sp>
      <p:sp>
        <p:nvSpPr>
          <p:cNvPr id="7" name="Shape 5"/>
          <p:cNvSpPr/>
          <p:nvPr/>
        </p:nvSpPr>
        <p:spPr>
          <a:xfrm>
            <a:off x="685800" y="1371600"/>
            <a:ext cx="5212080" cy="3886200"/>
          </a:xfrm>
          <a:prstGeom prst="roundRect">
            <a:avLst>
              <a:gd name="adj" fmla="val 2824"/>
            </a:avLst>
          </a:prstGeom>
          <a:solidFill>
            <a:srgbClr val="FFFFFF"/>
          </a:solidFill>
          <a:ln w="12700">
            <a:solidFill>
              <a:srgbClr val="E5E7EB"/>
            </a:solidFill>
            <a:prstDash val="solid"/>
          </a:ln>
        </p:spPr>
      </p:sp>
      <p:sp>
        <p:nvSpPr>
          <p:cNvPr id="8" name="Text 6"/>
          <p:cNvSpPr/>
          <p:nvPr/>
        </p:nvSpPr>
        <p:spPr>
          <a:xfrm>
            <a:off x="960120" y="1645920"/>
            <a:ext cx="4663440" cy="228600"/>
          </a:xfrm>
          <a:prstGeom prst="rect">
            <a:avLst/>
          </a:prstGeom>
          <a:noFill/>
          <a:ln/>
        </p:spPr>
        <p:txBody>
          <a:bodyPr wrap="square" lIns="635" tIns="635" rIns="635" bIns="635" rtlCol="0" anchor="ctr">
            <a:normAutofit/>
          </a:bodyPr>
          <a:lstStyle/>
          <a:p>
            <a:pPr rtl="1" algn="r" indent="0" marL="0">
              <a:buNone/>
            </a:pPr>
            <a:r>
              <a:rPr lang="en-US" sz="1400" b="1" dirty="0">
                <a:solidFill>
                  <a:srgbClr val="14213D"/>
                </a:solidFill>
                <a:latin typeface="Noto Sans Arabic" pitchFamily="34" charset="0"/>
                <a:ea typeface="Noto Sans Arabic" pitchFamily="34" charset="-122"/>
                <a:cs typeface="Noto Sans Arabic" pitchFamily="34" charset="-120"/>
              </a:rPr>
              <a:t>فرمول درست هزینه</a:t>
            </a:r>
            <a:endParaRPr lang="en-US" sz="1400" dirty="0"/>
          </a:p>
        </p:txBody>
      </p:sp>
      <p:sp>
        <p:nvSpPr>
          <p:cNvPr id="9" name="Text 7"/>
          <p:cNvSpPr/>
          <p:nvPr/>
        </p:nvSpPr>
        <p:spPr>
          <a:xfrm>
            <a:off x="960120" y="2148840"/>
            <a:ext cx="4663440" cy="457200"/>
          </a:xfrm>
          <a:prstGeom prst="rect">
            <a:avLst/>
          </a:prstGeom>
          <a:noFill/>
          <a:ln/>
        </p:spPr>
        <p:txBody>
          <a:bodyPr wrap="square" lIns="635" tIns="635" rIns="635" bIns="635" rtlCol="0" anchor="ctr">
            <a:normAutofit/>
          </a:bodyPr>
          <a:lstStyle/>
          <a:p>
            <a:pPr algn="ctr" indent="0" marL="0">
              <a:buNone/>
            </a:pPr>
            <a:r>
              <a:rPr lang="en-US" sz="1600" b="1" dirty="0">
                <a:solidFill>
                  <a:srgbClr val="E91E63"/>
                </a:solidFill>
                <a:latin typeface="Noto Sans Arabic" pitchFamily="34" charset="0"/>
                <a:ea typeface="Noto Sans Arabic" pitchFamily="34" charset="-122"/>
                <a:cs typeface="Noto Sans Arabic" pitchFamily="34" charset="-120"/>
              </a:rPr>
              <a:t>Cost = Scope × Role × Effort × Rate + Infra + Ops + Maintenance</a:t>
            </a:r>
            <a:endParaRPr lang="en-US" sz="1600" dirty="0"/>
          </a:p>
        </p:txBody>
      </p:sp>
      <p:sp>
        <p:nvSpPr>
          <p:cNvPr id="10" name="Text 8"/>
          <p:cNvSpPr/>
          <p:nvPr/>
        </p:nvSpPr>
        <p:spPr>
          <a:xfrm>
            <a:off x="960120" y="3063240"/>
            <a:ext cx="4663440" cy="594360"/>
          </a:xfrm>
          <a:prstGeom prst="rect">
            <a:avLst/>
          </a:prstGeom>
          <a:noFill/>
          <a:ln/>
        </p:spPr>
        <p:txBody>
          <a:bodyPr wrap="square" lIns="635" tIns="635" rIns="635" bIns="635" rtlCol="0" anchor="ctr">
            <a:normAutofit/>
          </a:bodyPr>
          <a:lstStyle/>
          <a:p>
            <a:pPr rtl="1" algn="ctr" indent="0" marL="0">
              <a:buNone/>
            </a:pPr>
            <a:r>
              <a:rPr lang="en-US" sz="1200" dirty="0">
                <a:solidFill>
                  <a:srgbClr val="1F2937"/>
                </a:solidFill>
                <a:latin typeface="Noto Sans Arabic" pitchFamily="34" charset="0"/>
                <a:ea typeface="Noto Sans Arabic" pitchFamily="34" charset="-122"/>
                <a:cs typeface="Noto Sans Arabic" pitchFamily="34" charset="-120"/>
              </a:rPr>
              <a:t>بدون Effort واقعی Jira، Allocation نقش‌ها، Loaded Cost و پیچیدگی Integration، نباید هزینه قطعی اعلام شود.</a:t>
            </a:r>
            <a:endParaRPr lang="en-US" sz="1200" dirty="0"/>
          </a:p>
        </p:txBody>
      </p:sp>
      <p:sp>
        <p:nvSpPr>
          <p:cNvPr id="11" name="Shape 9"/>
          <p:cNvSpPr/>
          <p:nvPr/>
        </p:nvSpPr>
        <p:spPr>
          <a:xfrm>
            <a:off x="6263640" y="1371600"/>
            <a:ext cx="5212080" cy="3886200"/>
          </a:xfrm>
          <a:prstGeom prst="roundRect">
            <a:avLst>
              <a:gd name="adj" fmla="val 2824"/>
            </a:avLst>
          </a:prstGeom>
          <a:solidFill>
            <a:srgbClr val="FFF5F8"/>
          </a:solidFill>
          <a:ln w="12700">
            <a:solidFill>
              <a:srgbClr val="FCE4EC"/>
            </a:solidFill>
            <a:prstDash val="solid"/>
          </a:ln>
        </p:spPr>
      </p:sp>
      <p:sp>
        <p:nvSpPr>
          <p:cNvPr id="12" name="Text 10"/>
          <p:cNvSpPr/>
          <p:nvPr/>
        </p:nvSpPr>
        <p:spPr>
          <a:xfrm>
            <a:off x="6537960" y="1645920"/>
            <a:ext cx="4663440" cy="228600"/>
          </a:xfrm>
          <a:prstGeom prst="rect">
            <a:avLst/>
          </a:prstGeom>
          <a:noFill/>
          <a:ln/>
        </p:spPr>
        <p:txBody>
          <a:bodyPr wrap="square" lIns="635" tIns="635" rIns="635" bIns="635" rtlCol="0" anchor="ctr">
            <a:normAutofit/>
          </a:bodyPr>
          <a:lstStyle/>
          <a:p>
            <a:pPr rtl="1" algn="r" indent="0" marL="0">
              <a:buNone/>
            </a:pPr>
            <a:r>
              <a:rPr lang="en-US" sz="1400" b="1" dirty="0">
                <a:solidFill>
                  <a:srgbClr val="14213D"/>
                </a:solidFill>
                <a:latin typeface="Noto Sans Arabic" pitchFamily="34" charset="0"/>
                <a:ea typeface="Noto Sans Arabic" pitchFamily="34" charset="-122"/>
                <a:cs typeface="Noto Sans Arabic" pitchFamily="34" charset="-120"/>
              </a:rPr>
              <a:t>مدل درست درآمد و ROI</a:t>
            </a:r>
            <a:endParaRPr lang="en-US" sz="1400" dirty="0"/>
          </a:p>
        </p:txBody>
      </p:sp>
      <p:sp>
        <p:nvSpPr>
          <p:cNvPr id="13" name="Text 11"/>
          <p:cNvSpPr/>
          <p:nvPr/>
        </p:nvSpPr>
        <p:spPr>
          <a:xfrm>
            <a:off x="6537960" y="2148840"/>
            <a:ext cx="4663440" cy="457200"/>
          </a:xfrm>
          <a:prstGeom prst="rect">
            <a:avLst/>
          </a:prstGeom>
          <a:noFill/>
          <a:ln/>
        </p:spPr>
        <p:txBody>
          <a:bodyPr wrap="square" lIns="635" tIns="635" rIns="635" bIns="635" rtlCol="0" anchor="ctr">
            <a:normAutofit/>
          </a:bodyPr>
          <a:lstStyle/>
          <a:p>
            <a:pPr algn="ctr" indent="0" marL="0">
              <a:buNone/>
            </a:pPr>
            <a:r>
              <a:rPr lang="en-US" sz="1500" b="1" dirty="0">
                <a:solidFill>
                  <a:srgbClr val="C2185B"/>
                </a:solidFill>
                <a:latin typeface="Noto Sans Arabic" pitchFamily="34" charset="0"/>
                <a:ea typeface="Noto Sans Arabic" pitchFamily="34" charset="-122"/>
                <a:cs typeface="Noto Sans Arabic" pitchFamily="34" charset="-120"/>
              </a:rPr>
              <a:t>Revenue = Eligible Traffic × Adoption × Uplift × AOV × Margin</a:t>
            </a:r>
            <a:endParaRPr lang="en-US" sz="1500" dirty="0"/>
          </a:p>
        </p:txBody>
      </p:sp>
      <p:sp>
        <p:nvSpPr>
          <p:cNvPr id="14" name="Text 12"/>
          <p:cNvSpPr/>
          <p:nvPr/>
        </p:nvSpPr>
        <p:spPr>
          <a:xfrm>
            <a:off x="6537960" y="3063240"/>
            <a:ext cx="4663440" cy="594360"/>
          </a:xfrm>
          <a:prstGeom prst="rect">
            <a:avLst/>
          </a:prstGeom>
          <a:noFill/>
          <a:ln/>
        </p:spPr>
        <p:txBody>
          <a:bodyPr wrap="square" lIns="635" tIns="635" rIns="635" bIns="635" rtlCol="0" anchor="ctr">
            <a:normAutofit/>
          </a:bodyPr>
          <a:lstStyle/>
          <a:p>
            <a:pPr rtl="1" algn="ctr" indent="0" marL="0">
              <a:buNone/>
            </a:pPr>
            <a:r>
              <a:rPr lang="en-US" sz="1200" b="1" dirty="0">
                <a:solidFill>
                  <a:srgbClr val="1F2937"/>
                </a:solidFill>
                <a:latin typeface="Noto Sans Arabic" pitchFamily="34" charset="0"/>
                <a:ea typeface="Noto Sans Arabic" pitchFamily="34" charset="-122"/>
                <a:cs typeface="Noto Sans Arabic" pitchFamily="34" charset="-120"/>
              </a:rPr>
              <a:t>تا وقتی Conversion Uplift و Contribution Margin واقعی نداریم، ROI باید Break-even / Scenario-based بماند.</a:t>
            </a:r>
            <a:endParaRPr lang="en-US" sz="1200" dirty="0"/>
          </a:p>
        </p:txBody>
      </p:sp>
      <p:sp>
        <p:nvSpPr>
          <p:cNvPr id="15" name="Text 13"/>
          <p:cNvSpPr/>
          <p:nvPr/>
        </p:nvSpPr>
        <p:spPr>
          <a:xfrm>
            <a:off x="1097280" y="5715000"/>
            <a:ext cx="9875520" cy="274320"/>
          </a:xfrm>
          <a:prstGeom prst="rect">
            <a:avLst/>
          </a:prstGeom>
          <a:noFill/>
          <a:ln/>
        </p:spPr>
        <p:txBody>
          <a:bodyPr wrap="square" lIns="635" tIns="635" rIns="635" bIns="635" rtlCol="0" anchor="ctr">
            <a:normAutofit/>
          </a:bodyPr>
          <a:lstStyle/>
          <a:p>
            <a:pPr rtl="1" algn="ctr" indent="0" marL="0">
              <a:buNone/>
            </a:pPr>
            <a:r>
              <a:rPr lang="en-US" sz="1400" b="1" dirty="0">
                <a:solidFill>
                  <a:srgbClr val="0F766E"/>
                </a:solidFill>
                <a:latin typeface="Noto Sans Arabic" pitchFamily="34" charset="0"/>
                <a:ea typeface="Noto Sans Arabic" pitchFamily="34" charset="-122"/>
                <a:cs typeface="Noto Sans Arabic" pitchFamily="34" charset="-120"/>
              </a:rPr>
              <a:t>نتیجه: سرمایه‌گذاری مرحله‌ای؛ نه Commit مالی قطعی.</a:t>
            </a:r>
            <a:endParaRPr lang="en-US" sz="1400" dirty="0"/>
          </a:p>
        </p:txBody>
      </p:sp>
      <p:sp>
        <p:nvSpPr>
          <p:cNvPr id="16" name="Text 14"/>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17</a:t>
            </a:r>
            <a:endParaRPr lang="en-US" sz="700" dirty="0"/>
          </a:p>
        </p:txBody>
      </p:sp>
      <p:sp>
        <p:nvSpPr>
          <p:cNvPr id="17" name="Text 15">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تصمیم نهایی و درخواست از ذی‌نفع</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این پروژه پیشنهاد Build کامل نمی‌دهد؛ پیشنهاد مسیر Validation می‌دهد.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Decision</a:t>
            </a:r>
            <a:endParaRPr lang="en-US" sz="800" dirty="0"/>
          </a:p>
        </p:txBody>
      </p:sp>
      <p:sp>
        <p:nvSpPr>
          <p:cNvPr id="7" name="Shape 5"/>
          <p:cNvSpPr/>
          <p:nvPr/>
        </p:nvSpPr>
        <p:spPr>
          <a:xfrm>
            <a:off x="822960" y="1417320"/>
            <a:ext cx="10561320" cy="1143000"/>
          </a:xfrm>
          <a:prstGeom prst="roundRect">
            <a:avLst>
              <a:gd name="adj" fmla="val 9600"/>
            </a:avLst>
          </a:prstGeom>
          <a:solidFill>
            <a:srgbClr val="FFF5F8"/>
          </a:solidFill>
          <a:ln w="12700">
            <a:solidFill>
              <a:srgbClr val="FCE4EC"/>
            </a:solidFill>
            <a:prstDash val="solid"/>
          </a:ln>
        </p:spPr>
      </p:sp>
      <p:sp>
        <p:nvSpPr>
          <p:cNvPr id="8" name="Text 6"/>
          <p:cNvSpPr/>
          <p:nvPr/>
        </p:nvSpPr>
        <p:spPr>
          <a:xfrm>
            <a:off x="1097280" y="1645920"/>
            <a:ext cx="10012680" cy="256032"/>
          </a:xfrm>
          <a:prstGeom prst="rect">
            <a:avLst/>
          </a:prstGeom>
          <a:noFill/>
          <a:ln/>
        </p:spPr>
        <p:txBody>
          <a:bodyPr wrap="square" lIns="635" tIns="635" rIns="635" bIns="635" rtlCol="0" anchor="ctr">
            <a:normAutofit/>
          </a:bodyPr>
          <a:lstStyle/>
          <a:p>
            <a:pPr rtl="1" algn="ctr" indent="0" marL="0">
              <a:buNone/>
            </a:pPr>
            <a:r>
              <a:rPr lang="en-US" sz="1500" b="1" dirty="0">
                <a:solidFill>
                  <a:srgbClr val="14213D"/>
                </a:solidFill>
                <a:latin typeface="Noto Sans Arabic" pitchFamily="34" charset="0"/>
                <a:ea typeface="Noto Sans Arabic" pitchFamily="34" charset="-122"/>
                <a:cs typeface="Noto Sans Arabic" pitchFamily="34" charset="-120"/>
              </a:rPr>
              <a:t>تصمیم پیشنهادی</a:t>
            </a:r>
            <a:endParaRPr lang="en-US" sz="1500" dirty="0"/>
          </a:p>
        </p:txBody>
      </p:sp>
      <p:sp>
        <p:nvSpPr>
          <p:cNvPr id="9" name="Text 7"/>
          <p:cNvSpPr/>
          <p:nvPr/>
        </p:nvSpPr>
        <p:spPr>
          <a:xfrm>
            <a:off x="1097280" y="2011680"/>
            <a:ext cx="10012680" cy="292608"/>
          </a:xfrm>
          <a:prstGeom prst="rect">
            <a:avLst/>
          </a:prstGeom>
          <a:noFill/>
          <a:ln/>
        </p:spPr>
        <p:txBody>
          <a:bodyPr wrap="square" lIns="635" tIns="635" rIns="635" bIns="635" rtlCol="0" anchor="ctr">
            <a:normAutofit/>
          </a:bodyPr>
          <a:lstStyle/>
          <a:p>
            <a:pPr rtl="1" algn="ctr" indent="0" marL="0">
              <a:buNone/>
            </a:pPr>
            <a:r>
              <a:rPr lang="en-US" sz="1500" b="1" dirty="0">
                <a:solidFill>
                  <a:srgbClr val="C2185B"/>
                </a:solidFill>
                <a:latin typeface="Noto Sans Arabic" pitchFamily="34" charset="0"/>
                <a:ea typeface="Noto Sans Arabic" pitchFamily="34" charset="-122"/>
                <a:cs typeface="Noto Sans Arabic" pitchFamily="34" charset="-120"/>
              </a:rPr>
              <a:t>شروع با Fake Door و Concierge برای سنجش تقاضا و رفتار؛ سپس Rule-based MVP فقط در صورت سیگنال کافی.</a:t>
            </a:r>
            <a:endParaRPr lang="en-US" sz="1500" dirty="0"/>
          </a:p>
        </p:txBody>
      </p:sp>
      <p:sp>
        <p:nvSpPr>
          <p:cNvPr id="10" name="Shape 8"/>
          <p:cNvSpPr/>
          <p:nvPr/>
        </p:nvSpPr>
        <p:spPr>
          <a:xfrm>
            <a:off x="822960" y="2971800"/>
            <a:ext cx="3246120" cy="2286000"/>
          </a:xfrm>
          <a:prstGeom prst="roundRect">
            <a:avLst>
              <a:gd name="adj" fmla="val 4800"/>
            </a:avLst>
          </a:prstGeom>
          <a:solidFill>
            <a:srgbClr val="FFFFFF"/>
          </a:solidFill>
          <a:ln w="12700">
            <a:solidFill>
              <a:srgbClr val="E5E7EB"/>
            </a:solidFill>
            <a:prstDash val="solid"/>
          </a:ln>
        </p:spPr>
      </p:sp>
      <p:sp>
        <p:nvSpPr>
          <p:cNvPr id="11" name="Text 9"/>
          <p:cNvSpPr/>
          <p:nvPr/>
        </p:nvSpPr>
        <p:spPr>
          <a:xfrm>
            <a:off x="1051560" y="3200400"/>
            <a:ext cx="2788920" cy="228600"/>
          </a:xfrm>
          <a:prstGeom prst="rect">
            <a:avLst/>
          </a:prstGeom>
          <a:noFill/>
          <a:ln/>
        </p:spPr>
        <p:txBody>
          <a:bodyPr wrap="square" lIns="635" tIns="635" rIns="635" bIns="635" rtlCol="0" anchor="ctr">
            <a:normAutofit/>
          </a:bodyPr>
          <a:lstStyle/>
          <a:p>
            <a:pPr algn="ctr" indent="0" marL="0">
              <a:buNone/>
            </a:pPr>
            <a:r>
              <a:rPr lang="en-US" sz="1600" b="1" dirty="0">
                <a:solidFill>
                  <a:srgbClr val="0F766E"/>
                </a:solidFill>
                <a:latin typeface="Noto Sans Arabic" pitchFamily="34" charset="0"/>
                <a:ea typeface="Noto Sans Arabic" pitchFamily="34" charset="-122"/>
                <a:cs typeface="Noto Sans Arabic" pitchFamily="34" charset="-120"/>
              </a:rPr>
              <a:t>Go</a:t>
            </a:r>
            <a:endParaRPr lang="en-US" sz="1600" dirty="0"/>
          </a:p>
        </p:txBody>
      </p:sp>
      <p:sp>
        <p:nvSpPr>
          <p:cNvPr id="12" name="Text 10"/>
          <p:cNvSpPr/>
          <p:nvPr/>
        </p:nvSpPr>
        <p:spPr>
          <a:xfrm>
            <a:off x="1051560" y="3794760"/>
            <a:ext cx="2788920" cy="68580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Start، Completion، Recommendation use و commerce signal سالم</a:t>
            </a:r>
            <a:endParaRPr lang="en-US" sz="1000" dirty="0"/>
          </a:p>
        </p:txBody>
      </p:sp>
      <p:sp>
        <p:nvSpPr>
          <p:cNvPr id="13" name="Shape 11"/>
          <p:cNvSpPr/>
          <p:nvPr/>
        </p:nvSpPr>
        <p:spPr>
          <a:xfrm>
            <a:off x="4480560" y="2971800"/>
            <a:ext cx="3246120" cy="2286000"/>
          </a:xfrm>
          <a:prstGeom prst="roundRect">
            <a:avLst>
              <a:gd name="adj" fmla="val 4800"/>
            </a:avLst>
          </a:prstGeom>
          <a:solidFill>
            <a:srgbClr val="FFFFFF"/>
          </a:solidFill>
          <a:ln w="12700">
            <a:solidFill>
              <a:srgbClr val="E5E7EB"/>
            </a:solidFill>
            <a:prstDash val="solid"/>
          </a:ln>
        </p:spPr>
      </p:sp>
      <p:sp>
        <p:nvSpPr>
          <p:cNvPr id="14" name="Text 12"/>
          <p:cNvSpPr/>
          <p:nvPr/>
        </p:nvSpPr>
        <p:spPr>
          <a:xfrm>
            <a:off x="4709160" y="3200400"/>
            <a:ext cx="2788920" cy="228600"/>
          </a:xfrm>
          <a:prstGeom prst="rect">
            <a:avLst/>
          </a:prstGeom>
          <a:noFill/>
          <a:ln/>
        </p:spPr>
        <p:txBody>
          <a:bodyPr wrap="square" lIns="635" tIns="635" rIns="635" bIns="635" rtlCol="0" anchor="ctr">
            <a:normAutofit/>
          </a:bodyPr>
          <a:lstStyle/>
          <a:p>
            <a:pPr algn="ctr" indent="0" marL="0">
              <a:buNone/>
            </a:pPr>
            <a:r>
              <a:rPr lang="en-US" sz="1600" b="1" dirty="0">
                <a:solidFill>
                  <a:srgbClr val="F59E0B"/>
                </a:solidFill>
                <a:latin typeface="Noto Sans Arabic" pitchFamily="34" charset="0"/>
                <a:ea typeface="Noto Sans Arabic" pitchFamily="34" charset="-122"/>
                <a:cs typeface="Noto Sans Arabic" pitchFamily="34" charset="-120"/>
              </a:rPr>
              <a:t>Iterate</a:t>
            </a:r>
            <a:endParaRPr lang="en-US" sz="1600" dirty="0"/>
          </a:p>
        </p:txBody>
      </p:sp>
      <p:sp>
        <p:nvSpPr>
          <p:cNvPr id="15" name="Text 13"/>
          <p:cNvSpPr/>
          <p:nvPr/>
        </p:nvSpPr>
        <p:spPr>
          <a:xfrm>
            <a:off x="4709160" y="3794760"/>
            <a:ext cx="2788920" cy="68580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تقاضا هست، ولی کیفیت سؤال/پیشنهاد یا UX ضعیف است</a:t>
            </a:r>
            <a:endParaRPr lang="en-US" sz="1000" dirty="0"/>
          </a:p>
        </p:txBody>
      </p:sp>
      <p:sp>
        <p:nvSpPr>
          <p:cNvPr id="16" name="Shape 14"/>
          <p:cNvSpPr/>
          <p:nvPr/>
        </p:nvSpPr>
        <p:spPr>
          <a:xfrm>
            <a:off x="8138160" y="2971800"/>
            <a:ext cx="3246120" cy="2286000"/>
          </a:xfrm>
          <a:prstGeom prst="roundRect">
            <a:avLst>
              <a:gd name="adj" fmla="val 4800"/>
            </a:avLst>
          </a:prstGeom>
          <a:solidFill>
            <a:srgbClr val="FFFFFF"/>
          </a:solidFill>
          <a:ln w="12700">
            <a:solidFill>
              <a:srgbClr val="E5E7EB"/>
            </a:solidFill>
            <a:prstDash val="solid"/>
          </a:ln>
        </p:spPr>
      </p:sp>
      <p:sp>
        <p:nvSpPr>
          <p:cNvPr id="17" name="Text 15"/>
          <p:cNvSpPr/>
          <p:nvPr/>
        </p:nvSpPr>
        <p:spPr>
          <a:xfrm>
            <a:off x="8366760" y="3200400"/>
            <a:ext cx="2788920" cy="228600"/>
          </a:xfrm>
          <a:prstGeom prst="rect">
            <a:avLst/>
          </a:prstGeom>
          <a:noFill/>
          <a:ln/>
        </p:spPr>
        <p:txBody>
          <a:bodyPr wrap="square" lIns="635" tIns="635" rIns="635" bIns="635" rtlCol="0" anchor="ctr">
            <a:normAutofit/>
          </a:bodyPr>
          <a:lstStyle/>
          <a:p>
            <a:pPr algn="ctr" indent="0" marL="0">
              <a:buNone/>
            </a:pPr>
            <a:r>
              <a:rPr lang="en-US" sz="1600" b="1" dirty="0">
                <a:solidFill>
                  <a:srgbClr val="DC2626"/>
                </a:solidFill>
                <a:latin typeface="Noto Sans Arabic" pitchFamily="34" charset="0"/>
                <a:ea typeface="Noto Sans Arabic" pitchFamily="34" charset="-122"/>
                <a:cs typeface="Noto Sans Arabic" pitchFamily="34" charset="-120"/>
              </a:rPr>
              <a:t>Kill</a:t>
            </a:r>
            <a:endParaRPr lang="en-US" sz="1600" dirty="0"/>
          </a:p>
        </p:txBody>
      </p:sp>
      <p:sp>
        <p:nvSpPr>
          <p:cNvPr id="18" name="Text 16"/>
          <p:cNvSpPr/>
          <p:nvPr/>
        </p:nvSpPr>
        <p:spPr>
          <a:xfrm>
            <a:off x="8366760" y="3794760"/>
            <a:ext cx="2788920" cy="685800"/>
          </a:xfrm>
          <a:prstGeom prst="rect">
            <a:avLst/>
          </a:prstGeom>
          <a:noFill/>
          <a:ln/>
        </p:spPr>
        <p:txBody>
          <a:bodyPr wrap="square" lIns="635" tIns="635" rIns="635" bIns="635" rtlCol="0" anchor="ctr">
            <a:normAutofit/>
          </a:bodyPr>
          <a:lstStyle/>
          <a:p>
            <a:pPr rtl="1" algn="ctr" indent="0" marL="0">
              <a:buNone/>
            </a:pPr>
            <a:r>
              <a:rPr lang="en-US" sz="1000" dirty="0">
                <a:solidFill>
                  <a:srgbClr val="1F2937"/>
                </a:solidFill>
                <a:latin typeface="Noto Sans Arabic" pitchFamily="34" charset="0"/>
                <a:ea typeface="Noto Sans Arabic" pitchFamily="34" charset="-122"/>
                <a:cs typeface="Noto Sans Arabic" pitchFamily="34" charset="-120"/>
              </a:rPr>
              <a:t>Start پایین، Completion پایین، یا Guardrailهای ناسالم</a:t>
            </a:r>
            <a:endParaRPr lang="en-US" sz="1000" dirty="0"/>
          </a:p>
        </p:txBody>
      </p:sp>
      <p:sp>
        <p:nvSpPr>
          <p:cNvPr id="19" name="Text 17"/>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18</a:t>
            </a:r>
            <a:endParaRPr lang="en-US" sz="700" dirty="0"/>
          </a:p>
        </p:txBody>
      </p:sp>
      <p:sp>
        <p:nvSpPr>
          <p:cNvPr id="20" name="Text 18">
            <a:hlinkClick r:id="rId1"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94360" y="320040"/>
            <a:ext cx="8778240" cy="438912"/>
          </a:xfrm>
          <a:prstGeom prst="rect">
            <a:avLst/>
          </a:prstGeom>
          <a:noFill/>
          <a:ln/>
        </p:spPr>
        <p:txBody>
          <a:bodyPr wrap="square" lIns="635" tIns="635" rIns="635" bIns="635" rtlCol="0" anchor="ctr">
            <a:normAutofit/>
          </a:bodyPr>
          <a:lstStyle/>
          <a:p>
            <a:pPr rtl="1" algn="r" indent="0" marL="0">
              <a:buNone/>
            </a:pPr>
            <a:r>
              <a:rPr lang="en-US" sz="2200" b="1" dirty="0">
                <a:solidFill>
                  <a:srgbClr val="14213D"/>
                </a:solidFill>
                <a:latin typeface="Noto Sans Arabic" pitchFamily="34" charset="0"/>
                <a:ea typeface="Noto Sans Arabic" pitchFamily="34" charset="-122"/>
                <a:cs typeface="Noto Sans Arabic" pitchFamily="34" charset="-120"/>
              </a:rPr>
              <a:t>Appendix تعاملی؛ مسیر دسترسی به همه Artefactها</a:t>
            </a:r>
            <a:endParaRPr lang="en-US" sz="2200" dirty="0"/>
          </a:p>
        </p:txBody>
      </p:sp>
      <p:sp>
        <p:nvSpPr>
          <p:cNvPr id="3" name="Text 1"/>
          <p:cNvSpPr/>
          <p:nvPr/>
        </p:nvSpPr>
        <p:spPr>
          <a:xfrm>
            <a:off x="594360" y="758952"/>
            <a:ext cx="8869680" cy="310896"/>
          </a:xfrm>
          <a:prstGeom prst="rect">
            <a:avLst/>
          </a:prstGeom>
          <a:noFill/>
          <a:ln/>
        </p:spPr>
        <p:txBody>
          <a:bodyPr wrap="square" lIns="635" tIns="635" rIns="635" bIns="635" rtlCol="0" anchor="ctr">
            <a:normAutofit/>
          </a:bodyPr>
          <a:lstStyle/>
          <a:p>
            <a:pPr rtl="1" algn="r" indent="0" marL="0">
              <a:buNone/>
            </a:pPr>
            <a:r>
              <a:rPr lang="en-US" sz="1000" dirty="0">
                <a:solidFill>
                  <a:srgbClr val="6B7280"/>
                </a:solidFill>
                <a:latin typeface="Noto Sans Arabic" pitchFamily="34" charset="0"/>
                <a:ea typeface="Noto Sans Arabic" pitchFamily="34" charset="-122"/>
                <a:cs typeface="Noto Sans Arabic" pitchFamily="34" charset="-120"/>
              </a:rPr>
              <a:t>برای دفاع، هر ادعا باید مسیر بازگشت به سند، Jira یا Figma داشته باشد.</a:t>
            </a:r>
            <a:endParaRPr lang="en-US" sz="1000" dirty="0"/>
          </a:p>
        </p:txBody>
      </p:sp>
      <p:sp>
        <p:nvSpPr>
          <p:cNvPr id="4" name="Shape 2"/>
          <p:cNvSpPr/>
          <p:nvPr/>
        </p:nvSpPr>
        <p:spPr>
          <a:xfrm>
            <a:off x="594360" y="1133856"/>
            <a:ext cx="10972800" cy="0"/>
          </a:xfrm>
          <a:prstGeom prst="line">
            <a:avLst/>
          </a:prstGeom>
          <a:noFill/>
          <a:ln w="15240">
            <a:solidFill>
              <a:srgbClr val="FCE4EC"/>
            </a:solidFill>
            <a:prstDash val="solid"/>
          </a:ln>
        </p:spPr>
      </p:sp>
      <p:sp>
        <p:nvSpPr>
          <p:cNvPr id="5" name="Shape 3"/>
          <p:cNvSpPr/>
          <p:nvPr/>
        </p:nvSpPr>
        <p:spPr>
          <a:xfrm>
            <a:off x="10012680" y="384048"/>
            <a:ext cx="1600200" cy="292608"/>
          </a:xfrm>
          <a:prstGeom prst="roundRect">
            <a:avLst>
              <a:gd name="adj" fmla="val 25000"/>
            </a:avLst>
          </a:prstGeom>
          <a:solidFill>
            <a:srgbClr val="14213D"/>
          </a:solidFill>
          <a:ln w="12700">
            <a:solidFill>
              <a:srgbClr val="14213D"/>
            </a:solidFill>
            <a:prstDash val="solid"/>
          </a:ln>
        </p:spPr>
      </p:sp>
      <p:sp>
        <p:nvSpPr>
          <p:cNvPr id="6" name="Text 4"/>
          <p:cNvSpPr/>
          <p:nvPr/>
        </p:nvSpPr>
        <p:spPr>
          <a:xfrm>
            <a:off x="10076688" y="411480"/>
            <a:ext cx="1472184" cy="201168"/>
          </a:xfrm>
          <a:prstGeom prst="rect">
            <a:avLst/>
          </a:prstGeom>
          <a:noFill/>
          <a:ln/>
        </p:spPr>
        <p:txBody>
          <a:bodyPr wrap="square" lIns="635" tIns="635" rIns="635" bIns="635" rtlCol="0" anchor="ctr">
            <a:normAutofit/>
          </a:bodyPr>
          <a:lstStyle/>
          <a:p>
            <a:pPr rtl="1" algn="ctr" indent="0" marL="0">
              <a:buNone/>
            </a:pPr>
            <a:r>
              <a:rPr lang="en-US" sz="800" b="1" dirty="0">
                <a:solidFill>
                  <a:srgbClr val="FFFFFF"/>
                </a:solidFill>
                <a:latin typeface="Noto Sans Arabic" pitchFamily="34" charset="0"/>
                <a:ea typeface="Noto Sans Arabic" pitchFamily="34" charset="-122"/>
                <a:cs typeface="Noto Sans Arabic" pitchFamily="34" charset="-120"/>
              </a:rPr>
              <a:t>Links</a:t>
            </a:r>
            <a:endParaRPr lang="en-US" sz="800" dirty="0"/>
          </a:p>
        </p:txBody>
      </p:sp>
      <p:sp>
        <p:nvSpPr>
          <p:cNvPr id="7" name="Shape 5"/>
          <p:cNvSpPr/>
          <p:nvPr/>
        </p:nvSpPr>
        <p:spPr>
          <a:xfrm>
            <a:off x="868680" y="1417320"/>
            <a:ext cx="4892040" cy="777240"/>
          </a:xfrm>
          <a:prstGeom prst="roundRect">
            <a:avLst>
              <a:gd name="adj" fmla="val 14118"/>
            </a:avLst>
          </a:prstGeom>
          <a:solidFill>
            <a:srgbClr val="FFFFFF"/>
          </a:solidFill>
          <a:ln w="12700">
            <a:solidFill>
              <a:srgbClr val="E5E7EB"/>
            </a:solidFill>
            <a:prstDash val="solid"/>
          </a:ln>
        </p:spPr>
      </p:sp>
      <p:sp>
        <p:nvSpPr>
          <p:cNvPr id="8" name="Text 6">
            <a:hlinkClick r:id="rId1" tooltip=""/>
          </p:cNvPr>
          <p:cNvSpPr/>
          <p:nvPr/>
        </p:nvSpPr>
        <p:spPr>
          <a:xfrm>
            <a:off x="1097280" y="1581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Confluence Start Here</a:t>
            </a:r>
            <a:endParaRPr lang="en-US" sz="1200" dirty="0"/>
          </a:p>
        </p:txBody>
      </p:sp>
      <p:sp>
        <p:nvSpPr>
          <p:cNvPr id="9" name="Text 7">
            <a:hlinkClick r:id="rId2" tooltip=""/>
          </p:cNvPr>
          <p:cNvSpPr/>
          <p:nvPr/>
        </p:nvSpPr>
        <p:spPr>
          <a:xfrm>
            <a:off x="1097280" y="1874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10" name="Shape 8"/>
          <p:cNvSpPr/>
          <p:nvPr/>
        </p:nvSpPr>
        <p:spPr>
          <a:xfrm>
            <a:off x="6309360" y="1417320"/>
            <a:ext cx="4892040" cy="777240"/>
          </a:xfrm>
          <a:prstGeom prst="roundRect">
            <a:avLst>
              <a:gd name="adj" fmla="val 14118"/>
            </a:avLst>
          </a:prstGeom>
          <a:solidFill>
            <a:srgbClr val="FFFFFF"/>
          </a:solidFill>
          <a:ln w="12700">
            <a:solidFill>
              <a:srgbClr val="E5E7EB"/>
            </a:solidFill>
            <a:prstDash val="solid"/>
          </a:ln>
        </p:spPr>
      </p:sp>
      <p:sp>
        <p:nvSpPr>
          <p:cNvPr id="11" name="Text 9">
            <a:hlinkClick r:id="rId3" tooltip=""/>
          </p:cNvPr>
          <p:cNvSpPr/>
          <p:nvPr/>
        </p:nvSpPr>
        <p:spPr>
          <a:xfrm>
            <a:off x="6537960" y="1581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۳۰ سؤال و Traceability</a:t>
            </a:r>
            <a:endParaRPr lang="en-US" sz="1200" dirty="0"/>
          </a:p>
        </p:txBody>
      </p:sp>
      <p:sp>
        <p:nvSpPr>
          <p:cNvPr id="12" name="Text 10">
            <a:hlinkClick r:id="rId4" tooltip=""/>
          </p:cNvPr>
          <p:cNvSpPr/>
          <p:nvPr/>
        </p:nvSpPr>
        <p:spPr>
          <a:xfrm>
            <a:off x="6537960" y="1874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13" name="Shape 11"/>
          <p:cNvSpPr/>
          <p:nvPr/>
        </p:nvSpPr>
        <p:spPr>
          <a:xfrm>
            <a:off x="868680" y="2560320"/>
            <a:ext cx="4892040" cy="777240"/>
          </a:xfrm>
          <a:prstGeom prst="roundRect">
            <a:avLst>
              <a:gd name="adj" fmla="val 14118"/>
            </a:avLst>
          </a:prstGeom>
          <a:solidFill>
            <a:srgbClr val="FFFFFF"/>
          </a:solidFill>
          <a:ln w="12700">
            <a:solidFill>
              <a:srgbClr val="E5E7EB"/>
            </a:solidFill>
            <a:prstDash val="solid"/>
          </a:ln>
        </p:spPr>
      </p:sp>
      <p:sp>
        <p:nvSpPr>
          <p:cNvPr id="14" name="Text 12">
            <a:hlinkClick r:id="rId5" tooltip=""/>
          </p:cNvPr>
          <p:cNvSpPr/>
          <p:nvPr/>
        </p:nvSpPr>
        <p:spPr>
          <a:xfrm>
            <a:off x="1097280" y="2724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MVP Definition</a:t>
            </a:r>
            <a:endParaRPr lang="en-US" sz="1200" dirty="0"/>
          </a:p>
        </p:txBody>
      </p:sp>
      <p:sp>
        <p:nvSpPr>
          <p:cNvPr id="15" name="Text 13">
            <a:hlinkClick r:id="rId6" tooltip=""/>
          </p:cNvPr>
          <p:cNvSpPr/>
          <p:nvPr/>
        </p:nvSpPr>
        <p:spPr>
          <a:xfrm>
            <a:off x="1097280" y="3017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16" name="Shape 14"/>
          <p:cNvSpPr/>
          <p:nvPr/>
        </p:nvSpPr>
        <p:spPr>
          <a:xfrm>
            <a:off x="6309360" y="2560320"/>
            <a:ext cx="4892040" cy="777240"/>
          </a:xfrm>
          <a:prstGeom prst="roundRect">
            <a:avLst>
              <a:gd name="adj" fmla="val 14118"/>
            </a:avLst>
          </a:prstGeom>
          <a:solidFill>
            <a:srgbClr val="FFFFFF"/>
          </a:solidFill>
          <a:ln w="12700">
            <a:solidFill>
              <a:srgbClr val="E5E7EB"/>
            </a:solidFill>
            <a:prstDash val="solid"/>
          </a:ln>
        </p:spPr>
      </p:sp>
      <p:sp>
        <p:nvSpPr>
          <p:cNvPr id="17" name="Text 15">
            <a:hlinkClick r:id="rId7" tooltip=""/>
          </p:cNvPr>
          <p:cNvSpPr/>
          <p:nvPr/>
        </p:nvSpPr>
        <p:spPr>
          <a:xfrm>
            <a:off x="6537960" y="2724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Low-Fi / User Journey</a:t>
            </a:r>
            <a:endParaRPr lang="en-US" sz="1200" dirty="0"/>
          </a:p>
        </p:txBody>
      </p:sp>
      <p:sp>
        <p:nvSpPr>
          <p:cNvPr id="18" name="Text 16">
            <a:hlinkClick r:id="rId8" tooltip=""/>
          </p:cNvPr>
          <p:cNvSpPr/>
          <p:nvPr/>
        </p:nvSpPr>
        <p:spPr>
          <a:xfrm>
            <a:off x="6537960" y="3017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19" name="Shape 17"/>
          <p:cNvSpPr/>
          <p:nvPr/>
        </p:nvSpPr>
        <p:spPr>
          <a:xfrm>
            <a:off x="868680" y="3703320"/>
            <a:ext cx="4892040" cy="777240"/>
          </a:xfrm>
          <a:prstGeom prst="roundRect">
            <a:avLst>
              <a:gd name="adj" fmla="val 14118"/>
            </a:avLst>
          </a:prstGeom>
          <a:solidFill>
            <a:srgbClr val="FFFFFF"/>
          </a:solidFill>
          <a:ln w="12700">
            <a:solidFill>
              <a:srgbClr val="E5E7EB"/>
            </a:solidFill>
            <a:prstDash val="solid"/>
          </a:ln>
        </p:spPr>
      </p:sp>
      <p:sp>
        <p:nvSpPr>
          <p:cNvPr id="20" name="Text 18">
            <a:hlinkClick r:id="rId9" tooltip=""/>
          </p:cNvPr>
          <p:cNvSpPr/>
          <p:nvPr/>
        </p:nvSpPr>
        <p:spPr>
          <a:xfrm>
            <a:off x="1097280" y="3867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Figma V2</a:t>
            </a:r>
            <a:endParaRPr lang="en-US" sz="1200" dirty="0"/>
          </a:p>
        </p:txBody>
      </p:sp>
      <p:sp>
        <p:nvSpPr>
          <p:cNvPr id="21" name="Text 19">
            <a:hlinkClick r:id="rId10" tooltip=""/>
          </p:cNvPr>
          <p:cNvSpPr/>
          <p:nvPr/>
        </p:nvSpPr>
        <p:spPr>
          <a:xfrm>
            <a:off x="1097280" y="4160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22" name="Shape 20"/>
          <p:cNvSpPr/>
          <p:nvPr/>
        </p:nvSpPr>
        <p:spPr>
          <a:xfrm>
            <a:off x="6309360" y="3703320"/>
            <a:ext cx="4892040" cy="777240"/>
          </a:xfrm>
          <a:prstGeom prst="roundRect">
            <a:avLst>
              <a:gd name="adj" fmla="val 14118"/>
            </a:avLst>
          </a:prstGeom>
          <a:solidFill>
            <a:srgbClr val="FFFFFF"/>
          </a:solidFill>
          <a:ln w="12700">
            <a:solidFill>
              <a:srgbClr val="E5E7EB"/>
            </a:solidFill>
            <a:prstDash val="solid"/>
          </a:ln>
        </p:spPr>
      </p:sp>
      <p:sp>
        <p:nvSpPr>
          <p:cNvPr id="23" name="Text 21">
            <a:hlinkClick r:id="rId11" tooltip=""/>
          </p:cNvPr>
          <p:cNvSpPr/>
          <p:nvPr/>
        </p:nvSpPr>
        <p:spPr>
          <a:xfrm>
            <a:off x="6537960" y="3867912"/>
            <a:ext cx="4389120" cy="182880"/>
          </a:xfrm>
          <a:prstGeom prst="rect">
            <a:avLst/>
          </a:prstGeom>
          <a:noFill/>
          <a:ln/>
        </p:spPr>
        <p:txBody>
          <a:bodyPr wrap="square" lIns="635" tIns="635" rIns="635" bIns="635" rtlCol="0" anchor="ctr">
            <a:normAutofit/>
          </a:bodyPr>
          <a:lstStyle/>
          <a:p>
            <a:pPr rtl="1" algn="r" indent="0" marL="0">
              <a:buNone/>
            </a:pPr>
            <a:r>
              <a:rPr lang="en-US" sz="1200" b="1" u="sng" dirty="0">
                <a:solidFill>
                  <a:srgbClr val="14213D"/>
                </a:solidFill>
                <a:latin typeface="Noto Sans Arabic" pitchFamily="34" charset="0"/>
                <a:ea typeface="Noto Sans Arabic" pitchFamily="34" charset="-122"/>
                <a:cs typeface="Noto Sans Arab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FigJam Project Map</a:t>
            </a:r>
            <a:endParaRPr lang="en-US" sz="1200" dirty="0"/>
          </a:p>
        </p:txBody>
      </p:sp>
      <p:sp>
        <p:nvSpPr>
          <p:cNvPr id="24" name="Text 22">
            <a:hlinkClick r:id="rId12" tooltip=""/>
          </p:cNvPr>
          <p:cNvSpPr/>
          <p:nvPr/>
        </p:nvSpPr>
        <p:spPr>
          <a:xfrm>
            <a:off x="6537960" y="4160520"/>
            <a:ext cx="4389120" cy="146304"/>
          </a:xfrm>
          <a:prstGeom prst="rect">
            <a:avLst/>
          </a:prstGeom>
          <a:noFill/>
          <a:ln/>
        </p:spPr>
        <p:txBody>
          <a:bodyPr wrap="square" lIns="635" tIns="635" rIns="635" bIns="635" rtlCol="0" anchor="ctr">
            <a:normAutofit/>
          </a:bodyPr>
          <a:lstStyle/>
          <a:p>
            <a:pPr rtl="1" algn="r" indent="0" marL="0">
              <a:buNone/>
            </a:pPr>
            <a:r>
              <a:rPr lang="en-US" sz="750" u="sng" dirty="0">
                <a:solidFill>
                  <a:srgbClr val="E91E63"/>
                </a:solidFill>
                <a:latin typeface="Noto Sans Arabic" pitchFamily="34" charset="0"/>
                <a:ea typeface="Noto Sans Arabic" pitchFamily="34" charset="-122"/>
                <a:cs typeface="Noto Sans Arab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باز کردن لینک</a:t>
            </a:r>
            <a:endParaRPr lang="en-US" sz="750" dirty="0"/>
          </a:p>
        </p:txBody>
      </p:sp>
      <p:sp>
        <p:nvSpPr>
          <p:cNvPr id="25" name="Text 23"/>
          <p:cNvSpPr/>
          <p:nvPr/>
        </p:nvSpPr>
        <p:spPr>
          <a:xfrm>
            <a:off x="868680" y="5577840"/>
            <a:ext cx="10424160" cy="274320"/>
          </a:xfrm>
          <a:prstGeom prst="rect">
            <a:avLst/>
          </a:prstGeom>
          <a:noFill/>
          <a:ln/>
        </p:spPr>
        <p:txBody>
          <a:bodyPr wrap="square" lIns="635" tIns="635" rIns="635" bIns="635" rtlCol="0" anchor="ctr">
            <a:normAutofit/>
          </a:bodyPr>
          <a:lstStyle/>
          <a:p>
            <a:pPr rtl="1" algn="ctr" indent="0" marL="0">
              <a:buNone/>
            </a:pPr>
            <a:r>
              <a:rPr lang="en-US" sz="1600" b="1" dirty="0">
                <a:solidFill>
                  <a:srgbClr val="C2185B"/>
                </a:solidFill>
                <a:latin typeface="Noto Sans Arabic" pitchFamily="34" charset="0"/>
                <a:ea typeface="Noto Sans Arabic" pitchFamily="34" charset="-122"/>
                <a:cs typeface="Noto Sans Arabic" pitchFamily="34" charset="-120"/>
              </a:rPr>
              <a:t>پایان · نسخه ارائه ۲۰ دقیقه‌ای</a:t>
            </a:r>
            <a:endParaRPr lang="en-US" sz="1600" dirty="0"/>
          </a:p>
        </p:txBody>
      </p:sp>
      <p:sp>
        <p:nvSpPr>
          <p:cNvPr id="26" name="Text 24"/>
          <p:cNvSpPr/>
          <p:nvPr/>
        </p:nvSpPr>
        <p:spPr>
          <a:xfrm>
            <a:off x="594360" y="6446520"/>
            <a:ext cx="3931920" cy="182880"/>
          </a:xfrm>
          <a:prstGeom prst="rect">
            <a:avLst/>
          </a:prstGeom>
          <a:noFill/>
          <a:ln/>
        </p:spPr>
        <p:txBody>
          <a:bodyPr wrap="square" lIns="635" tIns="635" rIns="635" bIns="635" rtlCol="0" anchor="ctr">
            <a:normAutofit/>
          </a:bodyPr>
          <a:lstStyle/>
          <a:p>
            <a:pPr algn="l" indent="0" marL="0">
              <a:buNone/>
            </a:pPr>
            <a:r>
              <a:rPr lang="en-US" sz="700" dirty="0">
                <a:solidFill>
                  <a:srgbClr val="9CA3AF"/>
                </a:solidFill>
                <a:latin typeface="Noto Sans Arabic" pitchFamily="34" charset="0"/>
                <a:ea typeface="Noto Sans Arabic" pitchFamily="34" charset="-122"/>
                <a:cs typeface="Noto Sans Arabic" pitchFamily="34" charset="-120"/>
              </a:rPr>
              <a:t>خانومی · پروژه نهایی بوتکمپ · 19</a:t>
            </a:r>
            <a:endParaRPr lang="en-US" sz="700" dirty="0"/>
          </a:p>
        </p:txBody>
      </p:sp>
      <p:sp>
        <p:nvSpPr>
          <p:cNvPr id="27" name="Text 25">
            <a:hlinkClick r:id="rId13" tooltip="" action="ppaction://hlinksldjump"/>
          </p:cNvPr>
          <p:cNvSpPr/>
          <p:nvPr/>
        </p:nvSpPr>
        <p:spPr>
          <a:xfrm>
            <a:off x="11201400" y="6419088"/>
            <a:ext cx="502920" cy="219456"/>
          </a:xfrm>
          <a:prstGeom prst="rect">
            <a:avLst/>
          </a:prstGeom>
          <a:noFill/>
          <a:ln/>
        </p:spPr>
        <p:txBody>
          <a:bodyPr wrap="square" lIns="635" tIns="635" rIns="635" bIns="635" rtlCol="0" anchor="ctr">
            <a:normAutofit/>
          </a:bodyPr>
          <a:lstStyle/>
          <a:p>
            <a:pPr rtl="1" algn="r" indent="0" marL="0">
              <a:buNone/>
            </a:pPr>
            <a:r>
              <a:rPr lang="en-US" sz="700" u="sng" dirty="0">
                <a:solidFill>
                  <a:srgbClr val="C2185B"/>
                </a:solidFill>
                <a:latin typeface="Noto Sans Arabic" pitchFamily="34" charset="0"/>
                <a:ea typeface="Noto Sans Arabic" pitchFamily="34" charset="-122"/>
                <a:cs typeface="Noto Sans Arabic" pitchFamily="34" charset="-120"/>
                <a:hlinkClick r:id="rId13" action="ppaction://hlinksldjump" tooltip="">
                  <a:extLst>
                    <a:ext uri="{A12FA001-AC4F-418D-AE19-62706E023703}">
                      <ahyp:hlinkClr xmlns:ahyp="http://schemas.microsoft.com/office/drawing/2018/hyperlinkcolor" val="tx"/>
                    </a:ext>
                  </a:extLst>
                </a:hlinkClick>
              </a:rPr>
              <a:t>خانه</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Bootcamp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ارائه نهایی پروژه خانومی</dc:title>
  <dc:subject>Khanoumi Product Discovery Final Presentation</dc:subject>
  <dc:creator>OpenAI</dc:creator>
  <cp:lastModifiedBy>OpenAI</cp:lastModifiedBy>
  <cp:revision>1</cp:revision>
  <dcterms:created xsi:type="dcterms:W3CDTF">2026-09-10T01:20:23Z</dcterms:created>
  <dcterms:modified xsi:type="dcterms:W3CDTF">2026-09-10T01:20:23Z</dcterms:modified>
</cp:coreProperties>
</file>